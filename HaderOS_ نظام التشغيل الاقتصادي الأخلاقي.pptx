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6256000" cy="9144000"/>
  <p:notesSz cx="9144000" cy="16256000"/>
  <p:embeddedFontLst>
    <p:embeddedFont>
      <p:font typeface="Hedvig Letters Sans" pitchFamily="2" charset="77"/>
      <p:regular r:id="rId29"/>
    </p:embeddedFont>
    <p:embeddedFont>
      <p:font typeface="Liter" panose="02000503030000020004" pitchFamily="2" charset="0"/>
      <p:regular r:id="rId30"/>
    </p:embeddedFont>
    <p:embeddedFont>
      <p:font typeface="Quattrocento Sans" panose="020B0502050000020003" pitchFamily="34" charset="0"/>
      <p:regular r:id="rId31"/>
      <p:bold r:id="rId32"/>
    </p:embeddedFont>
  </p:embeddedFontLst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56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f1815ceb92bf683938e80e04c61e7a0bc930a36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12877502" y="1333500"/>
            <a:ext cx="2870200" cy="571500"/>
          </a:xfrm>
          <a:custGeom>
            <a:avLst/>
            <a:gdLst/>
            <a:ahLst/>
            <a:cxnLst/>
            <a:rect l="l" t="t" r="r" b="b"/>
            <a:pathLst>
              <a:path w="2870200" h="571500">
                <a:moveTo>
                  <a:pt x="0" y="0"/>
                </a:moveTo>
                <a:lnTo>
                  <a:pt x="2870200" y="0"/>
                </a:lnTo>
                <a:lnTo>
                  <a:pt x="2870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13137852" y="1454150"/>
            <a:ext cx="24577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6E9E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SEED ROUND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04000" y="2114550"/>
            <a:ext cx="975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HaderOS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528800" y="353695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6604000" y="3892550"/>
            <a:ext cx="9372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نظام التشغيل الاقتصادي الأخلاقي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04000" y="4870450"/>
            <a:ext cx="9296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الإطلاقة الجديدة للاقتصاد الرقمي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New Launch for Digital Economy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909550" y="6477000"/>
            <a:ext cx="2832100" cy="1333500"/>
          </a:xfrm>
          <a:custGeom>
            <a:avLst/>
            <a:gdLst/>
            <a:ahLst/>
            <a:cxnLst/>
            <a:rect l="l" t="t" r="r" b="b"/>
            <a:pathLst>
              <a:path w="2832100" h="1333500">
                <a:moveTo>
                  <a:pt x="0" y="0"/>
                </a:moveTo>
                <a:lnTo>
                  <a:pt x="2832100" y="0"/>
                </a:lnTo>
                <a:lnTo>
                  <a:pt x="2832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13119100" y="668655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$3.7T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119100" y="724535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حجم السوق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759950" y="6477000"/>
            <a:ext cx="2832100" cy="1333500"/>
          </a:xfrm>
          <a:custGeom>
            <a:avLst/>
            <a:gdLst/>
            <a:ahLst/>
            <a:cxnLst/>
            <a:rect l="l" t="t" r="r" b="b"/>
            <a:pathLst>
              <a:path w="2832100" h="1333500">
                <a:moveTo>
                  <a:pt x="0" y="0"/>
                </a:moveTo>
                <a:lnTo>
                  <a:pt x="2832100" y="0"/>
                </a:lnTo>
                <a:lnTo>
                  <a:pt x="2832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1"/>
          <p:cNvSpPr/>
          <p:nvPr/>
        </p:nvSpPr>
        <p:spPr>
          <a:xfrm>
            <a:off x="9969500" y="668655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أشهر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69500" y="724535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للتطوير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10350" y="6477000"/>
            <a:ext cx="2832100" cy="1333500"/>
          </a:xfrm>
          <a:custGeom>
            <a:avLst/>
            <a:gdLst/>
            <a:ahLst/>
            <a:cxnLst/>
            <a:rect l="l" t="t" r="r" b="b"/>
            <a:pathLst>
              <a:path w="2832100" h="1333500">
                <a:moveTo>
                  <a:pt x="0" y="0"/>
                </a:moveTo>
                <a:lnTo>
                  <a:pt x="2832100" y="0"/>
                </a:lnTo>
                <a:lnTo>
                  <a:pt x="2832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6819900" y="668655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19900" y="724535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جاهز للإطلاق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جدول المحتويات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528800" y="17272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280400" y="21844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15036800" y="25574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5208349" y="2684463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09178" y="2709863"/>
            <a:ext cx="187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مقدمة المشروع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59800" y="3421063"/>
            <a:ext cx="7302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سوق الاقتصاد الأخلاقي العالمي | حجم السوق 3.7 تريليون دولار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1844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7289800" y="25574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7424837" y="2684463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3821" y="2709863"/>
            <a:ext cx="2222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الإنجازات التقنية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3421063"/>
            <a:ext cx="7302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البنية التحتية المتكاملة | 429 ألف كلمة من الكود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80400" y="44196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15036800" y="47926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15166876" y="4919663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94730" y="4945063"/>
            <a:ext cx="158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محرك KAIA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9800" y="5656263"/>
            <a:ext cx="7302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الذكاء الاصطناعي الأخلاقي | الجدار الناري الأخلاقي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44196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7289800" y="47926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7425035" y="4919663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80038" y="4945063"/>
            <a:ext cx="185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نموذج الأعمال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5656263"/>
            <a:ext cx="7302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الإيرادات المتعددة | جولة البذرة 1.5M دولار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0400" y="66548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15036800" y="70278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15166280" y="7154863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86432" y="7180263"/>
            <a:ext cx="209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التميز التنافسي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9800" y="7891463"/>
            <a:ext cx="7302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سرعة التنفيذ غير المسبوقة | بناء الماكينة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66548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7289800" y="70278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7416800" y="7154863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39977" y="7180263"/>
            <a:ext cx="2501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الفرصة الاستثمارية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7891463"/>
            <a:ext cx="7302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بنية الاقتصاد الأخلاقي | فرصة الاحتكار المبكر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0ff91af7759c54c97f83e3e2ff6756c40ac9ca0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" r="1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502533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5083870" y="3454400"/>
            <a:ext cx="673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" y="3327400"/>
            <a:ext cx="469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مقدمة المشروع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15730" y="4521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317500" y="48768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سوق الاقتصاد الأخلاقي العالمي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5600" y="5537200"/>
            <a:ext cx="568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Ethical Economy Market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HaderOS: أول نظام تشغيل اقتصادي أخلاقي متكامل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7503120" y="1828800"/>
            <a:ext cx="8242300" cy="2933700"/>
          </a:xfrm>
          <a:custGeom>
            <a:avLst/>
            <a:gdLst/>
            <a:ahLst/>
            <a:cxnLst/>
            <a:rect l="l" t="t" r="r" b="b"/>
            <a:pathLst>
              <a:path w="8242300" h="2933700">
                <a:moveTo>
                  <a:pt x="0" y="0"/>
                </a:moveTo>
                <a:lnTo>
                  <a:pt x="8242300" y="0"/>
                </a:lnTo>
                <a:lnTo>
                  <a:pt x="82423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7503120" y="1828800"/>
            <a:ext cx="50800" cy="2933700"/>
          </a:xfrm>
          <a:custGeom>
            <a:avLst/>
            <a:gdLst/>
            <a:ahLst/>
            <a:cxnLst/>
            <a:rect l="l" t="t" r="r" b="b"/>
            <a:pathLst>
              <a:path w="50800" h="2933700">
                <a:moveTo>
                  <a:pt x="0" y="0"/>
                </a:moveTo>
                <a:lnTo>
                  <a:pt x="50800" y="0"/>
                </a:lnTo>
                <a:lnTo>
                  <a:pt x="508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15119350" y="204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11811000" y="2032000"/>
            <a:ext cx="326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أول منصة عالمية من نوعها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31720" y="2590800"/>
            <a:ext cx="79248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HaderOS هو أول نظام عالمي يجمع بين </a:t>
            </a: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الذكاء الاصطناعي، البلوكتشين، والأخلاقيات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لبناء نظام تشغيل اقتصادي متكامل، يقدم حلاً شاملاً للمؤسسات المالية الأخلاقية.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14460" y="3486150"/>
            <a:ext cx="3835400" cy="1066800"/>
          </a:xfrm>
          <a:custGeom>
            <a:avLst/>
            <a:gdLst/>
            <a:ahLst/>
            <a:cxnLst/>
            <a:rect l="l" t="t" r="r" b="b"/>
            <a:pathLst>
              <a:path w="3835400" h="1066800">
                <a:moveTo>
                  <a:pt x="0" y="0"/>
                </a:moveTo>
                <a:lnTo>
                  <a:pt x="3835400" y="0"/>
                </a:lnTo>
                <a:lnTo>
                  <a:pt x="38354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11771610" y="3638550"/>
            <a:ext cx="372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أشهر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6060" y="4095750"/>
            <a:ext cx="363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فترة التطوير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31720" y="3486150"/>
            <a:ext cx="3835400" cy="1066800"/>
          </a:xfrm>
          <a:custGeom>
            <a:avLst/>
            <a:gdLst/>
            <a:ahLst/>
            <a:cxnLst/>
            <a:rect l="l" t="t" r="r" b="b"/>
            <a:pathLst>
              <a:path w="3835400" h="1066800">
                <a:moveTo>
                  <a:pt x="0" y="0"/>
                </a:moveTo>
                <a:lnTo>
                  <a:pt x="3835400" y="0"/>
                </a:lnTo>
                <a:lnTo>
                  <a:pt x="38354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7788870" y="3638550"/>
            <a:ext cx="372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مهندس واحد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33320" y="4095750"/>
            <a:ext cx="363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فريق التطوير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03120" y="4959350"/>
            <a:ext cx="8242300" cy="3683000"/>
          </a:xfrm>
          <a:custGeom>
            <a:avLst/>
            <a:gdLst/>
            <a:ahLst/>
            <a:cxnLst/>
            <a:rect l="l" t="t" r="r" b="b"/>
            <a:pathLst>
              <a:path w="8242300" h="3683000">
                <a:moveTo>
                  <a:pt x="0" y="0"/>
                </a:moveTo>
                <a:lnTo>
                  <a:pt x="8242300" y="0"/>
                </a:lnTo>
                <a:lnTo>
                  <a:pt x="8242300" y="3683000"/>
                </a:lnTo>
                <a:lnTo>
                  <a:pt x="0" y="36830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7503120" y="4959350"/>
            <a:ext cx="50800" cy="3683000"/>
          </a:xfrm>
          <a:custGeom>
            <a:avLst/>
            <a:gdLst/>
            <a:ahLst/>
            <a:cxnLst/>
            <a:rect l="l" t="t" r="r" b="b"/>
            <a:pathLst>
              <a:path w="50800" h="3683000">
                <a:moveTo>
                  <a:pt x="0" y="0"/>
                </a:moveTo>
                <a:lnTo>
                  <a:pt x="50800" y="0"/>
                </a:lnTo>
                <a:lnTo>
                  <a:pt x="50800" y="3683000"/>
                </a:lnTo>
                <a:lnTo>
                  <a:pt x="0" y="3683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15119350" y="615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12229505" y="6146800"/>
            <a:ext cx="284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 يوجد منافس حقيقي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31720" y="6705600"/>
            <a:ext cx="79248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السوق المتاحة تبلغ </a:t>
            </a: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 مليار دولار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مع عدم وجود منافسين حاليين في هذا المجال، مما يوفر فرصة احتكار مبكر لمن يتحرك بسرعة.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1828800"/>
            <a:ext cx="6743700" cy="2984500"/>
          </a:xfrm>
          <a:custGeom>
            <a:avLst/>
            <a:gdLst/>
            <a:ahLst/>
            <a:cxnLst/>
            <a:rect l="l" t="t" r="r" b="b"/>
            <a:pathLst>
              <a:path w="6743700" h="2984500">
                <a:moveTo>
                  <a:pt x="0" y="0"/>
                </a:moveTo>
                <a:lnTo>
                  <a:pt x="6743700" y="0"/>
                </a:lnTo>
                <a:lnTo>
                  <a:pt x="6743700" y="2984500"/>
                </a:lnTo>
                <a:lnTo>
                  <a:pt x="0" y="2984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533400" y="1828800"/>
            <a:ext cx="50800" cy="2984500"/>
          </a:xfrm>
          <a:custGeom>
            <a:avLst/>
            <a:gdLst/>
            <a:ahLst/>
            <a:cxnLst/>
            <a:rect l="l" t="t" r="r" b="b"/>
            <a:pathLst>
              <a:path w="50800" h="2984500">
                <a:moveTo>
                  <a:pt x="0" y="0"/>
                </a:moveTo>
                <a:lnTo>
                  <a:pt x="50800" y="0"/>
                </a:lnTo>
                <a:lnTo>
                  <a:pt x="50800" y="2984500"/>
                </a:lnTo>
                <a:lnTo>
                  <a:pt x="0" y="29845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6645870" y="204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2223790" y="2032000"/>
            <a:ext cx="436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سوق ضخم بقيمة 3.7 تريليون دولار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2590800"/>
            <a:ext cx="6692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$3.7T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8500" y="3352800"/>
            <a:ext cx="643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السوق الإجمالي (TAM)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3860800"/>
            <a:ext cx="6426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خدمة المؤسسات المالية الأخلاقية حول العالم التي تحتاج إلى حلول رقمية متوافقة مع المعايير الأخلاقية والتنظيمية.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99210" y="5016500"/>
            <a:ext cx="3263900" cy="1638300"/>
          </a:xfrm>
          <a:custGeom>
            <a:avLst/>
            <a:gdLst/>
            <a:ahLst/>
            <a:cxnLst/>
            <a:rect l="l" t="t" r="r" b="b"/>
            <a:pathLst>
              <a:path w="3263900" h="1638300">
                <a:moveTo>
                  <a:pt x="0" y="0"/>
                </a:moveTo>
                <a:lnTo>
                  <a:pt x="3263900" y="0"/>
                </a:lnTo>
                <a:lnTo>
                  <a:pt x="32639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4094460" y="5226050"/>
            <a:ext cx="307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$180B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57960" y="573405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السوق المتاح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57960" y="614045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(SAM)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350" y="5016500"/>
            <a:ext cx="3263900" cy="1638300"/>
          </a:xfrm>
          <a:custGeom>
            <a:avLst/>
            <a:gdLst/>
            <a:ahLst/>
            <a:cxnLst/>
            <a:rect l="l" t="t" r="r" b="b"/>
            <a:pathLst>
              <a:path w="3263900" h="1638300">
                <a:moveTo>
                  <a:pt x="0" y="0"/>
                </a:moveTo>
                <a:lnTo>
                  <a:pt x="3263900" y="0"/>
                </a:lnTo>
                <a:lnTo>
                  <a:pt x="32639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609600" y="5226050"/>
            <a:ext cx="307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3100" y="573405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هدف السنة 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3100" y="614045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(SOM)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4350" y="6870700"/>
            <a:ext cx="6756400" cy="1689100"/>
          </a:xfrm>
          <a:custGeom>
            <a:avLst/>
            <a:gdLst/>
            <a:ahLst/>
            <a:cxnLst/>
            <a:rect l="l" t="t" r="r" b="b"/>
            <a:pathLst>
              <a:path w="6756400" h="1689100">
                <a:moveTo>
                  <a:pt x="0" y="0"/>
                </a:moveTo>
                <a:lnTo>
                  <a:pt x="6756400" y="0"/>
                </a:lnTo>
                <a:lnTo>
                  <a:pt x="6756400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666750" y="7080250"/>
            <a:ext cx="645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الفرصة السوقية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8650" y="7537450"/>
            <a:ext cx="652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100" y="8045450"/>
            <a:ext cx="643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نسبة اختراق السوق المتاح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حجم السوق العالمي للاقتصاد الأخلاقي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7-d57c8kpg6i8msbkpq6r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31000" y="1828800"/>
            <a:ext cx="9017000" cy="68072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33400" y="1828800"/>
            <a:ext cx="5994400" cy="2057400"/>
          </a:xfrm>
          <a:custGeom>
            <a:avLst/>
            <a:gdLst/>
            <a:ahLst/>
            <a:cxnLst/>
            <a:rect l="l" t="t" r="r" b="b"/>
            <a:pathLst>
              <a:path w="5994400" h="2057400">
                <a:moveTo>
                  <a:pt x="0" y="0"/>
                </a:moveTo>
                <a:lnTo>
                  <a:pt x="5994400" y="0"/>
                </a:lnTo>
                <a:lnTo>
                  <a:pt x="5994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33400" y="18288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81154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6025257" y="2108200"/>
            <a:ext cx="20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8338" y="2108200"/>
            <a:ext cx="257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السوق الإجمالي (TAM)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49069" y="26416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$3.7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12332" y="2787650"/>
            <a:ext cx="113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تريليون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33528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السوق العالمي للمؤسسات المالية الأخلاقية التي تبحث عن حلول رقمية متقدمة.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3400" y="4038600"/>
            <a:ext cx="5994400" cy="2057400"/>
          </a:xfrm>
          <a:custGeom>
            <a:avLst/>
            <a:gdLst/>
            <a:ahLst/>
            <a:cxnLst/>
            <a:rect l="l" t="t" r="r" b="b"/>
            <a:pathLst>
              <a:path w="5994400" h="2057400">
                <a:moveTo>
                  <a:pt x="0" y="0"/>
                </a:moveTo>
                <a:lnTo>
                  <a:pt x="5994400" y="0"/>
                </a:lnTo>
                <a:lnTo>
                  <a:pt x="5994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33400" y="40386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5811540" y="424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6000849" y="43180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585071" y="4318000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السوق المتاح (SAM)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67995" y="4851400"/>
            <a:ext cx="1562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30601" y="4997450"/>
            <a:ext cx="82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مليار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55626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السوق الذي يمكننا خدمته فعليًا بناءً على قدراتنا التقنية ونموذج الأعمال.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3400" y="6248400"/>
            <a:ext cx="5994400" cy="2057400"/>
          </a:xfrm>
          <a:custGeom>
            <a:avLst/>
            <a:gdLst/>
            <a:ahLst/>
            <a:cxnLst/>
            <a:rect l="l" t="t" r="r" b="b"/>
            <a:pathLst>
              <a:path w="5994400" h="2057400">
                <a:moveTo>
                  <a:pt x="0" y="0"/>
                </a:moveTo>
                <a:lnTo>
                  <a:pt x="5994400" y="0"/>
                </a:lnTo>
                <a:lnTo>
                  <a:pt x="5994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Shape 20"/>
          <p:cNvSpPr/>
          <p:nvPr/>
        </p:nvSpPr>
        <p:spPr>
          <a:xfrm>
            <a:off x="533400" y="62484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1"/>
          <p:cNvSpPr/>
          <p:nvPr/>
        </p:nvSpPr>
        <p:spPr>
          <a:xfrm>
            <a:off x="5811540" y="645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2"/>
          <p:cNvSpPr/>
          <p:nvPr/>
        </p:nvSpPr>
        <p:spPr>
          <a:xfrm>
            <a:off x="5997575" y="6527800"/>
            <a:ext cx="26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799556" y="65278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هدف السنة الخامسة (SOM)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63580" y="7061200"/>
            <a:ext cx="1155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26186" y="7207250"/>
            <a:ext cx="82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مليار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000" y="77724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هدفنا للسنة الخامسة: 10% من السوق المتاح.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4df77ee56b8ff8f1c6b3cd3905abf5dd8645e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60" r="16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5896173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5910858" y="34544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" y="3327400"/>
            <a:ext cx="5562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الإنجازات التقنية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86573" y="4521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317500" y="4876800"/>
            <a:ext cx="659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البنية التحتية التقنية المتكاملة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5600" y="5537200"/>
            <a:ext cx="655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Technical Infrastructure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672" y="503672"/>
            <a:ext cx="15349391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86" b="1" kern="0" spc="79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ACHIEVEMENTS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3672" y="906609"/>
            <a:ext cx="15475309" cy="50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429 ألف كلمة: مشروع قائم بالكامل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40755" y="1561382"/>
            <a:ext cx="1007343" cy="50367"/>
          </a:xfrm>
          <a:custGeom>
            <a:avLst/>
            <a:gdLst/>
            <a:ahLst/>
            <a:cxnLst/>
            <a:rect l="l" t="t" r="r" b="b"/>
            <a:pathLst>
              <a:path w="1007343" h="50367">
                <a:moveTo>
                  <a:pt x="0" y="0"/>
                </a:moveTo>
                <a:lnTo>
                  <a:pt x="1007343" y="0"/>
                </a:lnTo>
                <a:lnTo>
                  <a:pt x="1007343" y="50367"/>
                </a:lnTo>
                <a:lnTo>
                  <a:pt x="0" y="50367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232964" y="1819514"/>
            <a:ext cx="7504706" cy="2178380"/>
          </a:xfrm>
          <a:custGeom>
            <a:avLst/>
            <a:gdLst/>
            <a:ahLst/>
            <a:cxnLst/>
            <a:rect l="l" t="t" r="r" b="b"/>
            <a:pathLst>
              <a:path w="7504706" h="2178380">
                <a:moveTo>
                  <a:pt x="0" y="0"/>
                </a:moveTo>
                <a:lnTo>
                  <a:pt x="7504706" y="0"/>
                </a:lnTo>
                <a:lnTo>
                  <a:pt x="7504706" y="2178380"/>
                </a:lnTo>
                <a:lnTo>
                  <a:pt x="0" y="217838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8251852" y="2027278"/>
            <a:ext cx="7466931" cy="755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949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429,241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770" y="2833153"/>
            <a:ext cx="7215095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إجمالي الكلمات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0729" y="3286457"/>
            <a:ext cx="7089177" cy="100734"/>
          </a:xfrm>
          <a:custGeom>
            <a:avLst/>
            <a:gdLst/>
            <a:ahLst/>
            <a:cxnLst/>
            <a:rect l="l" t="t" r="r" b="b"/>
            <a:pathLst>
              <a:path w="7089177" h="100734">
                <a:moveTo>
                  <a:pt x="0" y="0"/>
                </a:moveTo>
                <a:lnTo>
                  <a:pt x="7089177" y="0"/>
                </a:lnTo>
                <a:lnTo>
                  <a:pt x="7089177" y="100734"/>
                </a:lnTo>
                <a:lnTo>
                  <a:pt x="0" y="10073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8440729" y="3286457"/>
            <a:ext cx="7089177" cy="100734"/>
          </a:xfrm>
          <a:custGeom>
            <a:avLst/>
            <a:gdLst/>
            <a:ahLst/>
            <a:cxnLst/>
            <a:rect l="l" t="t" r="r" b="b"/>
            <a:pathLst>
              <a:path w="7089177" h="100734">
                <a:moveTo>
                  <a:pt x="0" y="0"/>
                </a:moveTo>
                <a:lnTo>
                  <a:pt x="7089177" y="0"/>
                </a:lnTo>
                <a:lnTo>
                  <a:pt x="7089177" y="100734"/>
                </a:lnTo>
                <a:lnTo>
                  <a:pt x="0" y="100734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8390362" y="3487926"/>
            <a:ext cx="7189912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مشروع قائم بالكامل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32964" y="4161586"/>
            <a:ext cx="7504706" cy="2027278"/>
          </a:xfrm>
          <a:custGeom>
            <a:avLst/>
            <a:gdLst/>
            <a:ahLst/>
            <a:cxnLst/>
            <a:rect l="l" t="t" r="r" b="b"/>
            <a:pathLst>
              <a:path w="7504706" h="2027278">
                <a:moveTo>
                  <a:pt x="0" y="0"/>
                </a:moveTo>
                <a:lnTo>
                  <a:pt x="7504706" y="0"/>
                </a:lnTo>
                <a:lnTo>
                  <a:pt x="7504706" y="2027278"/>
                </a:lnTo>
                <a:lnTo>
                  <a:pt x="0" y="2027278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8289627" y="4369351"/>
            <a:ext cx="7391380" cy="60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759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77770" y="5024124"/>
            <a:ext cx="7215095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إجمالي الملفات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0729" y="5477428"/>
            <a:ext cx="7089177" cy="100734"/>
          </a:xfrm>
          <a:custGeom>
            <a:avLst/>
            <a:gdLst/>
            <a:ahLst/>
            <a:cxnLst/>
            <a:rect l="l" t="t" r="r" b="b"/>
            <a:pathLst>
              <a:path w="7089177" h="100734">
                <a:moveTo>
                  <a:pt x="0" y="0"/>
                </a:moveTo>
                <a:lnTo>
                  <a:pt x="7089177" y="0"/>
                </a:lnTo>
                <a:lnTo>
                  <a:pt x="7089177" y="100734"/>
                </a:lnTo>
                <a:lnTo>
                  <a:pt x="0" y="10073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8440729" y="5477428"/>
            <a:ext cx="7089177" cy="100734"/>
          </a:xfrm>
          <a:custGeom>
            <a:avLst/>
            <a:gdLst/>
            <a:ahLst/>
            <a:cxnLst/>
            <a:rect l="l" t="t" r="r" b="b"/>
            <a:pathLst>
              <a:path w="7089177" h="100734">
                <a:moveTo>
                  <a:pt x="0" y="0"/>
                </a:moveTo>
                <a:lnTo>
                  <a:pt x="7089177" y="0"/>
                </a:lnTo>
                <a:lnTo>
                  <a:pt x="7089177" y="100734"/>
                </a:lnTo>
                <a:lnTo>
                  <a:pt x="0" y="100734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8390362" y="5678897"/>
            <a:ext cx="7189912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تم إعادة هيكلتها في أسبوع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32964" y="6352558"/>
            <a:ext cx="7504706" cy="2027278"/>
          </a:xfrm>
          <a:custGeom>
            <a:avLst/>
            <a:gdLst/>
            <a:ahLst/>
            <a:cxnLst/>
            <a:rect l="l" t="t" r="r" b="b"/>
            <a:pathLst>
              <a:path w="7504706" h="2027278">
                <a:moveTo>
                  <a:pt x="0" y="0"/>
                </a:moveTo>
                <a:lnTo>
                  <a:pt x="7504706" y="0"/>
                </a:lnTo>
                <a:lnTo>
                  <a:pt x="7504706" y="2027278"/>
                </a:lnTo>
                <a:lnTo>
                  <a:pt x="0" y="2027278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8289627" y="6560322"/>
            <a:ext cx="7391380" cy="60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759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229,000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7770" y="7215095"/>
            <a:ext cx="7215095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كلمات التوثيق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0729" y="7668400"/>
            <a:ext cx="7089177" cy="100734"/>
          </a:xfrm>
          <a:custGeom>
            <a:avLst/>
            <a:gdLst/>
            <a:ahLst/>
            <a:cxnLst/>
            <a:rect l="l" t="t" r="r" b="b"/>
            <a:pathLst>
              <a:path w="7089177" h="100734">
                <a:moveTo>
                  <a:pt x="0" y="0"/>
                </a:moveTo>
                <a:lnTo>
                  <a:pt x="7089177" y="0"/>
                </a:lnTo>
                <a:lnTo>
                  <a:pt x="7089177" y="100734"/>
                </a:lnTo>
                <a:lnTo>
                  <a:pt x="0" y="10073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11774602" y="7668400"/>
            <a:ext cx="3764945" cy="100734"/>
          </a:xfrm>
          <a:custGeom>
            <a:avLst/>
            <a:gdLst/>
            <a:ahLst/>
            <a:cxnLst/>
            <a:rect l="l" t="t" r="r" b="b"/>
            <a:pathLst>
              <a:path w="3764945" h="100734">
                <a:moveTo>
                  <a:pt x="0" y="0"/>
                </a:moveTo>
                <a:lnTo>
                  <a:pt x="3764945" y="0"/>
                </a:lnTo>
                <a:lnTo>
                  <a:pt x="3764945" y="100734"/>
                </a:lnTo>
                <a:lnTo>
                  <a:pt x="0" y="100734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8390362" y="7869868"/>
            <a:ext cx="7189912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بناء معرفة مؤسسية دائمة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8855" y="1813218"/>
            <a:ext cx="7492115" cy="2342073"/>
          </a:xfrm>
          <a:custGeom>
            <a:avLst/>
            <a:gdLst/>
            <a:ahLst/>
            <a:cxnLst/>
            <a:rect l="l" t="t" r="r" b="b"/>
            <a:pathLst>
              <a:path w="7492115" h="2342073">
                <a:moveTo>
                  <a:pt x="0" y="0"/>
                </a:moveTo>
                <a:lnTo>
                  <a:pt x="7492115" y="0"/>
                </a:lnTo>
                <a:lnTo>
                  <a:pt x="7492115" y="2342073"/>
                </a:lnTo>
                <a:lnTo>
                  <a:pt x="0" y="2342073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528855" y="1813218"/>
            <a:ext cx="50367" cy="2342073"/>
          </a:xfrm>
          <a:custGeom>
            <a:avLst/>
            <a:gdLst/>
            <a:ahLst/>
            <a:cxnLst/>
            <a:rect l="l" t="t" r="r" b="b"/>
            <a:pathLst>
              <a:path w="50367" h="2342073">
                <a:moveTo>
                  <a:pt x="0" y="0"/>
                </a:moveTo>
                <a:lnTo>
                  <a:pt x="50367" y="0"/>
                </a:lnTo>
                <a:lnTo>
                  <a:pt x="50367" y="2342073"/>
                </a:lnTo>
                <a:lnTo>
                  <a:pt x="0" y="2342073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7502641" y="2039870"/>
            <a:ext cx="264428" cy="302203"/>
          </a:xfrm>
          <a:custGeom>
            <a:avLst/>
            <a:gdLst/>
            <a:ahLst/>
            <a:cxnLst/>
            <a:rect l="l" t="t" r="r" b="b"/>
            <a:pathLst>
              <a:path w="264428" h="302203">
                <a:moveTo>
                  <a:pt x="259588" y="118343"/>
                </a:moveTo>
                <a:cubicBezTo>
                  <a:pt x="255043" y="100105"/>
                  <a:pt x="246425" y="86352"/>
                  <a:pt x="228069" y="86352"/>
                </a:cubicBezTo>
                <a:lnTo>
                  <a:pt x="204400" y="86352"/>
                </a:lnTo>
                <a:lnTo>
                  <a:pt x="204400" y="114330"/>
                </a:lnTo>
                <a:cubicBezTo>
                  <a:pt x="204400" y="136050"/>
                  <a:pt x="185985" y="154348"/>
                  <a:pt x="164972" y="154348"/>
                </a:cubicBezTo>
                <a:lnTo>
                  <a:pt x="101934" y="154348"/>
                </a:lnTo>
                <a:cubicBezTo>
                  <a:pt x="84699" y="154348"/>
                  <a:pt x="70416" y="169104"/>
                  <a:pt x="70416" y="186398"/>
                </a:cubicBezTo>
                <a:lnTo>
                  <a:pt x="70416" y="246484"/>
                </a:lnTo>
                <a:cubicBezTo>
                  <a:pt x="70416" y="263601"/>
                  <a:pt x="85290" y="273635"/>
                  <a:pt x="101934" y="278534"/>
                </a:cubicBezTo>
                <a:cubicBezTo>
                  <a:pt x="121885" y="284378"/>
                  <a:pt x="141067" y="285440"/>
                  <a:pt x="164972" y="278534"/>
                </a:cubicBezTo>
                <a:cubicBezTo>
                  <a:pt x="180850" y="273930"/>
                  <a:pt x="196491" y="264664"/>
                  <a:pt x="196491" y="246484"/>
                </a:cubicBezTo>
                <a:lnTo>
                  <a:pt x="196491" y="222462"/>
                </a:lnTo>
                <a:lnTo>
                  <a:pt x="133512" y="222462"/>
                </a:lnTo>
                <a:lnTo>
                  <a:pt x="133512" y="214434"/>
                </a:lnTo>
                <a:lnTo>
                  <a:pt x="228069" y="214434"/>
                </a:lnTo>
                <a:cubicBezTo>
                  <a:pt x="246425" y="214434"/>
                  <a:pt x="253213" y="201626"/>
                  <a:pt x="259588" y="182443"/>
                </a:cubicBezTo>
                <a:cubicBezTo>
                  <a:pt x="266198" y="162670"/>
                  <a:pt x="265903" y="143664"/>
                  <a:pt x="259588" y="118343"/>
                </a:cubicBezTo>
                <a:close/>
                <a:moveTo>
                  <a:pt x="168927" y="262480"/>
                </a:moveTo>
                <a:cubicBezTo>
                  <a:pt x="164434" y="262795"/>
                  <a:pt x="160142" y="260577"/>
                  <a:pt x="157800" y="256731"/>
                </a:cubicBezTo>
                <a:cubicBezTo>
                  <a:pt x="155458" y="252884"/>
                  <a:pt x="155458" y="248053"/>
                  <a:pt x="157800" y="244206"/>
                </a:cubicBezTo>
                <a:cubicBezTo>
                  <a:pt x="160142" y="240360"/>
                  <a:pt x="164434" y="238142"/>
                  <a:pt x="168927" y="238457"/>
                </a:cubicBezTo>
                <a:cubicBezTo>
                  <a:pt x="173419" y="238142"/>
                  <a:pt x="177712" y="240360"/>
                  <a:pt x="180054" y="244206"/>
                </a:cubicBezTo>
                <a:cubicBezTo>
                  <a:pt x="182396" y="248053"/>
                  <a:pt x="182396" y="252884"/>
                  <a:pt x="180054" y="256731"/>
                </a:cubicBezTo>
                <a:cubicBezTo>
                  <a:pt x="177712" y="260577"/>
                  <a:pt x="173419" y="262795"/>
                  <a:pt x="168927" y="262480"/>
                </a:cubicBezTo>
                <a:close/>
                <a:moveTo>
                  <a:pt x="99042" y="146439"/>
                </a:moveTo>
                <a:lnTo>
                  <a:pt x="162080" y="146439"/>
                </a:lnTo>
                <a:cubicBezTo>
                  <a:pt x="179610" y="146439"/>
                  <a:pt x="193599" y="131978"/>
                  <a:pt x="193599" y="114389"/>
                </a:cubicBezTo>
                <a:lnTo>
                  <a:pt x="193599" y="54243"/>
                </a:lnTo>
                <a:cubicBezTo>
                  <a:pt x="193599" y="37126"/>
                  <a:pt x="179197" y="24318"/>
                  <a:pt x="162080" y="21426"/>
                </a:cubicBezTo>
                <a:cubicBezTo>
                  <a:pt x="140949" y="17943"/>
                  <a:pt x="117989" y="18120"/>
                  <a:pt x="99042" y="21485"/>
                </a:cubicBezTo>
                <a:cubicBezTo>
                  <a:pt x="72363" y="26207"/>
                  <a:pt x="67523" y="36064"/>
                  <a:pt x="67523" y="54302"/>
                </a:cubicBezTo>
                <a:lnTo>
                  <a:pt x="67523" y="78325"/>
                </a:lnTo>
                <a:lnTo>
                  <a:pt x="130620" y="78325"/>
                </a:lnTo>
                <a:lnTo>
                  <a:pt x="130620" y="86352"/>
                </a:lnTo>
                <a:lnTo>
                  <a:pt x="43855" y="86352"/>
                </a:lnTo>
                <a:cubicBezTo>
                  <a:pt x="25498" y="86352"/>
                  <a:pt x="9444" y="97390"/>
                  <a:pt x="4427" y="118343"/>
                </a:cubicBezTo>
                <a:cubicBezTo>
                  <a:pt x="-1358" y="142366"/>
                  <a:pt x="-1594" y="157358"/>
                  <a:pt x="4427" y="182443"/>
                </a:cubicBezTo>
                <a:cubicBezTo>
                  <a:pt x="8913" y="201095"/>
                  <a:pt x="19596" y="214434"/>
                  <a:pt x="37952" y="214434"/>
                </a:cubicBezTo>
                <a:lnTo>
                  <a:pt x="59614" y="214434"/>
                </a:lnTo>
                <a:lnTo>
                  <a:pt x="59614" y="185631"/>
                </a:lnTo>
                <a:cubicBezTo>
                  <a:pt x="59614" y="164795"/>
                  <a:pt x="77617" y="146439"/>
                  <a:pt x="99042" y="146439"/>
                </a:cubicBezTo>
                <a:close/>
                <a:moveTo>
                  <a:pt x="95147" y="38189"/>
                </a:moveTo>
                <a:cubicBezTo>
                  <a:pt x="101792" y="38189"/>
                  <a:pt x="107188" y="43584"/>
                  <a:pt x="107188" y="50229"/>
                </a:cubicBezTo>
                <a:cubicBezTo>
                  <a:pt x="107188" y="56875"/>
                  <a:pt x="101792" y="62270"/>
                  <a:pt x="95147" y="62270"/>
                </a:cubicBezTo>
                <a:cubicBezTo>
                  <a:pt x="88501" y="62270"/>
                  <a:pt x="83106" y="56875"/>
                  <a:pt x="83106" y="50229"/>
                </a:cubicBezTo>
                <a:cubicBezTo>
                  <a:pt x="83106" y="43584"/>
                  <a:pt x="88501" y="38189"/>
                  <a:pt x="95147" y="38189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1133261" y="2014686"/>
            <a:ext cx="6812158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&amp; AI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65121" y="2518358"/>
            <a:ext cx="3462742" cy="956976"/>
          </a:xfrm>
          <a:custGeom>
            <a:avLst/>
            <a:gdLst/>
            <a:ahLst/>
            <a:cxnLst/>
            <a:rect l="l" t="t" r="r" b="b"/>
            <a:pathLst>
              <a:path w="3462742" h="956976">
                <a:moveTo>
                  <a:pt x="0" y="0"/>
                </a:moveTo>
                <a:lnTo>
                  <a:pt x="3462742" y="0"/>
                </a:lnTo>
                <a:lnTo>
                  <a:pt x="3462742" y="956976"/>
                </a:lnTo>
                <a:lnTo>
                  <a:pt x="0" y="9569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4371417" y="2619092"/>
            <a:ext cx="3450150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74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15488" y="3072397"/>
            <a:ext cx="336200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ملف Python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409" y="2518358"/>
            <a:ext cx="3462742" cy="956976"/>
          </a:xfrm>
          <a:custGeom>
            <a:avLst/>
            <a:gdLst/>
            <a:ahLst/>
            <a:cxnLst/>
            <a:rect l="l" t="t" r="r" b="b"/>
            <a:pathLst>
              <a:path w="3462742" h="956976">
                <a:moveTo>
                  <a:pt x="0" y="0"/>
                </a:moveTo>
                <a:lnTo>
                  <a:pt x="3462742" y="0"/>
                </a:lnTo>
                <a:lnTo>
                  <a:pt x="3462742" y="956976"/>
                </a:lnTo>
                <a:lnTo>
                  <a:pt x="0" y="9569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761705" y="2619092"/>
            <a:ext cx="3450150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74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5776" y="3072397"/>
            <a:ext cx="336200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نقاط API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5507" y="3626435"/>
            <a:ext cx="7164728" cy="327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تشمل محرك KAIA AI للفحص الأخلاقي الآلي.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8855" y="4306392"/>
            <a:ext cx="7492115" cy="2342073"/>
          </a:xfrm>
          <a:custGeom>
            <a:avLst/>
            <a:gdLst/>
            <a:ahLst/>
            <a:cxnLst/>
            <a:rect l="l" t="t" r="r" b="b"/>
            <a:pathLst>
              <a:path w="7492115" h="2342073">
                <a:moveTo>
                  <a:pt x="0" y="0"/>
                </a:moveTo>
                <a:lnTo>
                  <a:pt x="7492115" y="0"/>
                </a:lnTo>
                <a:lnTo>
                  <a:pt x="7492115" y="2342073"/>
                </a:lnTo>
                <a:lnTo>
                  <a:pt x="0" y="2342073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528855" y="4306392"/>
            <a:ext cx="50367" cy="2342073"/>
          </a:xfrm>
          <a:custGeom>
            <a:avLst/>
            <a:gdLst/>
            <a:ahLst/>
            <a:cxnLst/>
            <a:rect l="l" t="t" r="r" b="b"/>
            <a:pathLst>
              <a:path w="50367" h="2342073">
                <a:moveTo>
                  <a:pt x="0" y="0"/>
                </a:moveTo>
                <a:lnTo>
                  <a:pt x="50367" y="0"/>
                </a:lnTo>
                <a:lnTo>
                  <a:pt x="50367" y="2342073"/>
                </a:lnTo>
                <a:lnTo>
                  <a:pt x="0" y="2342073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7483753" y="4533044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246838" y="104591"/>
                </a:moveTo>
                <a:cubicBezTo>
                  <a:pt x="243651" y="103528"/>
                  <a:pt x="240464" y="102525"/>
                  <a:pt x="237277" y="101580"/>
                </a:cubicBezTo>
                <a:cubicBezTo>
                  <a:pt x="237808" y="99396"/>
                  <a:pt x="238280" y="97213"/>
                  <a:pt x="238752" y="95029"/>
                </a:cubicBezTo>
                <a:cubicBezTo>
                  <a:pt x="246012" y="59850"/>
                  <a:pt x="241231" y="31578"/>
                  <a:pt x="225118" y="22252"/>
                </a:cubicBezTo>
                <a:cubicBezTo>
                  <a:pt x="209594" y="13339"/>
                  <a:pt x="184273" y="22606"/>
                  <a:pt x="158657" y="44917"/>
                </a:cubicBezTo>
                <a:cubicBezTo>
                  <a:pt x="156119" y="47101"/>
                  <a:pt x="153640" y="49403"/>
                  <a:pt x="151279" y="51705"/>
                </a:cubicBezTo>
                <a:cubicBezTo>
                  <a:pt x="149685" y="50170"/>
                  <a:pt x="148032" y="48636"/>
                  <a:pt x="146380" y="47160"/>
                </a:cubicBezTo>
                <a:cubicBezTo>
                  <a:pt x="119524" y="23314"/>
                  <a:pt x="92609" y="13280"/>
                  <a:pt x="76495" y="22665"/>
                </a:cubicBezTo>
                <a:cubicBezTo>
                  <a:pt x="61031" y="31637"/>
                  <a:pt x="56427" y="58257"/>
                  <a:pt x="62920" y="91546"/>
                </a:cubicBezTo>
                <a:cubicBezTo>
                  <a:pt x="63569" y="94852"/>
                  <a:pt x="64277" y="98098"/>
                  <a:pt x="65103" y="101403"/>
                </a:cubicBezTo>
                <a:cubicBezTo>
                  <a:pt x="61326" y="102466"/>
                  <a:pt x="57607" y="103646"/>
                  <a:pt x="54125" y="104886"/>
                </a:cubicBezTo>
                <a:cubicBezTo>
                  <a:pt x="22606" y="115805"/>
                  <a:pt x="0" y="133040"/>
                  <a:pt x="0" y="150865"/>
                </a:cubicBezTo>
                <a:cubicBezTo>
                  <a:pt x="0" y="169281"/>
                  <a:pt x="24082" y="187755"/>
                  <a:pt x="56840" y="198970"/>
                </a:cubicBezTo>
                <a:cubicBezTo>
                  <a:pt x="59496" y="199855"/>
                  <a:pt x="62152" y="200741"/>
                  <a:pt x="64867" y="201508"/>
                </a:cubicBezTo>
                <a:cubicBezTo>
                  <a:pt x="63982" y="205049"/>
                  <a:pt x="63215" y="208532"/>
                  <a:pt x="62506" y="212132"/>
                </a:cubicBezTo>
                <a:cubicBezTo>
                  <a:pt x="56309" y="244891"/>
                  <a:pt x="61149" y="270861"/>
                  <a:pt x="76613" y="279774"/>
                </a:cubicBezTo>
                <a:cubicBezTo>
                  <a:pt x="92550" y="288982"/>
                  <a:pt x="119347" y="279538"/>
                  <a:pt x="145435" y="256695"/>
                </a:cubicBezTo>
                <a:cubicBezTo>
                  <a:pt x="147501" y="254866"/>
                  <a:pt x="149567" y="252977"/>
                  <a:pt x="151633" y="250970"/>
                </a:cubicBezTo>
                <a:cubicBezTo>
                  <a:pt x="154230" y="253508"/>
                  <a:pt x="156945" y="255928"/>
                  <a:pt x="159660" y="258289"/>
                </a:cubicBezTo>
                <a:cubicBezTo>
                  <a:pt x="184922" y="280010"/>
                  <a:pt x="209889" y="288804"/>
                  <a:pt x="225295" y="279892"/>
                </a:cubicBezTo>
                <a:cubicBezTo>
                  <a:pt x="241231" y="270684"/>
                  <a:pt x="246425" y="242766"/>
                  <a:pt x="239697" y="208768"/>
                </a:cubicBezTo>
                <a:cubicBezTo>
                  <a:pt x="239165" y="206171"/>
                  <a:pt x="238575" y="203515"/>
                  <a:pt x="237926" y="200800"/>
                </a:cubicBezTo>
                <a:cubicBezTo>
                  <a:pt x="239815" y="200268"/>
                  <a:pt x="241644" y="199678"/>
                  <a:pt x="243474" y="199088"/>
                </a:cubicBezTo>
                <a:cubicBezTo>
                  <a:pt x="277531" y="187814"/>
                  <a:pt x="302203" y="169576"/>
                  <a:pt x="302203" y="150865"/>
                </a:cubicBezTo>
                <a:cubicBezTo>
                  <a:pt x="302203" y="132981"/>
                  <a:pt x="278947" y="115628"/>
                  <a:pt x="246838" y="104591"/>
                </a:cubicBezTo>
                <a:close/>
                <a:moveTo>
                  <a:pt x="166979" y="54479"/>
                </a:moveTo>
                <a:cubicBezTo>
                  <a:pt x="188936" y="35355"/>
                  <a:pt x="209417" y="27859"/>
                  <a:pt x="218743" y="33231"/>
                </a:cubicBezTo>
                <a:cubicBezTo>
                  <a:pt x="228718" y="38956"/>
                  <a:pt x="232555" y="62093"/>
                  <a:pt x="226298" y="92491"/>
                </a:cubicBezTo>
                <a:cubicBezTo>
                  <a:pt x="225885" y="94497"/>
                  <a:pt x="225472" y="96445"/>
                  <a:pt x="224941" y="98393"/>
                </a:cubicBezTo>
                <a:cubicBezTo>
                  <a:pt x="211837" y="95442"/>
                  <a:pt x="198557" y="93317"/>
                  <a:pt x="185217" y="92136"/>
                </a:cubicBezTo>
                <a:cubicBezTo>
                  <a:pt x="177544" y="81158"/>
                  <a:pt x="169163" y="70652"/>
                  <a:pt x="160073" y="60795"/>
                </a:cubicBezTo>
                <a:cubicBezTo>
                  <a:pt x="162375" y="58611"/>
                  <a:pt x="164618" y="56545"/>
                  <a:pt x="166979" y="54479"/>
                </a:cubicBezTo>
                <a:close/>
                <a:moveTo>
                  <a:pt x="98688" y="181499"/>
                </a:moveTo>
                <a:cubicBezTo>
                  <a:pt x="101698" y="186634"/>
                  <a:pt x="104768" y="191769"/>
                  <a:pt x="108014" y="196786"/>
                </a:cubicBezTo>
                <a:cubicBezTo>
                  <a:pt x="98806" y="195783"/>
                  <a:pt x="89657" y="194307"/>
                  <a:pt x="80627" y="192359"/>
                </a:cubicBezTo>
                <a:cubicBezTo>
                  <a:pt x="83224" y="183860"/>
                  <a:pt x="86470" y="175065"/>
                  <a:pt x="90248" y="166094"/>
                </a:cubicBezTo>
                <a:cubicBezTo>
                  <a:pt x="92963" y="171288"/>
                  <a:pt x="95737" y="176423"/>
                  <a:pt x="98688" y="181499"/>
                </a:cubicBezTo>
                <a:close/>
                <a:moveTo>
                  <a:pt x="80804" y="110493"/>
                </a:moveTo>
                <a:cubicBezTo>
                  <a:pt x="89303" y="108604"/>
                  <a:pt x="98334" y="107070"/>
                  <a:pt x="107719" y="105889"/>
                </a:cubicBezTo>
                <a:cubicBezTo>
                  <a:pt x="104591" y="110788"/>
                  <a:pt x="101521" y="115805"/>
                  <a:pt x="98629" y="120881"/>
                </a:cubicBezTo>
                <a:cubicBezTo>
                  <a:pt x="95737" y="125898"/>
                  <a:pt x="92904" y="131033"/>
                  <a:pt x="90248" y="136227"/>
                </a:cubicBezTo>
                <a:cubicBezTo>
                  <a:pt x="86529" y="127433"/>
                  <a:pt x="83401" y="118815"/>
                  <a:pt x="80804" y="110493"/>
                </a:cubicBezTo>
                <a:close/>
                <a:moveTo>
                  <a:pt x="96976" y="151160"/>
                </a:moveTo>
                <a:cubicBezTo>
                  <a:pt x="100872" y="143015"/>
                  <a:pt x="105122" y="135047"/>
                  <a:pt x="109608" y="127197"/>
                </a:cubicBezTo>
                <a:cubicBezTo>
                  <a:pt x="114093" y="119347"/>
                  <a:pt x="118933" y="111732"/>
                  <a:pt x="124009" y="104236"/>
                </a:cubicBezTo>
                <a:cubicBezTo>
                  <a:pt x="132863" y="103587"/>
                  <a:pt x="141894" y="103233"/>
                  <a:pt x="151101" y="103233"/>
                </a:cubicBezTo>
                <a:cubicBezTo>
                  <a:pt x="160309" y="103233"/>
                  <a:pt x="169399" y="103587"/>
                  <a:pt x="178193" y="104236"/>
                </a:cubicBezTo>
                <a:cubicBezTo>
                  <a:pt x="183211" y="111673"/>
                  <a:pt x="187991" y="119288"/>
                  <a:pt x="192536" y="127079"/>
                </a:cubicBezTo>
                <a:cubicBezTo>
                  <a:pt x="197081" y="134870"/>
                  <a:pt x="201331" y="142838"/>
                  <a:pt x="205345" y="150924"/>
                </a:cubicBezTo>
                <a:cubicBezTo>
                  <a:pt x="201390" y="159070"/>
                  <a:pt x="197140" y="167097"/>
                  <a:pt x="192595" y="175006"/>
                </a:cubicBezTo>
                <a:cubicBezTo>
                  <a:pt x="188110" y="182856"/>
                  <a:pt x="183329" y="190470"/>
                  <a:pt x="178312" y="198026"/>
                </a:cubicBezTo>
                <a:cubicBezTo>
                  <a:pt x="169517" y="198675"/>
                  <a:pt x="160368" y="198970"/>
                  <a:pt x="151101" y="198970"/>
                </a:cubicBezTo>
                <a:cubicBezTo>
                  <a:pt x="141835" y="198970"/>
                  <a:pt x="132863" y="198675"/>
                  <a:pt x="124187" y="198144"/>
                </a:cubicBezTo>
                <a:cubicBezTo>
                  <a:pt x="119051" y="190648"/>
                  <a:pt x="114211" y="182974"/>
                  <a:pt x="109667" y="175124"/>
                </a:cubicBezTo>
                <a:cubicBezTo>
                  <a:pt x="105122" y="167274"/>
                  <a:pt x="100931" y="159306"/>
                  <a:pt x="96976" y="151160"/>
                </a:cubicBezTo>
                <a:close/>
                <a:moveTo>
                  <a:pt x="203574" y="181381"/>
                </a:moveTo>
                <a:cubicBezTo>
                  <a:pt x="206584" y="176187"/>
                  <a:pt x="209417" y="170934"/>
                  <a:pt x="212191" y="165621"/>
                </a:cubicBezTo>
                <a:cubicBezTo>
                  <a:pt x="215969" y="174180"/>
                  <a:pt x="219274" y="182856"/>
                  <a:pt x="222166" y="191769"/>
                </a:cubicBezTo>
                <a:cubicBezTo>
                  <a:pt x="213018" y="193835"/>
                  <a:pt x="203751" y="195429"/>
                  <a:pt x="194425" y="196491"/>
                </a:cubicBezTo>
                <a:cubicBezTo>
                  <a:pt x="197612" y="191533"/>
                  <a:pt x="200623" y="186457"/>
                  <a:pt x="203574" y="181381"/>
                </a:cubicBezTo>
                <a:close/>
                <a:moveTo>
                  <a:pt x="212073" y="136227"/>
                </a:moveTo>
                <a:cubicBezTo>
                  <a:pt x="209299" y="131033"/>
                  <a:pt x="206466" y="125839"/>
                  <a:pt x="203515" y="120763"/>
                </a:cubicBezTo>
                <a:cubicBezTo>
                  <a:pt x="200623" y="115746"/>
                  <a:pt x="197612" y="110788"/>
                  <a:pt x="194484" y="105889"/>
                </a:cubicBezTo>
                <a:cubicBezTo>
                  <a:pt x="203987" y="107070"/>
                  <a:pt x="213077" y="108663"/>
                  <a:pt x="221576" y="110611"/>
                </a:cubicBezTo>
                <a:cubicBezTo>
                  <a:pt x="218861" y="119347"/>
                  <a:pt x="215674" y="127846"/>
                  <a:pt x="212073" y="136227"/>
                </a:cubicBezTo>
                <a:close/>
                <a:moveTo>
                  <a:pt x="151220" y="69825"/>
                </a:moveTo>
                <a:cubicBezTo>
                  <a:pt x="157417" y="76554"/>
                  <a:pt x="163260" y="83637"/>
                  <a:pt x="168691" y="90956"/>
                </a:cubicBezTo>
                <a:cubicBezTo>
                  <a:pt x="157004" y="90425"/>
                  <a:pt x="145258" y="90425"/>
                  <a:pt x="133571" y="90956"/>
                </a:cubicBezTo>
                <a:cubicBezTo>
                  <a:pt x="139356" y="83342"/>
                  <a:pt x="145317" y="76259"/>
                  <a:pt x="151220" y="69825"/>
                </a:cubicBezTo>
                <a:close/>
                <a:moveTo>
                  <a:pt x="82752" y="33644"/>
                </a:moveTo>
                <a:cubicBezTo>
                  <a:pt x="92668" y="27859"/>
                  <a:pt x="114684" y="36123"/>
                  <a:pt x="137880" y="56663"/>
                </a:cubicBezTo>
                <a:cubicBezTo>
                  <a:pt x="139356" y="57962"/>
                  <a:pt x="140831" y="59378"/>
                  <a:pt x="142366" y="60795"/>
                </a:cubicBezTo>
                <a:cubicBezTo>
                  <a:pt x="133217" y="70652"/>
                  <a:pt x="124777" y="81158"/>
                  <a:pt x="117045" y="92136"/>
                </a:cubicBezTo>
                <a:cubicBezTo>
                  <a:pt x="103705" y="93317"/>
                  <a:pt x="90484" y="95383"/>
                  <a:pt x="77380" y="98275"/>
                </a:cubicBezTo>
                <a:cubicBezTo>
                  <a:pt x="76613" y="95265"/>
                  <a:pt x="75964" y="92196"/>
                  <a:pt x="75315" y="89126"/>
                </a:cubicBezTo>
                <a:cubicBezTo>
                  <a:pt x="69766" y="60559"/>
                  <a:pt x="73426" y="39015"/>
                  <a:pt x="82752" y="33644"/>
                </a:cubicBezTo>
                <a:close/>
                <a:moveTo>
                  <a:pt x="68291" y="189231"/>
                </a:moveTo>
                <a:cubicBezTo>
                  <a:pt x="65812" y="188523"/>
                  <a:pt x="63392" y="187755"/>
                  <a:pt x="60972" y="186929"/>
                </a:cubicBezTo>
                <a:cubicBezTo>
                  <a:pt x="48400" y="182974"/>
                  <a:pt x="34116" y="176718"/>
                  <a:pt x="23787" y="168514"/>
                </a:cubicBezTo>
                <a:cubicBezTo>
                  <a:pt x="17825" y="164382"/>
                  <a:pt x="13812" y="158007"/>
                  <a:pt x="12690" y="150865"/>
                </a:cubicBezTo>
                <a:cubicBezTo>
                  <a:pt x="12690" y="140064"/>
                  <a:pt x="31342" y="126252"/>
                  <a:pt x="58257" y="116868"/>
                </a:cubicBezTo>
                <a:cubicBezTo>
                  <a:pt x="61621" y="115687"/>
                  <a:pt x="65044" y="114625"/>
                  <a:pt x="68468" y="113621"/>
                </a:cubicBezTo>
                <a:cubicBezTo>
                  <a:pt x="72481" y="126429"/>
                  <a:pt x="77321" y="139002"/>
                  <a:pt x="82929" y="151160"/>
                </a:cubicBezTo>
                <a:cubicBezTo>
                  <a:pt x="77262" y="163497"/>
                  <a:pt x="72363" y="176246"/>
                  <a:pt x="68291" y="189231"/>
                </a:cubicBezTo>
                <a:close/>
                <a:moveTo>
                  <a:pt x="137113" y="247075"/>
                </a:moveTo>
                <a:cubicBezTo>
                  <a:pt x="127374" y="255987"/>
                  <a:pt x="116100" y="263070"/>
                  <a:pt x="103823" y="267910"/>
                </a:cubicBezTo>
                <a:cubicBezTo>
                  <a:pt x="97272" y="271038"/>
                  <a:pt x="89716" y="271333"/>
                  <a:pt x="82988" y="268677"/>
                </a:cubicBezTo>
                <a:cubicBezTo>
                  <a:pt x="73603" y="263247"/>
                  <a:pt x="69707" y="242412"/>
                  <a:pt x="75020" y="214375"/>
                </a:cubicBezTo>
                <a:cubicBezTo>
                  <a:pt x="75669" y="211070"/>
                  <a:pt x="76377" y="207765"/>
                  <a:pt x="77203" y="204518"/>
                </a:cubicBezTo>
                <a:cubicBezTo>
                  <a:pt x="90425" y="207351"/>
                  <a:pt x="103764" y="209299"/>
                  <a:pt x="117281" y="210303"/>
                </a:cubicBezTo>
                <a:cubicBezTo>
                  <a:pt x="125072" y="221340"/>
                  <a:pt x="133630" y="231905"/>
                  <a:pt x="142779" y="241821"/>
                </a:cubicBezTo>
                <a:cubicBezTo>
                  <a:pt x="140890" y="243651"/>
                  <a:pt x="139002" y="245422"/>
                  <a:pt x="137113" y="247075"/>
                </a:cubicBezTo>
                <a:close/>
                <a:moveTo>
                  <a:pt x="151574" y="232732"/>
                </a:moveTo>
                <a:cubicBezTo>
                  <a:pt x="145553" y="226239"/>
                  <a:pt x="139533" y="219038"/>
                  <a:pt x="133689" y="211306"/>
                </a:cubicBezTo>
                <a:cubicBezTo>
                  <a:pt x="139356" y="211542"/>
                  <a:pt x="145199" y="211660"/>
                  <a:pt x="151101" y="211660"/>
                </a:cubicBezTo>
                <a:cubicBezTo>
                  <a:pt x="157181" y="211660"/>
                  <a:pt x="163142" y="211542"/>
                  <a:pt x="169045" y="211247"/>
                </a:cubicBezTo>
                <a:cubicBezTo>
                  <a:pt x="163615" y="218743"/>
                  <a:pt x="157771" y="225885"/>
                  <a:pt x="151574" y="232732"/>
                </a:cubicBezTo>
                <a:close/>
                <a:moveTo>
                  <a:pt x="228718" y="250439"/>
                </a:moveTo>
                <a:cubicBezTo>
                  <a:pt x="228187" y="257640"/>
                  <a:pt x="224645" y="264369"/>
                  <a:pt x="218979" y="268913"/>
                </a:cubicBezTo>
                <a:cubicBezTo>
                  <a:pt x="209594" y="274344"/>
                  <a:pt x="189585" y="267261"/>
                  <a:pt x="167982" y="248727"/>
                </a:cubicBezTo>
                <a:cubicBezTo>
                  <a:pt x="165503" y="246602"/>
                  <a:pt x="163024" y="244300"/>
                  <a:pt x="160486" y="241939"/>
                </a:cubicBezTo>
                <a:cubicBezTo>
                  <a:pt x="169517" y="231964"/>
                  <a:pt x="177839" y="221399"/>
                  <a:pt x="185394" y="210303"/>
                </a:cubicBezTo>
                <a:cubicBezTo>
                  <a:pt x="198911" y="209181"/>
                  <a:pt x="212368" y="207115"/>
                  <a:pt x="225649" y="204105"/>
                </a:cubicBezTo>
                <a:cubicBezTo>
                  <a:pt x="226239" y="206525"/>
                  <a:pt x="226770" y="208945"/>
                  <a:pt x="227242" y="211306"/>
                </a:cubicBezTo>
                <a:cubicBezTo>
                  <a:pt x="230135" y="224055"/>
                  <a:pt x="230607" y="237336"/>
                  <a:pt x="228718" y="250439"/>
                </a:cubicBezTo>
                <a:close/>
                <a:moveTo>
                  <a:pt x="239460" y="186988"/>
                </a:moveTo>
                <a:cubicBezTo>
                  <a:pt x="237808" y="187519"/>
                  <a:pt x="236155" y="188051"/>
                  <a:pt x="234443" y="188523"/>
                </a:cubicBezTo>
                <a:cubicBezTo>
                  <a:pt x="230312" y="175655"/>
                  <a:pt x="225236" y="163083"/>
                  <a:pt x="219392" y="150865"/>
                </a:cubicBezTo>
                <a:cubicBezTo>
                  <a:pt x="225059" y="138824"/>
                  <a:pt x="229840" y="126429"/>
                  <a:pt x="233853" y="113739"/>
                </a:cubicBezTo>
                <a:cubicBezTo>
                  <a:pt x="236922" y="114625"/>
                  <a:pt x="239874" y="115569"/>
                  <a:pt x="242707" y="116513"/>
                </a:cubicBezTo>
                <a:cubicBezTo>
                  <a:pt x="270212" y="125957"/>
                  <a:pt x="289513" y="140005"/>
                  <a:pt x="289513" y="150747"/>
                </a:cubicBezTo>
                <a:cubicBezTo>
                  <a:pt x="289513" y="162316"/>
                  <a:pt x="268913" y="177249"/>
                  <a:pt x="239460" y="186988"/>
                </a:cubicBezTo>
                <a:close/>
                <a:moveTo>
                  <a:pt x="151101" y="178134"/>
                </a:moveTo>
                <a:cubicBezTo>
                  <a:pt x="166021" y="178134"/>
                  <a:pt x="178134" y="166021"/>
                  <a:pt x="178134" y="151101"/>
                </a:cubicBezTo>
                <a:cubicBezTo>
                  <a:pt x="178134" y="136182"/>
                  <a:pt x="166021" y="124068"/>
                  <a:pt x="151101" y="124068"/>
                </a:cubicBezTo>
                <a:cubicBezTo>
                  <a:pt x="136182" y="124068"/>
                  <a:pt x="124068" y="136182"/>
                  <a:pt x="124068" y="151101"/>
                </a:cubicBezTo>
                <a:cubicBezTo>
                  <a:pt x="124068" y="166021"/>
                  <a:pt x="136182" y="178134"/>
                  <a:pt x="151101" y="178134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1133261" y="4507861"/>
            <a:ext cx="6812158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65121" y="5011532"/>
            <a:ext cx="3462742" cy="956976"/>
          </a:xfrm>
          <a:custGeom>
            <a:avLst/>
            <a:gdLst/>
            <a:ahLst/>
            <a:cxnLst/>
            <a:rect l="l" t="t" r="r" b="b"/>
            <a:pathLst>
              <a:path w="3462742" h="956976">
                <a:moveTo>
                  <a:pt x="0" y="0"/>
                </a:moveTo>
                <a:lnTo>
                  <a:pt x="3462742" y="0"/>
                </a:lnTo>
                <a:lnTo>
                  <a:pt x="3462742" y="956976"/>
                </a:lnTo>
                <a:lnTo>
                  <a:pt x="0" y="9569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4371417" y="5112266"/>
            <a:ext cx="3450150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74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15488" y="5565571"/>
            <a:ext cx="336200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ملف TS/React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5409" y="5011532"/>
            <a:ext cx="3462742" cy="956976"/>
          </a:xfrm>
          <a:custGeom>
            <a:avLst/>
            <a:gdLst/>
            <a:ahLst/>
            <a:cxnLst/>
            <a:rect l="l" t="t" r="r" b="b"/>
            <a:pathLst>
              <a:path w="3462742" h="956976">
                <a:moveTo>
                  <a:pt x="0" y="0"/>
                </a:moveTo>
                <a:lnTo>
                  <a:pt x="3462742" y="0"/>
                </a:lnTo>
                <a:lnTo>
                  <a:pt x="3462742" y="956976"/>
                </a:lnTo>
                <a:lnTo>
                  <a:pt x="0" y="9569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761705" y="5112266"/>
            <a:ext cx="3450150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74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1,019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5776" y="5565571"/>
            <a:ext cx="336200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منتج تجريبي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5507" y="6119610"/>
            <a:ext cx="7164728" cy="327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واجهة مستخدم حديثة و responsive.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8855" y="6799566"/>
            <a:ext cx="7492115" cy="2342073"/>
          </a:xfrm>
          <a:custGeom>
            <a:avLst/>
            <a:gdLst/>
            <a:ahLst/>
            <a:cxnLst/>
            <a:rect l="l" t="t" r="r" b="b"/>
            <a:pathLst>
              <a:path w="7492115" h="2342073">
                <a:moveTo>
                  <a:pt x="0" y="0"/>
                </a:moveTo>
                <a:lnTo>
                  <a:pt x="7492115" y="0"/>
                </a:lnTo>
                <a:lnTo>
                  <a:pt x="7492115" y="2342073"/>
                </a:lnTo>
                <a:lnTo>
                  <a:pt x="0" y="2342073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6" name="Shape 44"/>
          <p:cNvSpPr/>
          <p:nvPr/>
        </p:nvSpPr>
        <p:spPr>
          <a:xfrm>
            <a:off x="528855" y="6799566"/>
            <a:ext cx="50367" cy="2342073"/>
          </a:xfrm>
          <a:custGeom>
            <a:avLst/>
            <a:gdLst/>
            <a:ahLst/>
            <a:cxnLst/>
            <a:rect l="l" t="t" r="r" b="b"/>
            <a:pathLst>
              <a:path w="50367" h="2342073">
                <a:moveTo>
                  <a:pt x="0" y="0"/>
                </a:moveTo>
                <a:lnTo>
                  <a:pt x="50367" y="0"/>
                </a:lnTo>
                <a:lnTo>
                  <a:pt x="50367" y="2342073"/>
                </a:lnTo>
                <a:lnTo>
                  <a:pt x="0" y="2342073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Shape 45"/>
          <p:cNvSpPr/>
          <p:nvPr/>
        </p:nvSpPr>
        <p:spPr>
          <a:xfrm>
            <a:off x="7483753" y="7026218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32391" y="-1476"/>
                </a:moveTo>
                <a:cubicBezTo>
                  <a:pt x="144078" y="-8204"/>
                  <a:pt x="158479" y="-8204"/>
                  <a:pt x="170166" y="-1476"/>
                </a:cubicBezTo>
                <a:lnTo>
                  <a:pt x="273989" y="58434"/>
                </a:lnTo>
                <a:cubicBezTo>
                  <a:pt x="285676" y="65163"/>
                  <a:pt x="292877" y="77676"/>
                  <a:pt x="292877" y="91133"/>
                </a:cubicBezTo>
                <a:lnTo>
                  <a:pt x="292877" y="210952"/>
                </a:lnTo>
                <a:cubicBezTo>
                  <a:pt x="292877" y="224468"/>
                  <a:pt x="285676" y="236922"/>
                  <a:pt x="273989" y="243651"/>
                </a:cubicBezTo>
                <a:lnTo>
                  <a:pt x="170166" y="303679"/>
                </a:lnTo>
                <a:cubicBezTo>
                  <a:pt x="158479" y="310407"/>
                  <a:pt x="144078" y="310407"/>
                  <a:pt x="132391" y="303679"/>
                </a:cubicBezTo>
                <a:lnTo>
                  <a:pt x="28627" y="243769"/>
                </a:lnTo>
                <a:cubicBezTo>
                  <a:pt x="16940" y="237040"/>
                  <a:pt x="9739" y="224527"/>
                  <a:pt x="9739" y="211070"/>
                </a:cubicBezTo>
                <a:lnTo>
                  <a:pt x="9739" y="91251"/>
                </a:lnTo>
                <a:cubicBezTo>
                  <a:pt x="9739" y="77735"/>
                  <a:pt x="16940" y="65281"/>
                  <a:pt x="28627" y="58552"/>
                </a:cubicBezTo>
                <a:lnTo>
                  <a:pt x="132391" y="-1476"/>
                </a:lnTo>
                <a:close/>
                <a:moveTo>
                  <a:pt x="255043" y="211011"/>
                </a:moveTo>
                <a:lnTo>
                  <a:pt x="255043" y="112972"/>
                </a:lnTo>
                <a:lnTo>
                  <a:pt x="170166" y="161962"/>
                </a:lnTo>
                <a:lnTo>
                  <a:pt x="170166" y="260001"/>
                </a:lnTo>
                <a:lnTo>
                  <a:pt x="255043" y="211011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8" name="Text 46"/>
          <p:cNvSpPr/>
          <p:nvPr/>
        </p:nvSpPr>
        <p:spPr>
          <a:xfrm>
            <a:off x="1133261" y="7001035"/>
            <a:ext cx="6812158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Blockchain &amp; DevOps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65121" y="7504706"/>
            <a:ext cx="3462742" cy="956976"/>
          </a:xfrm>
          <a:custGeom>
            <a:avLst/>
            <a:gdLst/>
            <a:ahLst/>
            <a:cxnLst/>
            <a:rect l="l" t="t" r="r" b="b"/>
            <a:pathLst>
              <a:path w="3462742" h="956976">
                <a:moveTo>
                  <a:pt x="0" y="0"/>
                </a:moveTo>
                <a:lnTo>
                  <a:pt x="3462742" y="0"/>
                </a:lnTo>
                <a:lnTo>
                  <a:pt x="3462742" y="956976"/>
                </a:lnTo>
                <a:lnTo>
                  <a:pt x="0" y="9569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Text 48"/>
          <p:cNvSpPr/>
          <p:nvPr/>
        </p:nvSpPr>
        <p:spPr>
          <a:xfrm>
            <a:off x="4371417" y="7605441"/>
            <a:ext cx="3450150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74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15488" y="8058745"/>
            <a:ext cx="336200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عقد ذكي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5409" y="7504706"/>
            <a:ext cx="3462742" cy="956976"/>
          </a:xfrm>
          <a:custGeom>
            <a:avLst/>
            <a:gdLst/>
            <a:ahLst/>
            <a:cxnLst/>
            <a:rect l="l" t="t" r="r" b="b"/>
            <a:pathLst>
              <a:path w="3462742" h="956976">
                <a:moveTo>
                  <a:pt x="0" y="0"/>
                </a:moveTo>
                <a:lnTo>
                  <a:pt x="3462742" y="0"/>
                </a:lnTo>
                <a:lnTo>
                  <a:pt x="3462742" y="956976"/>
                </a:lnTo>
                <a:lnTo>
                  <a:pt x="0" y="9569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3" name="Text 51"/>
          <p:cNvSpPr/>
          <p:nvPr/>
        </p:nvSpPr>
        <p:spPr>
          <a:xfrm>
            <a:off x="761705" y="7605441"/>
            <a:ext cx="3450150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74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5776" y="8058745"/>
            <a:ext cx="336200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مكتبة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5507" y="8612784"/>
            <a:ext cx="7164728" cy="327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عقد متوافق مع ERC-3643 و Docker + CI/CD.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065" y="445065"/>
            <a:ext cx="15454883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b="1" kern="0" spc="7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5065" y="801117"/>
            <a:ext cx="15566149" cy="445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5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البنية التحتية التقنية المتكاملة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924456" y="1379702"/>
            <a:ext cx="890130" cy="44507"/>
          </a:xfrm>
          <a:custGeom>
            <a:avLst/>
            <a:gdLst/>
            <a:ahLst/>
            <a:cxnLst/>
            <a:rect l="l" t="t" r="r" b="b"/>
            <a:pathLst>
              <a:path w="890130" h="44507">
                <a:moveTo>
                  <a:pt x="0" y="0"/>
                </a:moveTo>
                <a:lnTo>
                  <a:pt x="890130" y="0"/>
                </a:lnTo>
                <a:lnTo>
                  <a:pt x="890130" y="44507"/>
                </a:lnTo>
                <a:lnTo>
                  <a:pt x="0" y="44507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30-d57c8lh09tp1qi5r4bt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7084" y="1602234"/>
            <a:ext cx="8567502" cy="7543852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467318" y="1602234"/>
            <a:ext cx="5296274" cy="1490968"/>
          </a:xfrm>
          <a:custGeom>
            <a:avLst/>
            <a:gdLst/>
            <a:ahLst/>
            <a:cxnLst/>
            <a:rect l="l" t="t" r="r" b="b"/>
            <a:pathLst>
              <a:path w="5296274" h="1490968">
                <a:moveTo>
                  <a:pt x="0" y="0"/>
                </a:moveTo>
                <a:lnTo>
                  <a:pt x="5296274" y="0"/>
                </a:lnTo>
                <a:lnTo>
                  <a:pt x="5296274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467318" y="1602234"/>
            <a:ext cx="44507" cy="1490968"/>
          </a:xfrm>
          <a:custGeom>
            <a:avLst/>
            <a:gdLst/>
            <a:ahLst/>
            <a:cxnLst/>
            <a:rect l="l" t="t" r="r" b="b"/>
            <a:pathLst>
              <a:path w="44507" h="1490968">
                <a:moveTo>
                  <a:pt x="0" y="0"/>
                </a:moveTo>
                <a:lnTo>
                  <a:pt x="44507" y="0"/>
                </a:lnTo>
                <a:lnTo>
                  <a:pt x="44507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347648" y="1824767"/>
            <a:ext cx="194716" cy="222533"/>
          </a:xfrm>
          <a:custGeom>
            <a:avLst/>
            <a:gdLst/>
            <a:ahLst/>
            <a:cxnLst/>
            <a:rect l="l" t="t" r="r" b="b"/>
            <a:pathLst>
              <a:path w="194716" h="222533">
                <a:moveTo>
                  <a:pt x="27817" y="13908"/>
                </a:moveTo>
                <a:cubicBezTo>
                  <a:pt x="12474" y="13908"/>
                  <a:pt x="0" y="26382"/>
                  <a:pt x="0" y="41725"/>
                </a:cubicBezTo>
                <a:lnTo>
                  <a:pt x="0" y="69541"/>
                </a:lnTo>
                <a:cubicBezTo>
                  <a:pt x="0" y="84884"/>
                  <a:pt x="12474" y="97358"/>
                  <a:pt x="27817" y="97358"/>
                </a:cubicBezTo>
                <a:lnTo>
                  <a:pt x="166899" y="97358"/>
                </a:lnTo>
                <a:cubicBezTo>
                  <a:pt x="182242" y="97358"/>
                  <a:pt x="194716" y="84884"/>
                  <a:pt x="194716" y="69541"/>
                </a:cubicBezTo>
                <a:lnTo>
                  <a:pt x="194716" y="41725"/>
                </a:lnTo>
                <a:cubicBezTo>
                  <a:pt x="194716" y="26382"/>
                  <a:pt x="182242" y="13908"/>
                  <a:pt x="166899" y="13908"/>
                </a:cubicBezTo>
                <a:lnTo>
                  <a:pt x="27817" y="13908"/>
                </a:lnTo>
                <a:close/>
                <a:moveTo>
                  <a:pt x="121697" y="45202"/>
                </a:moveTo>
                <a:cubicBezTo>
                  <a:pt x="127455" y="45202"/>
                  <a:pt x="132129" y="49876"/>
                  <a:pt x="132129" y="55633"/>
                </a:cubicBezTo>
                <a:cubicBezTo>
                  <a:pt x="132129" y="61390"/>
                  <a:pt x="127455" y="66064"/>
                  <a:pt x="121697" y="66064"/>
                </a:cubicBezTo>
                <a:cubicBezTo>
                  <a:pt x="115940" y="66064"/>
                  <a:pt x="111266" y="61390"/>
                  <a:pt x="111266" y="55633"/>
                </a:cubicBezTo>
                <a:cubicBezTo>
                  <a:pt x="111266" y="49876"/>
                  <a:pt x="115940" y="45202"/>
                  <a:pt x="121697" y="45202"/>
                </a:cubicBezTo>
                <a:close/>
                <a:moveTo>
                  <a:pt x="146037" y="55633"/>
                </a:moveTo>
                <a:cubicBezTo>
                  <a:pt x="146037" y="49876"/>
                  <a:pt x="150711" y="45202"/>
                  <a:pt x="156468" y="45202"/>
                </a:cubicBezTo>
                <a:cubicBezTo>
                  <a:pt x="162225" y="45202"/>
                  <a:pt x="166899" y="49876"/>
                  <a:pt x="166899" y="55633"/>
                </a:cubicBezTo>
                <a:cubicBezTo>
                  <a:pt x="166899" y="61390"/>
                  <a:pt x="162225" y="66064"/>
                  <a:pt x="156468" y="66064"/>
                </a:cubicBezTo>
                <a:cubicBezTo>
                  <a:pt x="150711" y="66064"/>
                  <a:pt x="146037" y="61390"/>
                  <a:pt x="146037" y="55633"/>
                </a:cubicBezTo>
                <a:close/>
                <a:moveTo>
                  <a:pt x="27817" y="125175"/>
                </a:moveTo>
                <a:cubicBezTo>
                  <a:pt x="12474" y="125175"/>
                  <a:pt x="0" y="137649"/>
                  <a:pt x="0" y="152991"/>
                </a:cubicBezTo>
                <a:lnTo>
                  <a:pt x="0" y="180808"/>
                </a:lnTo>
                <a:cubicBezTo>
                  <a:pt x="0" y="196150"/>
                  <a:pt x="12474" y="208624"/>
                  <a:pt x="27817" y="208624"/>
                </a:cubicBezTo>
                <a:lnTo>
                  <a:pt x="166899" y="208624"/>
                </a:lnTo>
                <a:cubicBezTo>
                  <a:pt x="182242" y="208624"/>
                  <a:pt x="194716" y="196150"/>
                  <a:pt x="194716" y="180808"/>
                </a:cubicBezTo>
                <a:lnTo>
                  <a:pt x="194716" y="152991"/>
                </a:lnTo>
                <a:cubicBezTo>
                  <a:pt x="194716" y="137649"/>
                  <a:pt x="182242" y="125175"/>
                  <a:pt x="166899" y="125175"/>
                </a:cubicBezTo>
                <a:lnTo>
                  <a:pt x="27817" y="125175"/>
                </a:lnTo>
                <a:close/>
                <a:moveTo>
                  <a:pt x="121697" y="156468"/>
                </a:moveTo>
                <a:cubicBezTo>
                  <a:pt x="127455" y="156468"/>
                  <a:pt x="132129" y="161142"/>
                  <a:pt x="132129" y="166899"/>
                </a:cubicBezTo>
                <a:cubicBezTo>
                  <a:pt x="132129" y="172657"/>
                  <a:pt x="127455" y="177331"/>
                  <a:pt x="121697" y="177331"/>
                </a:cubicBezTo>
                <a:cubicBezTo>
                  <a:pt x="115940" y="177331"/>
                  <a:pt x="111266" y="172657"/>
                  <a:pt x="111266" y="166899"/>
                </a:cubicBezTo>
                <a:cubicBezTo>
                  <a:pt x="111266" y="161142"/>
                  <a:pt x="115940" y="156468"/>
                  <a:pt x="121697" y="156468"/>
                </a:cubicBezTo>
                <a:close/>
                <a:moveTo>
                  <a:pt x="146037" y="166899"/>
                </a:moveTo>
                <a:cubicBezTo>
                  <a:pt x="146037" y="161142"/>
                  <a:pt x="150711" y="156468"/>
                  <a:pt x="156468" y="156468"/>
                </a:cubicBezTo>
                <a:cubicBezTo>
                  <a:pt x="162225" y="156468"/>
                  <a:pt x="166899" y="161142"/>
                  <a:pt x="166899" y="166899"/>
                </a:cubicBezTo>
                <a:cubicBezTo>
                  <a:pt x="166899" y="172657"/>
                  <a:pt x="162225" y="177331"/>
                  <a:pt x="156468" y="177331"/>
                </a:cubicBezTo>
                <a:cubicBezTo>
                  <a:pt x="150711" y="177331"/>
                  <a:pt x="146037" y="172657"/>
                  <a:pt x="146037" y="166899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3917094" y="1780260"/>
            <a:ext cx="1401955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1591" y="2180819"/>
            <a:ext cx="834497" cy="356052"/>
          </a:xfrm>
          <a:custGeom>
            <a:avLst/>
            <a:gdLst/>
            <a:ahLst/>
            <a:cxnLst/>
            <a:rect l="l" t="t" r="r" b="b"/>
            <a:pathLst>
              <a:path w="834497" h="356052">
                <a:moveTo>
                  <a:pt x="0" y="0"/>
                </a:moveTo>
                <a:lnTo>
                  <a:pt x="834497" y="0"/>
                </a:lnTo>
                <a:lnTo>
                  <a:pt x="834497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4751591" y="2180819"/>
            <a:ext cx="923510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01410" y="2180819"/>
            <a:ext cx="1157169" cy="356052"/>
          </a:xfrm>
          <a:custGeom>
            <a:avLst/>
            <a:gdLst/>
            <a:ahLst/>
            <a:cxnLst/>
            <a:rect l="l" t="t" r="r" b="b"/>
            <a:pathLst>
              <a:path w="1157169" h="356052">
                <a:moveTo>
                  <a:pt x="0" y="0"/>
                </a:moveTo>
                <a:lnTo>
                  <a:pt x="1157169" y="0"/>
                </a:lnTo>
                <a:lnTo>
                  <a:pt x="1157169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3501410" y="2180819"/>
            <a:ext cx="1246182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7598" y="2625884"/>
            <a:ext cx="5006982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واجهات برمجة قوية وقاعدة بيانات موثوقة.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7318" y="3226721"/>
            <a:ext cx="5296274" cy="1490968"/>
          </a:xfrm>
          <a:custGeom>
            <a:avLst/>
            <a:gdLst/>
            <a:ahLst/>
            <a:cxnLst/>
            <a:rect l="l" t="t" r="r" b="b"/>
            <a:pathLst>
              <a:path w="5296274" h="1490968">
                <a:moveTo>
                  <a:pt x="0" y="0"/>
                </a:moveTo>
                <a:lnTo>
                  <a:pt x="5296274" y="0"/>
                </a:lnTo>
                <a:lnTo>
                  <a:pt x="5296274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467318" y="3226721"/>
            <a:ext cx="44507" cy="1490968"/>
          </a:xfrm>
          <a:custGeom>
            <a:avLst/>
            <a:gdLst/>
            <a:ahLst/>
            <a:cxnLst/>
            <a:rect l="l" t="t" r="r" b="b"/>
            <a:pathLst>
              <a:path w="44507" h="1490968">
                <a:moveTo>
                  <a:pt x="0" y="0"/>
                </a:moveTo>
                <a:lnTo>
                  <a:pt x="44507" y="0"/>
                </a:lnTo>
                <a:lnTo>
                  <a:pt x="44507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Shape 14"/>
          <p:cNvSpPr/>
          <p:nvPr/>
        </p:nvSpPr>
        <p:spPr>
          <a:xfrm>
            <a:off x="5333739" y="3449254"/>
            <a:ext cx="222533" cy="222533"/>
          </a:xfrm>
          <a:custGeom>
            <a:avLst/>
            <a:gdLst/>
            <a:ahLst/>
            <a:cxnLst/>
            <a:rect l="l" t="t" r="r" b="b"/>
            <a:pathLst>
              <a:path w="222533" h="222533">
                <a:moveTo>
                  <a:pt x="27817" y="13908"/>
                </a:moveTo>
                <a:cubicBezTo>
                  <a:pt x="12474" y="13908"/>
                  <a:pt x="0" y="26382"/>
                  <a:pt x="0" y="41725"/>
                </a:cubicBezTo>
                <a:lnTo>
                  <a:pt x="0" y="152991"/>
                </a:lnTo>
                <a:cubicBezTo>
                  <a:pt x="0" y="168334"/>
                  <a:pt x="12474" y="180808"/>
                  <a:pt x="27817" y="180808"/>
                </a:cubicBezTo>
                <a:lnTo>
                  <a:pt x="90404" y="180808"/>
                </a:lnTo>
                <a:lnTo>
                  <a:pt x="83450" y="201670"/>
                </a:lnTo>
                <a:lnTo>
                  <a:pt x="52156" y="201670"/>
                </a:lnTo>
                <a:cubicBezTo>
                  <a:pt x="46375" y="201670"/>
                  <a:pt x="41725" y="206321"/>
                  <a:pt x="41725" y="212101"/>
                </a:cubicBezTo>
                <a:cubicBezTo>
                  <a:pt x="41725" y="217882"/>
                  <a:pt x="46375" y="222533"/>
                  <a:pt x="52156" y="222533"/>
                </a:cubicBezTo>
                <a:lnTo>
                  <a:pt x="170376" y="222533"/>
                </a:lnTo>
                <a:cubicBezTo>
                  <a:pt x="176157" y="222533"/>
                  <a:pt x="180808" y="217882"/>
                  <a:pt x="180808" y="212101"/>
                </a:cubicBezTo>
                <a:cubicBezTo>
                  <a:pt x="180808" y="206321"/>
                  <a:pt x="176157" y="201670"/>
                  <a:pt x="170376" y="201670"/>
                </a:cubicBezTo>
                <a:lnTo>
                  <a:pt x="139083" y="201670"/>
                </a:lnTo>
                <a:lnTo>
                  <a:pt x="132129" y="180808"/>
                </a:lnTo>
                <a:lnTo>
                  <a:pt x="194716" y="180808"/>
                </a:lnTo>
                <a:cubicBezTo>
                  <a:pt x="210059" y="180808"/>
                  <a:pt x="222533" y="168334"/>
                  <a:pt x="222533" y="152991"/>
                </a:cubicBezTo>
                <a:lnTo>
                  <a:pt x="222533" y="41725"/>
                </a:lnTo>
                <a:cubicBezTo>
                  <a:pt x="222533" y="26382"/>
                  <a:pt x="210059" y="13908"/>
                  <a:pt x="194716" y="13908"/>
                </a:cubicBezTo>
                <a:lnTo>
                  <a:pt x="27817" y="13908"/>
                </a:lnTo>
                <a:close/>
                <a:moveTo>
                  <a:pt x="41725" y="41725"/>
                </a:moveTo>
                <a:lnTo>
                  <a:pt x="180808" y="41725"/>
                </a:lnTo>
                <a:cubicBezTo>
                  <a:pt x="188501" y="41725"/>
                  <a:pt x="194716" y="47940"/>
                  <a:pt x="194716" y="55633"/>
                </a:cubicBezTo>
                <a:lnTo>
                  <a:pt x="194716" y="125175"/>
                </a:lnTo>
                <a:cubicBezTo>
                  <a:pt x="194716" y="132868"/>
                  <a:pt x="188501" y="139083"/>
                  <a:pt x="180808" y="139083"/>
                </a:cubicBezTo>
                <a:lnTo>
                  <a:pt x="41725" y="139083"/>
                </a:lnTo>
                <a:cubicBezTo>
                  <a:pt x="34032" y="139083"/>
                  <a:pt x="27817" y="132868"/>
                  <a:pt x="27817" y="125175"/>
                </a:cubicBezTo>
                <a:lnTo>
                  <a:pt x="27817" y="55633"/>
                </a:lnTo>
                <a:cubicBezTo>
                  <a:pt x="27817" y="47940"/>
                  <a:pt x="34032" y="41725"/>
                  <a:pt x="41725" y="41725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5"/>
          <p:cNvSpPr/>
          <p:nvPr/>
        </p:nvSpPr>
        <p:spPr>
          <a:xfrm>
            <a:off x="3880411" y="3404747"/>
            <a:ext cx="1435335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85632" y="3805306"/>
            <a:ext cx="700977" cy="356052"/>
          </a:xfrm>
          <a:custGeom>
            <a:avLst/>
            <a:gdLst/>
            <a:ahLst/>
            <a:cxnLst/>
            <a:rect l="l" t="t" r="r" b="b"/>
            <a:pathLst>
              <a:path w="700977" h="356052">
                <a:moveTo>
                  <a:pt x="0" y="0"/>
                </a:moveTo>
                <a:lnTo>
                  <a:pt x="700977" y="0"/>
                </a:lnTo>
                <a:lnTo>
                  <a:pt x="700977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7"/>
          <p:cNvSpPr/>
          <p:nvPr/>
        </p:nvSpPr>
        <p:spPr>
          <a:xfrm>
            <a:off x="4885632" y="3805306"/>
            <a:ext cx="789990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98908" y="3805306"/>
            <a:ext cx="1101536" cy="356052"/>
          </a:xfrm>
          <a:custGeom>
            <a:avLst/>
            <a:gdLst/>
            <a:ahLst/>
            <a:cxnLst/>
            <a:rect l="l" t="t" r="r" b="b"/>
            <a:pathLst>
              <a:path w="1101536" h="356052">
                <a:moveTo>
                  <a:pt x="0" y="0"/>
                </a:moveTo>
                <a:lnTo>
                  <a:pt x="1101536" y="0"/>
                </a:lnTo>
                <a:lnTo>
                  <a:pt x="1101536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19"/>
          <p:cNvSpPr/>
          <p:nvPr/>
        </p:nvSpPr>
        <p:spPr>
          <a:xfrm>
            <a:off x="3698908" y="3805306"/>
            <a:ext cx="1190549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7598" y="4250371"/>
            <a:ext cx="5006982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واجهة مستخدم حديثة وتجربة مستخدم سلسة.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7318" y="4851209"/>
            <a:ext cx="5296274" cy="1490968"/>
          </a:xfrm>
          <a:custGeom>
            <a:avLst/>
            <a:gdLst/>
            <a:ahLst/>
            <a:cxnLst/>
            <a:rect l="l" t="t" r="r" b="b"/>
            <a:pathLst>
              <a:path w="5296274" h="1490968">
                <a:moveTo>
                  <a:pt x="0" y="0"/>
                </a:moveTo>
                <a:lnTo>
                  <a:pt x="5296274" y="0"/>
                </a:lnTo>
                <a:lnTo>
                  <a:pt x="5296274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2"/>
          <p:cNvSpPr/>
          <p:nvPr/>
        </p:nvSpPr>
        <p:spPr>
          <a:xfrm>
            <a:off x="467318" y="4851209"/>
            <a:ext cx="44507" cy="1490968"/>
          </a:xfrm>
          <a:custGeom>
            <a:avLst/>
            <a:gdLst/>
            <a:ahLst/>
            <a:cxnLst/>
            <a:rect l="l" t="t" r="r" b="b"/>
            <a:pathLst>
              <a:path w="44507" h="1490968">
                <a:moveTo>
                  <a:pt x="0" y="0"/>
                </a:moveTo>
                <a:lnTo>
                  <a:pt x="44507" y="0"/>
                </a:lnTo>
                <a:lnTo>
                  <a:pt x="44507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3"/>
          <p:cNvSpPr/>
          <p:nvPr/>
        </p:nvSpPr>
        <p:spPr>
          <a:xfrm>
            <a:off x="5333739" y="5073741"/>
            <a:ext cx="222533" cy="222533"/>
          </a:xfrm>
          <a:custGeom>
            <a:avLst/>
            <a:gdLst/>
            <a:ahLst/>
            <a:cxnLst/>
            <a:rect l="l" t="t" r="r" b="b"/>
            <a:pathLst>
              <a:path w="222533" h="222533">
                <a:moveTo>
                  <a:pt x="123436" y="-565"/>
                </a:moveTo>
                <a:cubicBezTo>
                  <a:pt x="115917" y="-4911"/>
                  <a:pt x="106616" y="-4911"/>
                  <a:pt x="99097" y="-565"/>
                </a:cubicBezTo>
                <a:lnTo>
                  <a:pt x="62500" y="20558"/>
                </a:lnTo>
                <a:cubicBezTo>
                  <a:pt x="54981" y="24905"/>
                  <a:pt x="50331" y="32945"/>
                  <a:pt x="50331" y="41638"/>
                </a:cubicBezTo>
                <a:lnTo>
                  <a:pt x="50331" y="85927"/>
                </a:lnTo>
                <a:lnTo>
                  <a:pt x="11952" y="108093"/>
                </a:lnTo>
                <a:cubicBezTo>
                  <a:pt x="4433" y="112440"/>
                  <a:pt x="-217" y="120480"/>
                  <a:pt x="-217" y="129173"/>
                </a:cubicBezTo>
                <a:lnTo>
                  <a:pt x="-217" y="171463"/>
                </a:lnTo>
                <a:cubicBezTo>
                  <a:pt x="-217" y="180156"/>
                  <a:pt x="4433" y="188196"/>
                  <a:pt x="11952" y="192543"/>
                </a:cubicBezTo>
                <a:lnTo>
                  <a:pt x="48592" y="213666"/>
                </a:lnTo>
                <a:cubicBezTo>
                  <a:pt x="56111" y="218012"/>
                  <a:pt x="65412" y="218012"/>
                  <a:pt x="72932" y="213666"/>
                </a:cubicBezTo>
                <a:lnTo>
                  <a:pt x="111310" y="191500"/>
                </a:lnTo>
                <a:lnTo>
                  <a:pt x="149688" y="213666"/>
                </a:lnTo>
                <a:cubicBezTo>
                  <a:pt x="157207" y="218012"/>
                  <a:pt x="166508" y="218012"/>
                  <a:pt x="174027" y="213666"/>
                </a:cubicBezTo>
                <a:lnTo>
                  <a:pt x="210580" y="192543"/>
                </a:lnTo>
                <a:cubicBezTo>
                  <a:pt x="218099" y="188196"/>
                  <a:pt x="222750" y="180156"/>
                  <a:pt x="222750" y="171463"/>
                </a:cubicBezTo>
                <a:lnTo>
                  <a:pt x="222750" y="129173"/>
                </a:lnTo>
                <a:cubicBezTo>
                  <a:pt x="222750" y="120480"/>
                  <a:pt x="218099" y="112440"/>
                  <a:pt x="210580" y="108093"/>
                </a:cubicBezTo>
                <a:lnTo>
                  <a:pt x="172202" y="85927"/>
                </a:lnTo>
                <a:lnTo>
                  <a:pt x="172202" y="41638"/>
                </a:lnTo>
                <a:cubicBezTo>
                  <a:pt x="172202" y="32945"/>
                  <a:pt x="167551" y="24905"/>
                  <a:pt x="160032" y="20558"/>
                </a:cubicBezTo>
                <a:lnTo>
                  <a:pt x="123436" y="-565"/>
                </a:lnTo>
                <a:close/>
                <a:moveTo>
                  <a:pt x="100835" y="127174"/>
                </a:moveTo>
                <a:lnTo>
                  <a:pt x="100835" y="173462"/>
                </a:lnTo>
                <a:lnTo>
                  <a:pt x="62457" y="195629"/>
                </a:lnTo>
                <a:cubicBezTo>
                  <a:pt x="61935" y="195933"/>
                  <a:pt x="61327" y="196107"/>
                  <a:pt x="60718" y="196107"/>
                </a:cubicBezTo>
                <a:lnTo>
                  <a:pt x="60718" y="150340"/>
                </a:lnTo>
                <a:lnTo>
                  <a:pt x="100835" y="127174"/>
                </a:lnTo>
                <a:close/>
                <a:moveTo>
                  <a:pt x="201409" y="127435"/>
                </a:moveTo>
                <a:cubicBezTo>
                  <a:pt x="201714" y="127956"/>
                  <a:pt x="201887" y="128565"/>
                  <a:pt x="201887" y="129173"/>
                </a:cubicBezTo>
                <a:lnTo>
                  <a:pt x="201887" y="171463"/>
                </a:lnTo>
                <a:cubicBezTo>
                  <a:pt x="201887" y="172723"/>
                  <a:pt x="201235" y="173854"/>
                  <a:pt x="200149" y="174462"/>
                </a:cubicBezTo>
                <a:lnTo>
                  <a:pt x="163509" y="195585"/>
                </a:lnTo>
                <a:cubicBezTo>
                  <a:pt x="162988" y="195889"/>
                  <a:pt x="162379" y="196063"/>
                  <a:pt x="161771" y="196063"/>
                </a:cubicBezTo>
                <a:lnTo>
                  <a:pt x="161771" y="150296"/>
                </a:lnTo>
                <a:lnTo>
                  <a:pt x="201409" y="127435"/>
                </a:lnTo>
                <a:close/>
                <a:moveTo>
                  <a:pt x="151383" y="41638"/>
                </a:moveTo>
                <a:lnTo>
                  <a:pt x="151383" y="85927"/>
                </a:lnTo>
                <a:lnTo>
                  <a:pt x="111266" y="109093"/>
                </a:lnTo>
                <a:lnTo>
                  <a:pt x="111266" y="62805"/>
                </a:lnTo>
                <a:lnTo>
                  <a:pt x="150905" y="39943"/>
                </a:lnTo>
                <a:cubicBezTo>
                  <a:pt x="151209" y="40464"/>
                  <a:pt x="151383" y="41073"/>
                  <a:pt x="151383" y="41681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4"/>
          <p:cNvSpPr/>
          <p:nvPr/>
        </p:nvSpPr>
        <p:spPr>
          <a:xfrm>
            <a:off x="3772448" y="5029235"/>
            <a:ext cx="1546601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Contracts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538359" y="5429793"/>
            <a:ext cx="1045903" cy="356052"/>
          </a:xfrm>
          <a:custGeom>
            <a:avLst/>
            <a:gdLst/>
            <a:ahLst/>
            <a:cxnLst/>
            <a:rect l="l" t="t" r="r" b="b"/>
            <a:pathLst>
              <a:path w="1045903" h="356052">
                <a:moveTo>
                  <a:pt x="0" y="0"/>
                </a:moveTo>
                <a:lnTo>
                  <a:pt x="1045903" y="0"/>
                </a:lnTo>
                <a:lnTo>
                  <a:pt x="1045903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6"/>
          <p:cNvSpPr/>
          <p:nvPr/>
        </p:nvSpPr>
        <p:spPr>
          <a:xfrm>
            <a:off x="4538359" y="5429793"/>
            <a:ext cx="1134916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ERC-3643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67598" y="5874858"/>
            <a:ext cx="5006982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عقود ذكية متوافقة تنظيميًا للاستخدام المؤسسي.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67318" y="6475696"/>
            <a:ext cx="5296274" cy="1045903"/>
          </a:xfrm>
          <a:custGeom>
            <a:avLst/>
            <a:gdLst/>
            <a:ahLst/>
            <a:cxnLst/>
            <a:rect l="l" t="t" r="r" b="b"/>
            <a:pathLst>
              <a:path w="5296274" h="1045903">
                <a:moveTo>
                  <a:pt x="0" y="0"/>
                </a:moveTo>
                <a:lnTo>
                  <a:pt x="5296274" y="0"/>
                </a:lnTo>
                <a:lnTo>
                  <a:pt x="5296274" y="1045903"/>
                </a:lnTo>
                <a:lnTo>
                  <a:pt x="0" y="1045903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Shape 29"/>
          <p:cNvSpPr/>
          <p:nvPr/>
        </p:nvSpPr>
        <p:spPr>
          <a:xfrm>
            <a:off x="467318" y="6475696"/>
            <a:ext cx="44507" cy="1045903"/>
          </a:xfrm>
          <a:custGeom>
            <a:avLst/>
            <a:gdLst/>
            <a:ahLst/>
            <a:cxnLst/>
            <a:rect l="l" t="t" r="r" b="b"/>
            <a:pathLst>
              <a:path w="44507" h="1045903">
                <a:moveTo>
                  <a:pt x="0" y="0"/>
                </a:moveTo>
                <a:lnTo>
                  <a:pt x="44507" y="0"/>
                </a:lnTo>
                <a:lnTo>
                  <a:pt x="44507" y="1045903"/>
                </a:lnTo>
                <a:lnTo>
                  <a:pt x="0" y="1045903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Shape 30"/>
          <p:cNvSpPr/>
          <p:nvPr/>
        </p:nvSpPr>
        <p:spPr>
          <a:xfrm>
            <a:off x="5333739" y="6698229"/>
            <a:ext cx="222533" cy="222533"/>
          </a:xfrm>
          <a:custGeom>
            <a:avLst/>
            <a:gdLst/>
            <a:ahLst/>
            <a:cxnLst/>
            <a:rect l="l" t="t" r="r" b="b"/>
            <a:pathLst>
              <a:path w="222533" h="222533">
                <a:moveTo>
                  <a:pt x="52156" y="24339"/>
                </a:moveTo>
                <a:cubicBezTo>
                  <a:pt x="52156" y="10909"/>
                  <a:pt x="63065" y="0"/>
                  <a:pt x="76496" y="0"/>
                </a:cubicBezTo>
                <a:lnTo>
                  <a:pt x="86927" y="0"/>
                </a:lnTo>
                <a:cubicBezTo>
                  <a:pt x="94620" y="0"/>
                  <a:pt x="100835" y="6215"/>
                  <a:pt x="100835" y="13908"/>
                </a:cubicBezTo>
                <a:lnTo>
                  <a:pt x="100835" y="208624"/>
                </a:lnTo>
                <a:cubicBezTo>
                  <a:pt x="100835" y="216317"/>
                  <a:pt x="94620" y="222533"/>
                  <a:pt x="86927" y="222533"/>
                </a:cubicBezTo>
                <a:lnTo>
                  <a:pt x="73018" y="222533"/>
                </a:lnTo>
                <a:cubicBezTo>
                  <a:pt x="60066" y="222533"/>
                  <a:pt x="49157" y="213666"/>
                  <a:pt x="46071" y="201670"/>
                </a:cubicBezTo>
                <a:cubicBezTo>
                  <a:pt x="45767" y="201670"/>
                  <a:pt x="45506" y="201670"/>
                  <a:pt x="45202" y="201670"/>
                </a:cubicBezTo>
                <a:cubicBezTo>
                  <a:pt x="25991" y="201670"/>
                  <a:pt x="10431" y="186110"/>
                  <a:pt x="10431" y="166899"/>
                </a:cubicBezTo>
                <a:cubicBezTo>
                  <a:pt x="10431" y="159076"/>
                  <a:pt x="13039" y="151861"/>
                  <a:pt x="17385" y="146037"/>
                </a:cubicBezTo>
                <a:cubicBezTo>
                  <a:pt x="8953" y="139691"/>
                  <a:pt x="3477" y="129608"/>
                  <a:pt x="3477" y="118220"/>
                </a:cubicBezTo>
                <a:cubicBezTo>
                  <a:pt x="3477" y="104790"/>
                  <a:pt x="11127" y="93099"/>
                  <a:pt x="22253" y="87318"/>
                </a:cubicBezTo>
                <a:cubicBezTo>
                  <a:pt x="19167" y="82102"/>
                  <a:pt x="17385" y="76017"/>
                  <a:pt x="17385" y="69541"/>
                </a:cubicBezTo>
                <a:cubicBezTo>
                  <a:pt x="17385" y="50331"/>
                  <a:pt x="32945" y="34771"/>
                  <a:pt x="52156" y="34771"/>
                </a:cubicBezTo>
                <a:lnTo>
                  <a:pt x="52156" y="24339"/>
                </a:lnTo>
                <a:close/>
                <a:moveTo>
                  <a:pt x="170376" y="24339"/>
                </a:moveTo>
                <a:lnTo>
                  <a:pt x="170376" y="34771"/>
                </a:lnTo>
                <a:cubicBezTo>
                  <a:pt x="189587" y="34771"/>
                  <a:pt x="205147" y="50331"/>
                  <a:pt x="205147" y="69541"/>
                </a:cubicBezTo>
                <a:cubicBezTo>
                  <a:pt x="205147" y="76061"/>
                  <a:pt x="203365" y="82146"/>
                  <a:pt x="200279" y="87318"/>
                </a:cubicBezTo>
                <a:cubicBezTo>
                  <a:pt x="211449" y="93099"/>
                  <a:pt x="219055" y="104747"/>
                  <a:pt x="219055" y="118220"/>
                </a:cubicBezTo>
                <a:cubicBezTo>
                  <a:pt x="219055" y="129608"/>
                  <a:pt x="213579" y="139691"/>
                  <a:pt x="205147" y="146037"/>
                </a:cubicBezTo>
                <a:cubicBezTo>
                  <a:pt x="209493" y="151861"/>
                  <a:pt x="212101" y="159076"/>
                  <a:pt x="212101" y="166899"/>
                </a:cubicBezTo>
                <a:cubicBezTo>
                  <a:pt x="212101" y="186110"/>
                  <a:pt x="196541" y="201670"/>
                  <a:pt x="177331" y="201670"/>
                </a:cubicBezTo>
                <a:cubicBezTo>
                  <a:pt x="177026" y="201670"/>
                  <a:pt x="176766" y="201670"/>
                  <a:pt x="176461" y="201670"/>
                </a:cubicBezTo>
                <a:cubicBezTo>
                  <a:pt x="173375" y="213666"/>
                  <a:pt x="162466" y="222533"/>
                  <a:pt x="149514" y="222533"/>
                </a:cubicBezTo>
                <a:lnTo>
                  <a:pt x="135606" y="222533"/>
                </a:lnTo>
                <a:cubicBezTo>
                  <a:pt x="127913" y="222533"/>
                  <a:pt x="121697" y="216317"/>
                  <a:pt x="121697" y="208624"/>
                </a:cubicBezTo>
                <a:lnTo>
                  <a:pt x="121697" y="13908"/>
                </a:lnTo>
                <a:cubicBezTo>
                  <a:pt x="121697" y="6215"/>
                  <a:pt x="127913" y="0"/>
                  <a:pt x="135606" y="0"/>
                </a:cubicBezTo>
                <a:lnTo>
                  <a:pt x="146037" y="0"/>
                </a:lnTo>
                <a:cubicBezTo>
                  <a:pt x="159467" y="0"/>
                  <a:pt x="170376" y="10909"/>
                  <a:pt x="170376" y="24339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Text 31"/>
          <p:cNvSpPr/>
          <p:nvPr/>
        </p:nvSpPr>
        <p:spPr>
          <a:xfrm>
            <a:off x="3900665" y="6653722"/>
            <a:ext cx="1413081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KAIA AI Engine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67598" y="7054281"/>
            <a:ext cx="5006982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محرك AI للفحص الأخلاقي الآلي.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67318" y="7655118"/>
            <a:ext cx="5296274" cy="1490968"/>
          </a:xfrm>
          <a:custGeom>
            <a:avLst/>
            <a:gdLst/>
            <a:ahLst/>
            <a:cxnLst/>
            <a:rect l="l" t="t" r="r" b="b"/>
            <a:pathLst>
              <a:path w="5296274" h="1490968">
                <a:moveTo>
                  <a:pt x="0" y="0"/>
                </a:moveTo>
                <a:lnTo>
                  <a:pt x="5296274" y="0"/>
                </a:lnTo>
                <a:lnTo>
                  <a:pt x="5296274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Shape 34"/>
          <p:cNvSpPr/>
          <p:nvPr/>
        </p:nvSpPr>
        <p:spPr>
          <a:xfrm>
            <a:off x="467318" y="7655118"/>
            <a:ext cx="44507" cy="1490968"/>
          </a:xfrm>
          <a:custGeom>
            <a:avLst/>
            <a:gdLst/>
            <a:ahLst/>
            <a:cxnLst/>
            <a:rect l="l" t="t" r="r" b="b"/>
            <a:pathLst>
              <a:path w="44507" h="1490968">
                <a:moveTo>
                  <a:pt x="0" y="0"/>
                </a:moveTo>
                <a:lnTo>
                  <a:pt x="44507" y="0"/>
                </a:lnTo>
                <a:lnTo>
                  <a:pt x="44507" y="1490968"/>
                </a:lnTo>
                <a:lnTo>
                  <a:pt x="0" y="1490968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Shape 35"/>
          <p:cNvSpPr/>
          <p:nvPr/>
        </p:nvSpPr>
        <p:spPr>
          <a:xfrm>
            <a:off x="5319831" y="7877651"/>
            <a:ext cx="250349" cy="222533"/>
          </a:xfrm>
          <a:custGeom>
            <a:avLst/>
            <a:gdLst/>
            <a:ahLst/>
            <a:cxnLst/>
            <a:rect l="l" t="t" r="r" b="b"/>
            <a:pathLst>
              <a:path w="250349" h="222533">
                <a:moveTo>
                  <a:pt x="0" y="146037"/>
                </a:moveTo>
                <a:cubicBezTo>
                  <a:pt x="0" y="180590"/>
                  <a:pt x="28034" y="208624"/>
                  <a:pt x="62587" y="208624"/>
                </a:cubicBezTo>
                <a:lnTo>
                  <a:pt x="194716" y="208624"/>
                </a:lnTo>
                <a:cubicBezTo>
                  <a:pt x="225445" y="208624"/>
                  <a:pt x="250349" y="183720"/>
                  <a:pt x="250349" y="152991"/>
                </a:cubicBezTo>
                <a:cubicBezTo>
                  <a:pt x="250349" y="130564"/>
                  <a:pt x="237093" y="111223"/>
                  <a:pt x="217969" y="102443"/>
                </a:cubicBezTo>
                <a:cubicBezTo>
                  <a:pt x="220881" y="96749"/>
                  <a:pt x="222533" y="90273"/>
                  <a:pt x="222533" y="83450"/>
                </a:cubicBezTo>
                <a:cubicBezTo>
                  <a:pt x="222533" y="60414"/>
                  <a:pt x="203843" y="41725"/>
                  <a:pt x="180808" y="41725"/>
                </a:cubicBezTo>
                <a:cubicBezTo>
                  <a:pt x="173115" y="41725"/>
                  <a:pt x="165943" y="43811"/>
                  <a:pt x="159771" y="47419"/>
                </a:cubicBezTo>
                <a:cubicBezTo>
                  <a:pt x="149297" y="27512"/>
                  <a:pt x="128391" y="13908"/>
                  <a:pt x="104312" y="13908"/>
                </a:cubicBezTo>
                <a:cubicBezTo>
                  <a:pt x="69759" y="13908"/>
                  <a:pt x="41725" y="41942"/>
                  <a:pt x="41725" y="76496"/>
                </a:cubicBezTo>
                <a:cubicBezTo>
                  <a:pt x="41725" y="79973"/>
                  <a:pt x="42029" y="83406"/>
                  <a:pt x="42551" y="86709"/>
                </a:cubicBezTo>
                <a:cubicBezTo>
                  <a:pt x="17820" y="95054"/>
                  <a:pt x="0" y="118481"/>
                  <a:pt x="0" y="146037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6"/>
          <p:cNvSpPr/>
          <p:nvPr/>
        </p:nvSpPr>
        <p:spPr>
          <a:xfrm>
            <a:off x="3201078" y="7833144"/>
            <a:ext cx="2114059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 &amp; Deployment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762804" y="8233703"/>
            <a:ext cx="823370" cy="356052"/>
          </a:xfrm>
          <a:custGeom>
            <a:avLst/>
            <a:gdLst/>
            <a:ahLst/>
            <a:cxnLst/>
            <a:rect l="l" t="t" r="r" b="b"/>
            <a:pathLst>
              <a:path w="823370" h="356052">
                <a:moveTo>
                  <a:pt x="0" y="0"/>
                </a:moveTo>
                <a:lnTo>
                  <a:pt x="823370" y="0"/>
                </a:lnTo>
                <a:lnTo>
                  <a:pt x="823370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1" name="Text 38"/>
          <p:cNvSpPr/>
          <p:nvPr/>
        </p:nvSpPr>
        <p:spPr>
          <a:xfrm>
            <a:off x="4762804" y="8233703"/>
            <a:ext cx="912383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928742" y="8233703"/>
            <a:ext cx="745484" cy="356052"/>
          </a:xfrm>
          <a:custGeom>
            <a:avLst/>
            <a:gdLst/>
            <a:ahLst/>
            <a:cxnLst/>
            <a:rect l="l" t="t" r="r" b="b"/>
            <a:pathLst>
              <a:path w="745484" h="356052">
                <a:moveTo>
                  <a:pt x="0" y="0"/>
                </a:moveTo>
                <a:lnTo>
                  <a:pt x="745484" y="0"/>
                </a:lnTo>
                <a:lnTo>
                  <a:pt x="745484" y="356052"/>
                </a:lnTo>
                <a:lnTo>
                  <a:pt x="0" y="356052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3" name="Text 40"/>
          <p:cNvSpPr/>
          <p:nvPr/>
        </p:nvSpPr>
        <p:spPr>
          <a:xfrm>
            <a:off x="3928742" y="8233703"/>
            <a:ext cx="834497" cy="356052"/>
          </a:xfrm>
          <a:prstGeom prst="rect">
            <a:avLst/>
          </a:prstGeom>
          <a:noFill/>
          <a:ln/>
        </p:spPr>
        <p:txBody>
          <a:bodyPr wrap="square" lIns="133520" tIns="44507" rIns="133520" bIns="44507" rtlCol="0" anchor="ctr"/>
          <a:lstStyle/>
          <a:p>
            <a:pPr>
              <a:lnSpc>
                <a:spcPct val="130000"/>
              </a:lnSpc>
            </a:pPr>
            <a:r>
              <a:rPr lang="en-US" sz="140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CI/CD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67598" y="8678768"/>
            <a:ext cx="5006982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جاهز للنشر الفوري مع بنية DevOps كاملة.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d39ece6f4f94a5e534f8a5d401889aa8678f551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059" b="505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1473200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14969331" y="3454400"/>
            <a:ext cx="77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63573" y="3327400"/>
            <a:ext cx="394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محرك KAIA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122400" y="4521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10963573" y="4876800"/>
            <a:ext cx="497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الذكاء الاصطناعي الأخلاقي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63573" y="5537200"/>
            <a:ext cx="494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KAIA: Ethical AI Engine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KAIA AI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KAIA: أول محرك أخلاقي بالذكاء الاصطناعي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6732290" y="1835150"/>
            <a:ext cx="9004300" cy="7200900"/>
          </a:xfrm>
          <a:custGeom>
            <a:avLst/>
            <a:gdLst/>
            <a:ahLst/>
            <a:cxnLst/>
            <a:rect l="l" t="t" r="r" b="b"/>
            <a:pathLst>
              <a:path w="9004300" h="7200900">
                <a:moveTo>
                  <a:pt x="0" y="0"/>
                </a:moveTo>
                <a:lnTo>
                  <a:pt x="9004300" y="0"/>
                </a:lnTo>
                <a:lnTo>
                  <a:pt x="90043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6" name="Image 0" descr="https://kimi-img.moonshot.cn/pub/slides/25-12-27-01:22:27-d57c8ku4bbjgu8kb90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6900" y="2044700"/>
            <a:ext cx="8585200" cy="67818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33400" y="18288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33400" y="18288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6"/>
          <p:cNvSpPr/>
          <p:nvPr/>
        </p:nvSpPr>
        <p:spPr>
          <a:xfrm>
            <a:off x="581154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Shape 7"/>
          <p:cNvSpPr/>
          <p:nvPr/>
        </p:nvSpPr>
        <p:spPr>
          <a:xfrm>
            <a:off x="5954415" y="217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2814241" y="2108200"/>
            <a:ext cx="297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فحص آلي للامتثال الأخلاقي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26416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يفحص كل معاملة تلقائيًا للتأكد من توافقها مع المعايير الأخلاقية.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" y="33274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533400" y="33274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811540" y="3530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5954415" y="367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3688457" y="3606800"/>
            <a:ext cx="209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دعم المعايير المتعددة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41402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يدعم معايير أخلاقية متعددة مثل الشريعة الإسلامية ومعايير الاستثمار المسؤول.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33400" y="48260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Shape 17"/>
          <p:cNvSpPr/>
          <p:nvPr/>
        </p:nvSpPr>
        <p:spPr>
          <a:xfrm>
            <a:off x="533400" y="48260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5811540" y="502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Shape 19"/>
          <p:cNvSpPr/>
          <p:nvPr/>
        </p:nvSpPr>
        <p:spPr>
          <a:xfrm>
            <a:off x="5954415" y="516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0"/>
          <p:cNvSpPr/>
          <p:nvPr/>
        </p:nvSpPr>
        <p:spPr>
          <a:xfrm>
            <a:off x="3589040" y="5105400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التحقق من الطمأنينة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2000" y="56388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يتحقق من مستوى الطمأنينة في المعاملات لضمان الشفافية.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33400" y="63246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3"/>
          <p:cNvSpPr/>
          <p:nvPr/>
        </p:nvSpPr>
        <p:spPr>
          <a:xfrm>
            <a:off x="533400" y="63246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Shape 24"/>
          <p:cNvSpPr/>
          <p:nvPr/>
        </p:nvSpPr>
        <p:spPr>
          <a:xfrm>
            <a:off x="5811540" y="652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Shape 25"/>
          <p:cNvSpPr/>
          <p:nvPr/>
        </p:nvSpPr>
        <p:spPr>
          <a:xfrm>
            <a:off x="5954415" y="6667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6"/>
          <p:cNvSpPr/>
          <p:nvPr/>
        </p:nvSpPr>
        <p:spPr>
          <a:xfrm>
            <a:off x="4234557" y="66040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مطابقة المبادئ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62000" y="71374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يطابق المعاملات مع المبادئ الأخلاقية للمؤسسة.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14350" y="7829550"/>
            <a:ext cx="6007100" cy="1206500"/>
          </a:xfrm>
          <a:custGeom>
            <a:avLst/>
            <a:gdLst/>
            <a:ahLst/>
            <a:cxnLst/>
            <a:rect l="l" t="t" r="r" b="b"/>
            <a:pathLst>
              <a:path w="6007100" h="1206500">
                <a:moveTo>
                  <a:pt x="0" y="0"/>
                </a:moveTo>
                <a:lnTo>
                  <a:pt x="6007100" y="0"/>
                </a:lnTo>
                <a:lnTo>
                  <a:pt x="60071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Shape 29"/>
          <p:cNvSpPr/>
          <p:nvPr/>
        </p:nvSpPr>
        <p:spPr>
          <a:xfrm>
            <a:off x="6024265" y="8102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30"/>
          <p:cNvSpPr/>
          <p:nvPr/>
        </p:nvSpPr>
        <p:spPr>
          <a:xfrm>
            <a:off x="1016000" y="8039100"/>
            <a:ext cx="541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أتمتة كاملة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3900" y="8496300"/>
            <a:ext cx="568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يضمن أن جميع المعاملات تتم وفقًا للأخلاقيات بدون تدخل بشري.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FIREWALL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الجدار الناري الأخلاقي لحماية المعاملات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7484070" y="1835150"/>
            <a:ext cx="8255000" cy="7200900"/>
          </a:xfrm>
          <a:custGeom>
            <a:avLst/>
            <a:gdLst/>
            <a:ahLst/>
            <a:cxnLst/>
            <a:rect l="l" t="t" r="r" b="b"/>
            <a:pathLst>
              <a:path w="8255000" h="7200900">
                <a:moveTo>
                  <a:pt x="0" y="0"/>
                </a:moveTo>
                <a:lnTo>
                  <a:pt x="8255000" y="0"/>
                </a:lnTo>
                <a:lnTo>
                  <a:pt x="82550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10679509" y="4292600"/>
            <a:ext cx="1866900" cy="2286000"/>
          </a:xfrm>
          <a:custGeom>
            <a:avLst/>
            <a:gdLst/>
            <a:ahLst/>
            <a:cxnLst/>
            <a:rect l="l" t="t" r="r" b="b"/>
            <a:pathLst>
              <a:path w="1866900" h="2286000">
                <a:moveTo>
                  <a:pt x="0" y="0"/>
                </a:moveTo>
                <a:lnTo>
                  <a:pt x="1866900" y="0"/>
                </a:lnTo>
                <a:lnTo>
                  <a:pt x="18669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508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11384260" y="46228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lnTo>
                  <a:pt x="152400" y="190500"/>
                </a:lnTo>
                <a:lnTo>
                  <a:pt x="304800" y="190500"/>
                </a:lnTo>
                <a:lnTo>
                  <a:pt x="304800" y="114300"/>
                </a:lnTo>
                <a:cubicBezTo>
                  <a:pt x="304800" y="72271"/>
                  <a:pt x="270629" y="38100"/>
                  <a:pt x="228600" y="38100"/>
                </a:cubicBezTo>
                <a:cubicBezTo>
                  <a:pt x="186571" y="38100"/>
                  <a:pt x="152400" y="72271"/>
                  <a:pt x="152400" y="114300"/>
                </a:cubicBezTo>
                <a:close/>
                <a:moveTo>
                  <a:pt x="76200" y="190500"/>
                </a:moveTo>
                <a:lnTo>
                  <a:pt x="76200" y="114300"/>
                </a:lnTo>
                <a:cubicBezTo>
                  <a:pt x="76200" y="30123"/>
                  <a:pt x="144423" y="-38100"/>
                  <a:pt x="228600" y="-38100"/>
                </a:cubicBezTo>
                <a:cubicBezTo>
                  <a:pt x="312777" y="-38100"/>
                  <a:pt x="381000" y="30123"/>
                  <a:pt x="381000" y="114300"/>
                </a:cubicBezTo>
                <a:lnTo>
                  <a:pt x="381000" y="190500"/>
                </a:lnTo>
                <a:cubicBezTo>
                  <a:pt x="423029" y="190500"/>
                  <a:pt x="457200" y="224671"/>
                  <a:pt x="457200" y="2667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34171" y="190500"/>
                  <a:pt x="76200" y="190500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10933509" y="5384800"/>
            <a:ext cx="1358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HaderOS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52559" y="5892800"/>
            <a:ext cx="13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50770" y="2101850"/>
            <a:ext cx="1841500" cy="977900"/>
          </a:xfrm>
          <a:custGeom>
            <a:avLst/>
            <a:gdLst/>
            <a:ahLst/>
            <a:cxnLst/>
            <a:rect l="l" t="t" r="r" b="b"/>
            <a:pathLst>
              <a:path w="1841500" h="977900">
                <a:moveTo>
                  <a:pt x="0" y="0"/>
                </a:moveTo>
                <a:lnTo>
                  <a:pt x="1841500" y="0"/>
                </a:lnTo>
                <a:lnTo>
                  <a:pt x="18415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8558411" y="2260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7858720" y="26162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Input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610431" y="2101850"/>
            <a:ext cx="1866900" cy="977900"/>
          </a:xfrm>
          <a:custGeom>
            <a:avLst/>
            <a:gdLst/>
            <a:ahLst/>
            <a:cxnLst/>
            <a:rect l="l" t="t" r="r" b="b"/>
            <a:pathLst>
              <a:path w="1866900" h="977900">
                <a:moveTo>
                  <a:pt x="0" y="0"/>
                </a:moveTo>
                <a:lnTo>
                  <a:pt x="1866900" y="0"/>
                </a:lnTo>
                <a:lnTo>
                  <a:pt x="1866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14428391" y="2260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27754" y="10358"/>
                </a:moveTo>
                <a:cubicBezTo>
                  <a:pt x="120313" y="2917"/>
                  <a:pt x="108228" y="2917"/>
                  <a:pt x="100786" y="10358"/>
                </a:cubicBezTo>
                <a:lnTo>
                  <a:pt x="5536" y="105608"/>
                </a:lnTo>
                <a:cubicBezTo>
                  <a:pt x="-1905" y="113050"/>
                  <a:pt x="-1905" y="125135"/>
                  <a:pt x="5536" y="132576"/>
                </a:cubicBezTo>
                <a:cubicBezTo>
                  <a:pt x="12978" y="140018"/>
                  <a:pt x="25063" y="140018"/>
                  <a:pt x="32504" y="132576"/>
                </a:cubicBezTo>
                <a:lnTo>
                  <a:pt x="95250" y="69830"/>
                </a:lnTo>
                <a:lnTo>
                  <a:pt x="95250" y="290513"/>
                </a:lnTo>
                <a:cubicBezTo>
                  <a:pt x="95250" y="301050"/>
                  <a:pt x="103763" y="309563"/>
                  <a:pt x="114300" y="309563"/>
                </a:cubicBezTo>
                <a:cubicBezTo>
                  <a:pt x="124837" y="309563"/>
                  <a:pt x="133350" y="301050"/>
                  <a:pt x="133350" y="290513"/>
                </a:cubicBezTo>
                <a:lnTo>
                  <a:pt x="133350" y="69830"/>
                </a:lnTo>
                <a:lnTo>
                  <a:pt x="196096" y="132576"/>
                </a:lnTo>
                <a:cubicBezTo>
                  <a:pt x="203537" y="140018"/>
                  <a:pt x="215622" y="140018"/>
                  <a:pt x="223064" y="132576"/>
                </a:cubicBezTo>
                <a:cubicBezTo>
                  <a:pt x="230505" y="125135"/>
                  <a:pt x="230505" y="113050"/>
                  <a:pt x="223064" y="105608"/>
                </a:cubicBezTo>
                <a:lnTo>
                  <a:pt x="127814" y="10358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13718381" y="26162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Output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24830" y="7791450"/>
            <a:ext cx="1752600" cy="977900"/>
          </a:xfrm>
          <a:custGeom>
            <a:avLst/>
            <a:gdLst/>
            <a:ahLst/>
            <a:cxnLst/>
            <a:rect l="l" t="t" r="r" b="b"/>
            <a:pathLst>
              <a:path w="1752600" h="977900">
                <a:moveTo>
                  <a:pt x="0" y="0"/>
                </a:moveTo>
                <a:lnTo>
                  <a:pt x="1752600" y="0"/>
                </a:lnTo>
                <a:lnTo>
                  <a:pt x="17526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14447441" y="795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8599" y="245566"/>
                </a:moveTo>
                <a:lnTo>
                  <a:pt x="59234" y="86201"/>
                </a:lnTo>
                <a:cubicBezTo>
                  <a:pt x="45899" y="104894"/>
                  <a:pt x="38100" y="127754"/>
                  <a:pt x="38100" y="152400"/>
                </a:cubicBezTo>
                <a:cubicBezTo>
                  <a:pt x="38100" y="215503"/>
                  <a:pt x="89297" y="266700"/>
                  <a:pt x="152400" y="266700"/>
                </a:cubicBezTo>
                <a:cubicBezTo>
                  <a:pt x="177105" y="266700"/>
                  <a:pt x="199965" y="258901"/>
                  <a:pt x="218599" y="245566"/>
                </a:cubicBezTo>
                <a:close/>
                <a:moveTo>
                  <a:pt x="245566" y="218599"/>
                </a:moveTo>
                <a:cubicBezTo>
                  <a:pt x="258901" y="199906"/>
                  <a:pt x="266700" y="177046"/>
                  <a:pt x="266700" y="152400"/>
                </a:cubicBezTo>
                <a:cubicBezTo>
                  <a:pt x="266700" y="89297"/>
                  <a:pt x="215503" y="38100"/>
                  <a:pt x="152400" y="38100"/>
                </a:cubicBezTo>
                <a:cubicBezTo>
                  <a:pt x="127695" y="38100"/>
                  <a:pt x="104835" y="45899"/>
                  <a:pt x="86201" y="59234"/>
                </a:cubicBezTo>
                <a:lnTo>
                  <a:pt x="245566" y="218599"/>
                </a:ln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13832780" y="8305800"/>
            <a:ext cx="153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Rejected Output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50770" y="7791450"/>
            <a:ext cx="1244600" cy="977900"/>
          </a:xfrm>
          <a:custGeom>
            <a:avLst/>
            <a:gdLst/>
            <a:ahLst/>
            <a:cxnLst/>
            <a:rect l="l" t="t" r="r" b="b"/>
            <a:pathLst>
              <a:path w="1244600" h="977900">
                <a:moveTo>
                  <a:pt x="0" y="0"/>
                </a:moveTo>
                <a:lnTo>
                  <a:pt x="1244600" y="0"/>
                </a:lnTo>
                <a:lnTo>
                  <a:pt x="12446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8217495" y="795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7858720" y="83058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KAIA Filter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-2700000">
            <a:off x="11047771" y="4870512"/>
            <a:ext cx="812800" cy="774700"/>
          </a:xfrm>
          <a:custGeom>
            <a:avLst/>
            <a:gdLst/>
            <a:ahLst/>
            <a:cxnLst/>
            <a:rect l="l" t="t" r="r" b="b"/>
            <a:pathLst>
              <a:path w="812800" h="774700">
                <a:moveTo>
                  <a:pt x="0" y="0"/>
                </a:moveTo>
                <a:lnTo>
                  <a:pt x="812800" y="0"/>
                </a:lnTo>
                <a:lnTo>
                  <a:pt x="812800" y="774700"/>
                </a:lnTo>
                <a:lnTo>
                  <a:pt x="0" y="7747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 rot="-2700000">
            <a:off x="11363978" y="51549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 rot="-2700000">
            <a:off x="11374141" y="524133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rot="2700000">
            <a:off x="11045877" y="4868614"/>
            <a:ext cx="825500" cy="774700"/>
          </a:xfrm>
          <a:custGeom>
            <a:avLst/>
            <a:gdLst/>
            <a:ahLst/>
            <a:cxnLst/>
            <a:rect l="l" t="t" r="r" b="b"/>
            <a:pathLst>
              <a:path w="825500" h="774700">
                <a:moveTo>
                  <a:pt x="0" y="0"/>
                </a:moveTo>
                <a:lnTo>
                  <a:pt x="825500" y="0"/>
                </a:lnTo>
                <a:lnTo>
                  <a:pt x="825500" y="774700"/>
                </a:lnTo>
                <a:lnTo>
                  <a:pt x="0" y="7747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 rot="2700000">
            <a:off x="11547255" y="515497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 rot="2700000">
            <a:off x="11156722" y="5239432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1828800"/>
            <a:ext cx="6743700" cy="1346200"/>
          </a:xfrm>
          <a:custGeom>
            <a:avLst/>
            <a:gdLst/>
            <a:ahLst/>
            <a:cxnLst/>
            <a:rect l="l" t="t" r="r" b="b"/>
            <a:pathLst>
              <a:path w="6743700" h="1346200">
                <a:moveTo>
                  <a:pt x="0" y="0"/>
                </a:moveTo>
                <a:lnTo>
                  <a:pt x="6743700" y="0"/>
                </a:lnTo>
                <a:lnTo>
                  <a:pt x="67437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533400" y="18288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656332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6690320" y="2159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3392289" y="2108200"/>
            <a:ext cx="314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هندسة الجدار الناري الأخلاقي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2641600"/>
            <a:ext cx="641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تستخدم KAIA هندسة الجدار الناري الأخلاقي لمراقبة وفلترة جميع المعاملات.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" y="3327400"/>
            <a:ext cx="6743700" cy="1346200"/>
          </a:xfrm>
          <a:custGeom>
            <a:avLst/>
            <a:gdLst/>
            <a:ahLst/>
            <a:cxnLst/>
            <a:rect l="l" t="t" r="r" b="b"/>
            <a:pathLst>
              <a:path w="6743700" h="1346200">
                <a:moveTo>
                  <a:pt x="0" y="0"/>
                </a:moveTo>
                <a:lnTo>
                  <a:pt x="6743700" y="0"/>
                </a:lnTo>
                <a:lnTo>
                  <a:pt x="67437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533400" y="33274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6563320" y="3530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6674445" y="3657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15875"/>
                </a:moveTo>
                <a:cubicBezTo>
                  <a:pt x="102791" y="15875"/>
                  <a:pt x="70693" y="34131"/>
                  <a:pt x="47327" y="55860"/>
                </a:cubicBezTo>
                <a:cubicBezTo>
                  <a:pt x="24110" y="77440"/>
                  <a:pt x="8582" y="103188"/>
                  <a:pt x="1191" y="120898"/>
                </a:cubicBezTo>
                <a:cubicBezTo>
                  <a:pt x="-446" y="124817"/>
                  <a:pt x="-446" y="129183"/>
                  <a:pt x="1191" y="133102"/>
                </a:cubicBezTo>
                <a:cubicBezTo>
                  <a:pt x="8582" y="150813"/>
                  <a:pt x="24110" y="176609"/>
                  <a:pt x="47327" y="198140"/>
                </a:cubicBezTo>
                <a:cubicBezTo>
                  <a:pt x="70693" y="219819"/>
                  <a:pt x="102791" y="238125"/>
                  <a:pt x="142875" y="238125"/>
                </a:cubicBezTo>
                <a:cubicBezTo>
                  <a:pt x="182959" y="238125"/>
                  <a:pt x="215057" y="219869"/>
                  <a:pt x="238423" y="198140"/>
                </a:cubicBezTo>
                <a:cubicBezTo>
                  <a:pt x="261640" y="176560"/>
                  <a:pt x="277168" y="150813"/>
                  <a:pt x="284559" y="133102"/>
                </a:cubicBezTo>
                <a:cubicBezTo>
                  <a:pt x="286196" y="129183"/>
                  <a:pt x="286196" y="124817"/>
                  <a:pt x="284559" y="120898"/>
                </a:cubicBezTo>
                <a:cubicBezTo>
                  <a:pt x="277168" y="103187"/>
                  <a:pt x="261640" y="77391"/>
                  <a:pt x="238423" y="55860"/>
                </a:cubicBezTo>
                <a:cubicBezTo>
                  <a:pt x="215057" y="34181"/>
                  <a:pt x="182959" y="15875"/>
                  <a:pt x="142875" y="15875"/>
                </a:cubicBezTo>
                <a:close/>
                <a:moveTo>
                  <a:pt x="71438" y="127000"/>
                </a:moveTo>
                <a:cubicBezTo>
                  <a:pt x="71438" y="87573"/>
                  <a:pt x="103448" y="55563"/>
                  <a:pt x="142875" y="55563"/>
                </a:cubicBezTo>
                <a:cubicBezTo>
                  <a:pt x="182302" y="55563"/>
                  <a:pt x="214313" y="87573"/>
                  <a:pt x="214313" y="127000"/>
                </a:cubicBezTo>
                <a:cubicBezTo>
                  <a:pt x="214313" y="166427"/>
                  <a:pt x="182302" y="198438"/>
                  <a:pt x="142875" y="198438"/>
                </a:cubicBezTo>
                <a:cubicBezTo>
                  <a:pt x="103448" y="198438"/>
                  <a:pt x="71438" y="166427"/>
                  <a:pt x="71438" y="127000"/>
                </a:cubicBezTo>
                <a:close/>
                <a:moveTo>
                  <a:pt x="142875" y="95250"/>
                </a:moveTo>
                <a:cubicBezTo>
                  <a:pt x="142875" y="112762"/>
                  <a:pt x="128637" y="127000"/>
                  <a:pt x="111125" y="127000"/>
                </a:cubicBezTo>
                <a:cubicBezTo>
                  <a:pt x="105420" y="127000"/>
                  <a:pt x="100062" y="125512"/>
                  <a:pt x="95399" y="122833"/>
                </a:cubicBezTo>
                <a:cubicBezTo>
                  <a:pt x="94903" y="128240"/>
                  <a:pt x="95349" y="133796"/>
                  <a:pt x="96838" y="139303"/>
                </a:cubicBezTo>
                <a:cubicBezTo>
                  <a:pt x="103634" y="164703"/>
                  <a:pt x="129778" y="179784"/>
                  <a:pt x="155178" y="172988"/>
                </a:cubicBezTo>
                <a:cubicBezTo>
                  <a:pt x="180578" y="166191"/>
                  <a:pt x="195659" y="140047"/>
                  <a:pt x="188863" y="114647"/>
                </a:cubicBezTo>
                <a:cubicBezTo>
                  <a:pt x="182811" y="91976"/>
                  <a:pt x="161330" y="77539"/>
                  <a:pt x="138708" y="79524"/>
                </a:cubicBezTo>
                <a:cubicBezTo>
                  <a:pt x="141337" y="84138"/>
                  <a:pt x="142875" y="89495"/>
                  <a:pt x="142875" y="9525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5119191" y="36068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مراقبة شاملة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4140200"/>
            <a:ext cx="641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تراقب جميع المعاملات قبل وأثناء وبعد التنفيذ.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3400" y="4826000"/>
            <a:ext cx="6743700" cy="1346200"/>
          </a:xfrm>
          <a:custGeom>
            <a:avLst/>
            <a:gdLst/>
            <a:ahLst/>
            <a:cxnLst/>
            <a:rect l="l" t="t" r="r" b="b"/>
            <a:pathLst>
              <a:path w="6743700" h="1346200">
                <a:moveTo>
                  <a:pt x="0" y="0"/>
                </a:moveTo>
                <a:lnTo>
                  <a:pt x="6743700" y="0"/>
                </a:lnTo>
                <a:lnTo>
                  <a:pt x="67437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533400" y="48260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6563320" y="502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3" name="Shape 41"/>
          <p:cNvSpPr/>
          <p:nvPr/>
        </p:nvSpPr>
        <p:spPr>
          <a:xfrm>
            <a:off x="6690320" y="5156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9475" y="31750"/>
                  <a:pt x="3671" y="35620"/>
                  <a:pt x="1191" y="41573"/>
                </a:cubicBezTo>
                <a:cubicBezTo>
                  <a:pt x="-1290" y="47526"/>
                  <a:pt x="99" y="54322"/>
                  <a:pt x="4663" y="58837"/>
                </a:cubicBezTo>
                <a:lnTo>
                  <a:pt x="95250" y="149473"/>
                </a:lnTo>
                <a:lnTo>
                  <a:pt x="95250" y="206375"/>
                </a:lnTo>
                <a:cubicBezTo>
                  <a:pt x="95250" y="210592"/>
                  <a:pt x="96937" y="214610"/>
                  <a:pt x="99913" y="217587"/>
                </a:cubicBezTo>
                <a:lnTo>
                  <a:pt x="131663" y="249337"/>
                </a:lnTo>
                <a:cubicBezTo>
                  <a:pt x="136227" y="253901"/>
                  <a:pt x="143024" y="255240"/>
                  <a:pt x="148977" y="252760"/>
                </a:cubicBezTo>
                <a:cubicBezTo>
                  <a:pt x="154930" y="250279"/>
                  <a:pt x="158750" y="244525"/>
                  <a:pt x="158750" y="238125"/>
                </a:cubicBezTo>
                <a:lnTo>
                  <a:pt x="158750" y="149473"/>
                </a:lnTo>
                <a:lnTo>
                  <a:pt x="249337" y="58886"/>
                </a:lnTo>
                <a:cubicBezTo>
                  <a:pt x="253901" y="54322"/>
                  <a:pt x="255240" y="47526"/>
                  <a:pt x="252760" y="41573"/>
                </a:cubicBezTo>
                <a:cubicBezTo>
                  <a:pt x="250279" y="35620"/>
                  <a:pt x="244525" y="31750"/>
                  <a:pt x="238125" y="31750"/>
                </a:cubicBezTo>
                <a:lnTo>
                  <a:pt x="15875" y="3175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4" name="Text 42"/>
          <p:cNvSpPr/>
          <p:nvPr/>
        </p:nvSpPr>
        <p:spPr>
          <a:xfrm>
            <a:off x="5401469" y="51054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فلترة ذكية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2000" y="5638800"/>
            <a:ext cx="641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تفلتر المعاملات غير المتوافقة وتمنعها تلقائيًا.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3400" y="6324600"/>
            <a:ext cx="6743700" cy="1346200"/>
          </a:xfrm>
          <a:custGeom>
            <a:avLst/>
            <a:gdLst/>
            <a:ahLst/>
            <a:cxnLst/>
            <a:rect l="l" t="t" r="r" b="b"/>
            <a:pathLst>
              <a:path w="6743700" h="1346200">
                <a:moveTo>
                  <a:pt x="0" y="0"/>
                </a:moveTo>
                <a:lnTo>
                  <a:pt x="6743700" y="0"/>
                </a:lnTo>
                <a:lnTo>
                  <a:pt x="67437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Shape 45"/>
          <p:cNvSpPr/>
          <p:nvPr/>
        </p:nvSpPr>
        <p:spPr>
          <a:xfrm>
            <a:off x="533400" y="63246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8" name="Shape 46"/>
          <p:cNvSpPr/>
          <p:nvPr/>
        </p:nvSpPr>
        <p:spPr>
          <a:xfrm>
            <a:off x="6563320" y="652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9" name="Shape 47"/>
          <p:cNvSpPr/>
          <p:nvPr/>
        </p:nvSpPr>
        <p:spPr>
          <a:xfrm>
            <a:off x="6690320" y="665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2166" y="204639"/>
                </a:moveTo>
                <a:lnTo>
                  <a:pt x="49361" y="71834"/>
                </a:lnTo>
                <a:cubicBezTo>
                  <a:pt x="38249" y="87412"/>
                  <a:pt x="31750" y="106462"/>
                  <a:pt x="31750" y="127000"/>
                </a:cubicBezTo>
                <a:cubicBezTo>
                  <a:pt x="31750" y="179586"/>
                  <a:pt x="74414" y="222250"/>
                  <a:pt x="127000" y="222250"/>
                </a:cubicBezTo>
                <a:cubicBezTo>
                  <a:pt x="147588" y="222250"/>
                  <a:pt x="166638" y="215751"/>
                  <a:pt x="182166" y="204639"/>
                </a:cubicBezTo>
                <a:close/>
                <a:moveTo>
                  <a:pt x="204639" y="182166"/>
                </a:moveTo>
                <a:cubicBezTo>
                  <a:pt x="215751" y="166588"/>
                  <a:pt x="222250" y="147538"/>
                  <a:pt x="222250" y="127000"/>
                </a:cubicBezTo>
                <a:cubicBezTo>
                  <a:pt x="222250" y="74414"/>
                  <a:pt x="179586" y="31750"/>
                  <a:pt x="127000" y="31750"/>
                </a:cubicBezTo>
                <a:cubicBezTo>
                  <a:pt x="106412" y="31750"/>
                  <a:pt x="87362" y="38249"/>
                  <a:pt x="71834" y="49361"/>
                </a:cubicBezTo>
                <a:lnTo>
                  <a:pt x="204639" y="182166"/>
                </a:ln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Text 48"/>
          <p:cNvSpPr/>
          <p:nvPr/>
        </p:nvSpPr>
        <p:spPr>
          <a:xfrm>
            <a:off x="5148759" y="6604000"/>
            <a:ext cx="13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حماية مطلقة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2000" y="7137400"/>
            <a:ext cx="641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لا يمكن لأي نشاط مالي غير أخلاقي تجاوز النظام.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4350" y="7829550"/>
            <a:ext cx="6756400" cy="1206500"/>
          </a:xfrm>
          <a:custGeom>
            <a:avLst/>
            <a:gdLst/>
            <a:ahLst/>
            <a:cxnLst/>
            <a:rect l="l" t="t" r="r" b="b"/>
            <a:pathLst>
              <a:path w="6756400" h="1206500">
                <a:moveTo>
                  <a:pt x="0" y="0"/>
                </a:moveTo>
                <a:lnTo>
                  <a:pt x="6756400" y="0"/>
                </a:lnTo>
                <a:lnTo>
                  <a:pt x="67564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3" name="Shape 51"/>
          <p:cNvSpPr/>
          <p:nvPr/>
        </p:nvSpPr>
        <p:spPr>
          <a:xfrm>
            <a:off x="6790333" y="8102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6799" y="-3572"/>
                </a:moveTo>
                <a:cubicBezTo>
                  <a:pt x="104076" y="-6340"/>
                  <a:pt x="100102" y="-7456"/>
                  <a:pt x="96351" y="-6429"/>
                </a:cubicBezTo>
                <a:cubicBezTo>
                  <a:pt x="92601" y="-5402"/>
                  <a:pt x="89699" y="-2500"/>
                  <a:pt x="88761" y="1250"/>
                </a:cubicBezTo>
                <a:lnTo>
                  <a:pt x="81930" y="28129"/>
                </a:lnTo>
                <a:cubicBezTo>
                  <a:pt x="81439" y="30093"/>
                  <a:pt x="79430" y="31254"/>
                  <a:pt x="77510" y="30673"/>
                </a:cubicBezTo>
                <a:lnTo>
                  <a:pt x="50810" y="23173"/>
                </a:lnTo>
                <a:cubicBezTo>
                  <a:pt x="47059" y="22101"/>
                  <a:pt x="43041" y="23173"/>
                  <a:pt x="40318" y="25896"/>
                </a:cubicBezTo>
                <a:cubicBezTo>
                  <a:pt x="37594" y="28620"/>
                  <a:pt x="36522" y="32638"/>
                  <a:pt x="37594" y="36388"/>
                </a:cubicBezTo>
                <a:lnTo>
                  <a:pt x="45140" y="63088"/>
                </a:lnTo>
                <a:cubicBezTo>
                  <a:pt x="45675" y="65008"/>
                  <a:pt x="44514" y="67017"/>
                  <a:pt x="42595" y="67508"/>
                </a:cubicBezTo>
                <a:lnTo>
                  <a:pt x="15672" y="74340"/>
                </a:lnTo>
                <a:cubicBezTo>
                  <a:pt x="11921" y="75277"/>
                  <a:pt x="8974" y="78224"/>
                  <a:pt x="7947" y="81975"/>
                </a:cubicBezTo>
                <a:cubicBezTo>
                  <a:pt x="6921" y="85725"/>
                  <a:pt x="8037" y="89699"/>
                  <a:pt x="10805" y="92422"/>
                </a:cubicBezTo>
                <a:lnTo>
                  <a:pt x="30673" y="111755"/>
                </a:lnTo>
                <a:cubicBezTo>
                  <a:pt x="32102" y="113139"/>
                  <a:pt x="32102" y="115461"/>
                  <a:pt x="30673" y="116890"/>
                </a:cubicBezTo>
                <a:lnTo>
                  <a:pt x="10850" y="136222"/>
                </a:lnTo>
                <a:cubicBezTo>
                  <a:pt x="8081" y="138946"/>
                  <a:pt x="6965" y="142920"/>
                  <a:pt x="7992" y="146670"/>
                </a:cubicBezTo>
                <a:cubicBezTo>
                  <a:pt x="9019" y="150421"/>
                  <a:pt x="11966" y="153323"/>
                  <a:pt x="15716" y="154305"/>
                </a:cubicBezTo>
                <a:lnTo>
                  <a:pt x="42595" y="161136"/>
                </a:lnTo>
                <a:cubicBezTo>
                  <a:pt x="44559" y="161627"/>
                  <a:pt x="45720" y="163637"/>
                  <a:pt x="45140" y="165556"/>
                </a:cubicBezTo>
                <a:lnTo>
                  <a:pt x="37594" y="192212"/>
                </a:lnTo>
                <a:cubicBezTo>
                  <a:pt x="36522" y="195962"/>
                  <a:pt x="37594" y="199980"/>
                  <a:pt x="40318" y="202704"/>
                </a:cubicBezTo>
                <a:cubicBezTo>
                  <a:pt x="43041" y="205427"/>
                  <a:pt x="47059" y="206499"/>
                  <a:pt x="50810" y="205427"/>
                </a:cubicBezTo>
                <a:lnTo>
                  <a:pt x="77510" y="197882"/>
                </a:lnTo>
                <a:cubicBezTo>
                  <a:pt x="79430" y="197346"/>
                  <a:pt x="81439" y="198507"/>
                  <a:pt x="81930" y="200427"/>
                </a:cubicBezTo>
                <a:lnTo>
                  <a:pt x="88761" y="227305"/>
                </a:lnTo>
                <a:cubicBezTo>
                  <a:pt x="89699" y="231056"/>
                  <a:pt x="92646" y="234002"/>
                  <a:pt x="96396" y="235029"/>
                </a:cubicBezTo>
                <a:cubicBezTo>
                  <a:pt x="100146" y="236056"/>
                  <a:pt x="104120" y="234940"/>
                  <a:pt x="106844" y="232172"/>
                </a:cubicBezTo>
                <a:lnTo>
                  <a:pt x="126176" y="212303"/>
                </a:lnTo>
                <a:cubicBezTo>
                  <a:pt x="127561" y="210875"/>
                  <a:pt x="129882" y="210875"/>
                  <a:pt x="131311" y="212303"/>
                </a:cubicBezTo>
                <a:lnTo>
                  <a:pt x="150599" y="232172"/>
                </a:lnTo>
                <a:cubicBezTo>
                  <a:pt x="153323" y="234940"/>
                  <a:pt x="157296" y="236056"/>
                  <a:pt x="161047" y="235029"/>
                </a:cubicBezTo>
                <a:cubicBezTo>
                  <a:pt x="164797" y="234002"/>
                  <a:pt x="167700" y="231056"/>
                  <a:pt x="168682" y="227305"/>
                </a:cubicBezTo>
                <a:lnTo>
                  <a:pt x="175513" y="200471"/>
                </a:lnTo>
                <a:cubicBezTo>
                  <a:pt x="176004" y="198507"/>
                  <a:pt x="178013" y="197346"/>
                  <a:pt x="179933" y="197927"/>
                </a:cubicBezTo>
                <a:lnTo>
                  <a:pt x="206633" y="205472"/>
                </a:lnTo>
                <a:cubicBezTo>
                  <a:pt x="210383" y="206544"/>
                  <a:pt x="214402" y="205472"/>
                  <a:pt x="217125" y="202749"/>
                </a:cubicBezTo>
                <a:cubicBezTo>
                  <a:pt x="219849" y="200025"/>
                  <a:pt x="220920" y="196007"/>
                  <a:pt x="219849" y="192256"/>
                </a:cubicBezTo>
                <a:lnTo>
                  <a:pt x="212303" y="165556"/>
                </a:lnTo>
                <a:cubicBezTo>
                  <a:pt x="211768" y="163637"/>
                  <a:pt x="212928" y="161627"/>
                  <a:pt x="214848" y="161136"/>
                </a:cubicBezTo>
                <a:lnTo>
                  <a:pt x="241727" y="154305"/>
                </a:lnTo>
                <a:cubicBezTo>
                  <a:pt x="245477" y="153367"/>
                  <a:pt x="248424" y="150421"/>
                  <a:pt x="249451" y="146670"/>
                </a:cubicBezTo>
                <a:cubicBezTo>
                  <a:pt x="250478" y="142920"/>
                  <a:pt x="249362" y="138901"/>
                  <a:pt x="246593" y="136222"/>
                </a:cubicBezTo>
                <a:lnTo>
                  <a:pt x="226725" y="116890"/>
                </a:lnTo>
                <a:cubicBezTo>
                  <a:pt x="225296" y="115506"/>
                  <a:pt x="225296" y="113184"/>
                  <a:pt x="226725" y="111755"/>
                </a:cubicBezTo>
                <a:lnTo>
                  <a:pt x="246593" y="92422"/>
                </a:lnTo>
                <a:cubicBezTo>
                  <a:pt x="249362" y="89699"/>
                  <a:pt x="250478" y="85725"/>
                  <a:pt x="249451" y="81975"/>
                </a:cubicBezTo>
                <a:cubicBezTo>
                  <a:pt x="248424" y="78224"/>
                  <a:pt x="245477" y="75322"/>
                  <a:pt x="241727" y="74340"/>
                </a:cubicBezTo>
                <a:lnTo>
                  <a:pt x="214848" y="67508"/>
                </a:lnTo>
                <a:cubicBezTo>
                  <a:pt x="212884" y="67017"/>
                  <a:pt x="211723" y="65008"/>
                  <a:pt x="212303" y="63088"/>
                </a:cubicBezTo>
                <a:lnTo>
                  <a:pt x="219849" y="36388"/>
                </a:lnTo>
                <a:cubicBezTo>
                  <a:pt x="220920" y="32638"/>
                  <a:pt x="219849" y="28620"/>
                  <a:pt x="217125" y="25896"/>
                </a:cubicBezTo>
                <a:cubicBezTo>
                  <a:pt x="214402" y="23173"/>
                  <a:pt x="210383" y="22101"/>
                  <a:pt x="206633" y="23173"/>
                </a:cubicBezTo>
                <a:lnTo>
                  <a:pt x="179933" y="30718"/>
                </a:lnTo>
                <a:cubicBezTo>
                  <a:pt x="178013" y="31254"/>
                  <a:pt x="176004" y="30093"/>
                  <a:pt x="175513" y="28173"/>
                </a:cubicBezTo>
                <a:lnTo>
                  <a:pt x="168682" y="1250"/>
                </a:lnTo>
                <a:cubicBezTo>
                  <a:pt x="167744" y="-2500"/>
                  <a:pt x="164797" y="-5447"/>
                  <a:pt x="161047" y="-6474"/>
                </a:cubicBezTo>
                <a:cubicBezTo>
                  <a:pt x="157296" y="-7501"/>
                  <a:pt x="153323" y="-6385"/>
                  <a:pt x="150599" y="-3617"/>
                </a:cubicBezTo>
                <a:lnTo>
                  <a:pt x="131266" y="16297"/>
                </a:lnTo>
                <a:cubicBezTo>
                  <a:pt x="129882" y="17725"/>
                  <a:pt x="127561" y="17725"/>
                  <a:pt x="126132" y="16297"/>
                </a:cubicBezTo>
                <a:lnTo>
                  <a:pt x="106799" y="-3572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4" name="Text 52"/>
          <p:cNvSpPr/>
          <p:nvPr/>
        </p:nvSpPr>
        <p:spPr>
          <a:xfrm>
            <a:off x="1016000" y="8039100"/>
            <a:ext cx="615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ضمان الأخلاقيات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3900" y="8496300"/>
            <a:ext cx="6438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يضمن أن جميع المعاملات المالية تتم وفقًا للأخلاقيات.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CONTRACTS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عقود ذكية متوافقة مع ERC-3643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255000" y="1828800"/>
            <a:ext cx="7493000" cy="3276600"/>
          </a:xfrm>
          <a:custGeom>
            <a:avLst/>
            <a:gdLst/>
            <a:ahLst/>
            <a:cxnLst/>
            <a:rect l="l" t="t" r="r" b="b"/>
            <a:pathLst>
              <a:path w="7493000" h="3276600">
                <a:moveTo>
                  <a:pt x="0" y="0"/>
                </a:moveTo>
                <a:lnTo>
                  <a:pt x="7493000" y="0"/>
                </a:lnTo>
                <a:lnTo>
                  <a:pt x="749300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255000" y="18288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150368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15020330" y="2108200"/>
            <a:ext cx="67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3643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89073" y="208280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HaderosSecurityToken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83600" y="2692400"/>
            <a:ext cx="7175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العقد الذكي الرئيسي متوافق مع معيار ERC-3643، مخصص للأوراق المالية الرقمية المتوافقة تنظيميًا.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89950" y="3594100"/>
            <a:ext cx="7048500" cy="1028700"/>
          </a:xfrm>
          <a:custGeom>
            <a:avLst/>
            <a:gdLst/>
            <a:ahLst/>
            <a:cxnLst/>
            <a:rect l="l" t="t" r="r" b="b"/>
            <a:pathLst>
              <a:path w="7048500" h="1028700">
                <a:moveTo>
                  <a:pt x="0" y="0"/>
                </a:moveTo>
                <a:lnTo>
                  <a:pt x="7048500" y="0"/>
                </a:lnTo>
                <a:lnTo>
                  <a:pt x="70485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8648700" y="375285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التوافق: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8700" y="4108450"/>
            <a:ext cx="684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ERC-3643 + KYC/AML + Sanctions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5257800"/>
            <a:ext cx="7493000" cy="3860800"/>
          </a:xfrm>
          <a:custGeom>
            <a:avLst/>
            <a:gdLst/>
            <a:ahLst/>
            <a:cxnLst/>
            <a:rect l="l" t="t" r="r" b="b"/>
            <a:pathLst>
              <a:path w="7493000" h="3860800">
                <a:moveTo>
                  <a:pt x="0" y="0"/>
                </a:moveTo>
                <a:lnTo>
                  <a:pt x="7493000" y="0"/>
                </a:lnTo>
                <a:lnTo>
                  <a:pt x="7493000" y="3860800"/>
                </a:lnTo>
                <a:lnTo>
                  <a:pt x="0" y="38608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8255000" y="5257800"/>
            <a:ext cx="50800" cy="3860800"/>
          </a:xfrm>
          <a:custGeom>
            <a:avLst/>
            <a:gdLst/>
            <a:ahLst/>
            <a:cxnLst/>
            <a:rect l="l" t="t" r="r" b="b"/>
            <a:pathLst>
              <a:path w="50800" h="3860800">
                <a:moveTo>
                  <a:pt x="0" y="0"/>
                </a:moveTo>
                <a:lnTo>
                  <a:pt x="50800" y="0"/>
                </a:lnTo>
                <a:lnTo>
                  <a:pt x="50800" y="3860800"/>
                </a:lnTo>
                <a:lnTo>
                  <a:pt x="0" y="386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15227300" y="5511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8801100" y="54610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المميزات الرئيسية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290800" y="601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12361069" y="5969000"/>
            <a:ext cx="290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KYC/AML مدمج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61069" y="6324600"/>
            <a:ext cx="289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التحقق من الهوية ومكافحة غسيل الأموال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290800" y="678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12819459" y="67310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تجميد الحسابات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19459" y="708660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إمكانية تجميد الحسابات المشبوهة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290800" y="754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12784534" y="74930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قوائم العقوبات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84534" y="78486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التحقق التلقائي من قوائم العقوبات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5290800" y="8305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12663686" y="8255000"/>
            <a:ext cx="260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فترات الاحتفاظ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63686" y="86106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إدارة فترات الاحتفاظ بالأوراق المالية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4350" y="1835150"/>
            <a:ext cx="7505700" cy="3467100"/>
          </a:xfrm>
          <a:custGeom>
            <a:avLst/>
            <a:gdLst/>
            <a:ahLst/>
            <a:cxnLst/>
            <a:rect l="l" t="t" r="r" b="b"/>
            <a:pathLst>
              <a:path w="7505700" h="3467100">
                <a:moveTo>
                  <a:pt x="0" y="0"/>
                </a:moveTo>
                <a:lnTo>
                  <a:pt x="7505700" y="0"/>
                </a:lnTo>
                <a:lnTo>
                  <a:pt x="7505700" y="3467100"/>
                </a:lnTo>
                <a:lnTo>
                  <a:pt x="0" y="34671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660400" y="20447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ميزات الامتثال التنظيمي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300" y="2552700"/>
            <a:ext cx="7061200" cy="558800"/>
          </a:xfrm>
          <a:custGeom>
            <a:avLst/>
            <a:gdLst/>
            <a:ahLst/>
            <a:cxnLst/>
            <a:rect l="l" t="t" r="r" b="b"/>
            <a:pathLst>
              <a:path w="7061200" h="558800">
                <a:moveTo>
                  <a:pt x="0" y="0"/>
                </a:moveTo>
                <a:lnTo>
                  <a:pt x="7061200" y="0"/>
                </a:lnTo>
                <a:lnTo>
                  <a:pt x="70612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Shape 31"/>
          <p:cNvSpPr/>
          <p:nvPr/>
        </p:nvSpPr>
        <p:spPr>
          <a:xfrm>
            <a:off x="749300" y="25527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7440613" y="2717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6132711" y="2654300"/>
            <a:ext cx="130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فحص الهوية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300" y="3213100"/>
            <a:ext cx="7061200" cy="558800"/>
          </a:xfrm>
          <a:custGeom>
            <a:avLst/>
            <a:gdLst/>
            <a:ahLst/>
            <a:cxnLst/>
            <a:rect l="l" t="t" r="r" b="b"/>
            <a:pathLst>
              <a:path w="7061200" h="558800">
                <a:moveTo>
                  <a:pt x="0" y="0"/>
                </a:moveTo>
                <a:lnTo>
                  <a:pt x="7061200" y="0"/>
                </a:lnTo>
                <a:lnTo>
                  <a:pt x="70612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749300" y="32131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7454900" y="3378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5478363" y="33147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التحقق من العقوبات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9300" y="3873500"/>
            <a:ext cx="7061200" cy="558800"/>
          </a:xfrm>
          <a:custGeom>
            <a:avLst/>
            <a:gdLst/>
            <a:ahLst/>
            <a:cxnLst/>
            <a:rect l="l" t="t" r="r" b="b"/>
            <a:pathLst>
              <a:path w="7061200" h="558800">
                <a:moveTo>
                  <a:pt x="0" y="0"/>
                </a:moveTo>
                <a:lnTo>
                  <a:pt x="7061200" y="0"/>
                </a:lnTo>
                <a:lnTo>
                  <a:pt x="70612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749300" y="38735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7454900" y="4038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6158607" y="3975100"/>
            <a:ext cx="128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الالتزام بالمدة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9300" y="4533900"/>
            <a:ext cx="7061200" cy="558800"/>
          </a:xfrm>
          <a:custGeom>
            <a:avLst/>
            <a:gdLst/>
            <a:ahLst/>
            <a:cxnLst/>
            <a:rect l="l" t="t" r="r" b="b"/>
            <a:pathLst>
              <a:path w="7061200" h="558800">
                <a:moveTo>
                  <a:pt x="0" y="0"/>
                </a:moveTo>
                <a:lnTo>
                  <a:pt x="7061200" y="0"/>
                </a:lnTo>
                <a:lnTo>
                  <a:pt x="70612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5" name="Shape 43"/>
          <p:cNvSpPr/>
          <p:nvPr/>
        </p:nvSpPr>
        <p:spPr>
          <a:xfrm>
            <a:off x="749300" y="45339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6" name="Shape 44"/>
          <p:cNvSpPr/>
          <p:nvPr/>
        </p:nvSpPr>
        <p:spPr>
          <a:xfrm>
            <a:off x="7483475" y="4699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Text 45"/>
          <p:cNvSpPr/>
          <p:nvPr/>
        </p:nvSpPr>
        <p:spPr>
          <a:xfrm>
            <a:off x="5682952" y="4635500"/>
            <a:ext cx="175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التقارير التنظيمية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4350" y="5467350"/>
            <a:ext cx="7505700" cy="2273300"/>
          </a:xfrm>
          <a:custGeom>
            <a:avLst/>
            <a:gdLst/>
            <a:ahLst/>
            <a:cxnLst/>
            <a:rect l="l" t="t" r="r" b="b"/>
            <a:pathLst>
              <a:path w="7505700" h="2273300">
                <a:moveTo>
                  <a:pt x="0" y="0"/>
                </a:moveTo>
                <a:lnTo>
                  <a:pt x="7505700" y="0"/>
                </a:lnTo>
                <a:lnTo>
                  <a:pt x="7505700" y="2273300"/>
                </a:lnTo>
                <a:lnTo>
                  <a:pt x="0" y="2273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Shape 47"/>
          <p:cNvSpPr/>
          <p:nvPr/>
        </p:nvSpPr>
        <p:spPr>
          <a:xfrm>
            <a:off x="7585075" y="5740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Text 48"/>
          <p:cNvSpPr/>
          <p:nvPr/>
        </p:nvSpPr>
        <p:spPr>
          <a:xfrm>
            <a:off x="1016000" y="567690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جاهز للمؤسسات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3900" y="6134100"/>
            <a:ext cx="7188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تم تصميم العقد ليكون جاهزًا للاستخدام المؤسسي.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3900" y="6565900"/>
            <a:ext cx="7086600" cy="965200"/>
          </a:xfrm>
          <a:custGeom>
            <a:avLst/>
            <a:gdLst/>
            <a:ahLst/>
            <a:cxnLst/>
            <a:rect l="l" t="t" r="r" b="b"/>
            <a:pathLst>
              <a:path w="7086600" h="965200">
                <a:moveTo>
                  <a:pt x="0" y="0"/>
                </a:moveTo>
                <a:lnTo>
                  <a:pt x="7086600" y="0"/>
                </a:lnTo>
                <a:lnTo>
                  <a:pt x="70866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3" name="Text 51"/>
          <p:cNvSpPr/>
          <p:nvPr/>
        </p:nvSpPr>
        <p:spPr>
          <a:xfrm>
            <a:off x="730250" y="6667500"/>
            <a:ext cx="707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74700" y="7124700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تتوافق مع اللوائح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14350" y="7905750"/>
            <a:ext cx="7505700" cy="1206500"/>
          </a:xfrm>
          <a:custGeom>
            <a:avLst/>
            <a:gdLst/>
            <a:ahLst/>
            <a:cxnLst/>
            <a:rect l="l" t="t" r="r" b="b"/>
            <a:pathLst>
              <a:path w="7505700" h="1206500">
                <a:moveTo>
                  <a:pt x="0" y="0"/>
                </a:moveTo>
                <a:lnTo>
                  <a:pt x="7505700" y="0"/>
                </a:lnTo>
                <a:lnTo>
                  <a:pt x="75057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6" name="Shape 54"/>
          <p:cNvSpPr/>
          <p:nvPr/>
        </p:nvSpPr>
        <p:spPr>
          <a:xfrm>
            <a:off x="7556500" y="817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7" name="Text 55"/>
          <p:cNvSpPr/>
          <p:nvPr/>
        </p:nvSpPr>
        <p:spPr>
          <a:xfrm>
            <a:off x="1016000" y="811530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تقليل التكاليف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3900" y="8572500"/>
            <a:ext cx="7188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يقلل من تكاليف الامتثال للمؤسسات المالية الأخلاقية.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الامتثال التنظيمي مدمج في البنية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9-d57c8ldkfv3gkfmje97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31000" y="1828800"/>
            <a:ext cx="9017000" cy="72136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33400" y="18288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33400" y="18288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81154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6"/>
          <p:cNvSpPr/>
          <p:nvPr/>
        </p:nvSpPr>
        <p:spPr>
          <a:xfrm>
            <a:off x="5922665" y="2159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25" y="123031"/>
                </a:moveTo>
                <a:cubicBezTo>
                  <a:pt x="143981" y="123031"/>
                  <a:pt x="170656" y="96356"/>
                  <a:pt x="170656" y="63500"/>
                </a:cubicBezTo>
                <a:cubicBezTo>
                  <a:pt x="170656" y="30644"/>
                  <a:pt x="143981" y="3969"/>
                  <a:pt x="111125" y="3969"/>
                </a:cubicBezTo>
                <a:cubicBezTo>
                  <a:pt x="78269" y="3969"/>
                  <a:pt x="51594" y="30644"/>
                  <a:pt x="51594" y="63500"/>
                </a:cubicBezTo>
                <a:cubicBezTo>
                  <a:pt x="51594" y="96356"/>
                  <a:pt x="78269" y="123031"/>
                  <a:pt x="111125" y="123031"/>
                </a:cubicBezTo>
                <a:close/>
                <a:moveTo>
                  <a:pt x="96391" y="150813"/>
                </a:moveTo>
                <a:cubicBezTo>
                  <a:pt x="47526" y="150813"/>
                  <a:pt x="7938" y="190401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147439" y="254000"/>
                </a:lnTo>
                <a:cubicBezTo>
                  <a:pt x="129480" y="232866"/>
                  <a:pt x="119063" y="205631"/>
                  <a:pt x="119063" y="176808"/>
                </a:cubicBezTo>
                <a:lnTo>
                  <a:pt x="119063" y="161379"/>
                </a:lnTo>
                <a:cubicBezTo>
                  <a:pt x="119063" y="157758"/>
                  <a:pt x="119559" y="154186"/>
                  <a:pt x="120501" y="150812"/>
                </a:cubicBezTo>
                <a:lnTo>
                  <a:pt x="96391" y="150812"/>
                </a:lnTo>
                <a:close/>
                <a:moveTo>
                  <a:pt x="220911" y="242342"/>
                </a:moveTo>
                <a:lnTo>
                  <a:pt x="214313" y="245467"/>
                </a:lnTo>
                <a:lnTo>
                  <a:pt x="214313" y="152152"/>
                </a:lnTo>
                <a:lnTo>
                  <a:pt x="261937" y="168027"/>
                </a:lnTo>
                <a:lnTo>
                  <a:pt x="261937" y="177750"/>
                </a:lnTo>
                <a:cubicBezTo>
                  <a:pt x="261937" y="205432"/>
                  <a:pt x="245963" y="230584"/>
                  <a:pt x="220911" y="242391"/>
                </a:cubicBezTo>
                <a:close/>
                <a:moveTo>
                  <a:pt x="209302" y="128736"/>
                </a:moveTo>
                <a:lnTo>
                  <a:pt x="153739" y="147241"/>
                </a:lnTo>
                <a:cubicBezTo>
                  <a:pt x="147241" y="149423"/>
                  <a:pt x="142875" y="155476"/>
                  <a:pt x="142875" y="162322"/>
                </a:cubicBezTo>
                <a:lnTo>
                  <a:pt x="142875" y="177750"/>
                </a:lnTo>
                <a:cubicBezTo>
                  <a:pt x="142875" y="214660"/>
                  <a:pt x="164207" y="248245"/>
                  <a:pt x="197545" y="263922"/>
                </a:cubicBezTo>
                <a:lnTo>
                  <a:pt x="206722" y="268238"/>
                </a:lnTo>
                <a:cubicBezTo>
                  <a:pt x="209104" y="269329"/>
                  <a:pt x="211683" y="269925"/>
                  <a:pt x="214263" y="269925"/>
                </a:cubicBezTo>
                <a:cubicBezTo>
                  <a:pt x="216843" y="269925"/>
                  <a:pt x="219472" y="269329"/>
                  <a:pt x="221804" y="268238"/>
                </a:cubicBezTo>
                <a:lnTo>
                  <a:pt x="230981" y="263922"/>
                </a:lnTo>
                <a:cubicBezTo>
                  <a:pt x="264418" y="248196"/>
                  <a:pt x="285750" y="214610"/>
                  <a:pt x="285750" y="177701"/>
                </a:cubicBezTo>
                <a:lnTo>
                  <a:pt x="285750" y="162272"/>
                </a:lnTo>
                <a:cubicBezTo>
                  <a:pt x="285750" y="155426"/>
                  <a:pt x="281384" y="149374"/>
                  <a:pt x="274886" y="147191"/>
                </a:cubicBezTo>
                <a:lnTo>
                  <a:pt x="219323" y="128687"/>
                </a:lnTo>
                <a:cubicBezTo>
                  <a:pt x="216049" y="127595"/>
                  <a:pt x="212527" y="127595"/>
                  <a:pt x="209302" y="12868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4349651" y="2108200"/>
            <a:ext cx="143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فحص الهوية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26416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فحص شامل للهوية مع التحقق من KYC/AML.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3400" y="33274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0"/>
          <p:cNvSpPr/>
          <p:nvPr/>
        </p:nvSpPr>
        <p:spPr>
          <a:xfrm>
            <a:off x="533400" y="33274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5811540" y="3530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938540" y="3657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2166" y="204639"/>
                </a:moveTo>
                <a:lnTo>
                  <a:pt x="49361" y="71834"/>
                </a:lnTo>
                <a:cubicBezTo>
                  <a:pt x="38249" y="87412"/>
                  <a:pt x="31750" y="106462"/>
                  <a:pt x="31750" y="127000"/>
                </a:cubicBezTo>
                <a:cubicBezTo>
                  <a:pt x="31750" y="179586"/>
                  <a:pt x="74414" y="222250"/>
                  <a:pt x="127000" y="222250"/>
                </a:cubicBezTo>
                <a:cubicBezTo>
                  <a:pt x="147588" y="222250"/>
                  <a:pt x="166638" y="215751"/>
                  <a:pt x="182166" y="204639"/>
                </a:cubicBezTo>
                <a:close/>
                <a:moveTo>
                  <a:pt x="204639" y="182166"/>
                </a:moveTo>
                <a:cubicBezTo>
                  <a:pt x="215751" y="166588"/>
                  <a:pt x="222250" y="147538"/>
                  <a:pt x="222250" y="127000"/>
                </a:cubicBezTo>
                <a:cubicBezTo>
                  <a:pt x="222250" y="74414"/>
                  <a:pt x="179586" y="31750"/>
                  <a:pt x="127000" y="31750"/>
                </a:cubicBezTo>
                <a:cubicBezTo>
                  <a:pt x="106412" y="31750"/>
                  <a:pt x="87362" y="38249"/>
                  <a:pt x="71834" y="49361"/>
                </a:cubicBezTo>
                <a:lnTo>
                  <a:pt x="204639" y="182166"/>
                </a:ln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3633986" y="3606800"/>
            <a:ext cx="214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التحقق من العقوبات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41402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التحقق التلقائي من قوائم العقوبات المحلية والدولية.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3400" y="48260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Shape 16"/>
          <p:cNvSpPr/>
          <p:nvPr/>
        </p:nvSpPr>
        <p:spPr>
          <a:xfrm>
            <a:off x="533400" y="48260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Shape 17"/>
          <p:cNvSpPr/>
          <p:nvPr/>
        </p:nvSpPr>
        <p:spPr>
          <a:xfrm>
            <a:off x="5811540" y="502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5938540" y="5156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19"/>
          <p:cNvSpPr/>
          <p:nvPr/>
        </p:nvSpPr>
        <p:spPr>
          <a:xfrm>
            <a:off x="4378325" y="5105400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الالتزام بالمدة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56388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إدارة فترات الاحتفاظ المطلوبة تنظيميًا.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3400" y="6324600"/>
            <a:ext cx="5994400" cy="1346200"/>
          </a:xfrm>
          <a:custGeom>
            <a:avLst/>
            <a:gdLst/>
            <a:ahLst/>
            <a:cxnLst/>
            <a:rect l="l" t="t" r="r" b="b"/>
            <a:pathLst>
              <a:path w="5994400" h="1346200">
                <a:moveTo>
                  <a:pt x="0" y="0"/>
                </a:moveTo>
                <a:lnTo>
                  <a:pt x="5994400" y="0"/>
                </a:lnTo>
                <a:lnTo>
                  <a:pt x="5994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2"/>
          <p:cNvSpPr/>
          <p:nvPr/>
        </p:nvSpPr>
        <p:spPr>
          <a:xfrm>
            <a:off x="533400" y="63246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3"/>
          <p:cNvSpPr/>
          <p:nvPr/>
        </p:nvSpPr>
        <p:spPr>
          <a:xfrm>
            <a:off x="5811540" y="652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Shape 24"/>
          <p:cNvSpPr/>
          <p:nvPr/>
        </p:nvSpPr>
        <p:spPr>
          <a:xfrm>
            <a:off x="5970290" y="6654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59531" y="127000"/>
                </a:moveTo>
                <a:cubicBezTo>
                  <a:pt x="52933" y="127000"/>
                  <a:pt x="47625" y="132308"/>
                  <a:pt x="47625" y="138906"/>
                </a:cubicBezTo>
                <a:cubicBezTo>
                  <a:pt x="47625" y="145504"/>
                  <a:pt x="52933" y="150813"/>
                  <a:pt x="59531" y="150813"/>
                </a:cubicBezTo>
                <a:lnTo>
                  <a:pt x="130969" y="150813"/>
                </a:lnTo>
                <a:cubicBezTo>
                  <a:pt x="137567" y="150813"/>
                  <a:pt x="142875" y="145504"/>
                  <a:pt x="142875" y="138906"/>
                </a:cubicBezTo>
                <a:cubicBezTo>
                  <a:pt x="142875" y="132308"/>
                  <a:pt x="137567" y="127000"/>
                  <a:pt x="130969" y="127000"/>
                </a:cubicBezTo>
                <a:lnTo>
                  <a:pt x="59531" y="12700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30969" y="198438"/>
                </a:lnTo>
                <a:cubicBezTo>
                  <a:pt x="137567" y="198438"/>
                  <a:pt x="142875" y="193129"/>
                  <a:pt x="142875" y="186531"/>
                </a:cubicBezTo>
                <a:cubicBezTo>
                  <a:pt x="142875" y="179933"/>
                  <a:pt x="137567" y="174625"/>
                  <a:pt x="130969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5"/>
          <p:cNvSpPr/>
          <p:nvPr/>
        </p:nvSpPr>
        <p:spPr>
          <a:xfrm>
            <a:off x="3849886" y="6604000"/>
            <a:ext cx="193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التقارير التنظيمية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000" y="71374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توليد تقارير تلقائية للجهات التنظيمية.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4350" y="7829550"/>
            <a:ext cx="6007100" cy="1206500"/>
          </a:xfrm>
          <a:custGeom>
            <a:avLst/>
            <a:gdLst/>
            <a:ahLst/>
            <a:cxnLst/>
            <a:rect l="l" t="t" r="r" b="b"/>
            <a:pathLst>
              <a:path w="6007100" h="1206500">
                <a:moveTo>
                  <a:pt x="0" y="0"/>
                </a:moveTo>
                <a:lnTo>
                  <a:pt x="6007100" y="0"/>
                </a:lnTo>
                <a:lnTo>
                  <a:pt x="60071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Shape 28"/>
          <p:cNvSpPr/>
          <p:nvPr/>
        </p:nvSpPr>
        <p:spPr>
          <a:xfrm>
            <a:off x="6052840" y="810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29"/>
          <p:cNvSpPr/>
          <p:nvPr/>
        </p:nvSpPr>
        <p:spPr>
          <a:xfrm>
            <a:off x="1016000" y="8039100"/>
            <a:ext cx="541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تقليل التكاليف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23900" y="8496300"/>
            <a:ext cx="568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يقلل من تكاليف الامتثال بنسبة تصل إلى 70%.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48d58fd1bc1088a409afe585d875c60833e47790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4980484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4995366" y="34544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" y="332740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نموذج الأعمال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70884" y="4521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317500" y="4876800"/>
            <a:ext cx="567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الإيرادات والاقتصاديات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5600" y="5537200"/>
            <a:ext cx="563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Model &amp; Unit Economics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125" y="497125"/>
            <a:ext cx="1536117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kern="0" spc="78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7125" y="894826"/>
            <a:ext cx="15485456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2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نموذج الإيرادات المتعدد القنوات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70061" y="1541089"/>
            <a:ext cx="994251" cy="49713"/>
          </a:xfrm>
          <a:custGeom>
            <a:avLst/>
            <a:gdLst/>
            <a:ahLst/>
            <a:cxnLst/>
            <a:rect l="l" t="t" r="r" b="b"/>
            <a:pathLst>
              <a:path w="994251" h="49713">
                <a:moveTo>
                  <a:pt x="0" y="0"/>
                </a:moveTo>
                <a:lnTo>
                  <a:pt x="994251" y="0"/>
                </a:lnTo>
                <a:lnTo>
                  <a:pt x="994251" y="49713"/>
                </a:lnTo>
                <a:lnTo>
                  <a:pt x="0" y="49713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9-d57c8lfqmognqbgca6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3596" y="1789651"/>
            <a:ext cx="8090716" cy="7357456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21982" y="1789651"/>
            <a:ext cx="6760905" cy="1864220"/>
          </a:xfrm>
          <a:custGeom>
            <a:avLst/>
            <a:gdLst/>
            <a:ahLst/>
            <a:cxnLst/>
            <a:rect l="l" t="t" r="r" b="b"/>
            <a:pathLst>
              <a:path w="6760905" h="1864220">
                <a:moveTo>
                  <a:pt x="0" y="0"/>
                </a:moveTo>
                <a:lnTo>
                  <a:pt x="6760905" y="0"/>
                </a:lnTo>
                <a:lnTo>
                  <a:pt x="6760905" y="1864220"/>
                </a:lnTo>
                <a:lnTo>
                  <a:pt x="0" y="186422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21982" y="1789651"/>
            <a:ext cx="49713" cy="1864220"/>
          </a:xfrm>
          <a:custGeom>
            <a:avLst/>
            <a:gdLst/>
            <a:ahLst/>
            <a:cxnLst/>
            <a:rect l="l" t="t" r="r" b="b"/>
            <a:pathLst>
              <a:path w="49713" h="1864220">
                <a:moveTo>
                  <a:pt x="0" y="0"/>
                </a:moveTo>
                <a:lnTo>
                  <a:pt x="49713" y="0"/>
                </a:lnTo>
                <a:lnTo>
                  <a:pt x="49713" y="1864220"/>
                </a:lnTo>
                <a:lnTo>
                  <a:pt x="0" y="186422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6581862" y="1988502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0" y="0"/>
                </a:moveTo>
                <a:lnTo>
                  <a:pt x="497125" y="0"/>
                </a:lnTo>
                <a:lnTo>
                  <a:pt x="497125" y="497125"/>
                </a:lnTo>
                <a:lnTo>
                  <a:pt x="0" y="497125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6"/>
          <p:cNvSpPr/>
          <p:nvPr/>
        </p:nvSpPr>
        <p:spPr>
          <a:xfrm>
            <a:off x="6737214" y="2112783"/>
            <a:ext cx="186422" cy="248563"/>
          </a:xfrm>
          <a:custGeom>
            <a:avLst/>
            <a:gdLst/>
            <a:ahLst/>
            <a:cxnLst/>
            <a:rect l="l" t="t" r="r" b="b"/>
            <a:pathLst>
              <a:path w="186422" h="248563">
                <a:moveTo>
                  <a:pt x="31070" y="0"/>
                </a:moveTo>
                <a:cubicBezTo>
                  <a:pt x="13933" y="0"/>
                  <a:pt x="0" y="13933"/>
                  <a:pt x="0" y="31070"/>
                </a:cubicBezTo>
                <a:lnTo>
                  <a:pt x="0" y="217492"/>
                </a:lnTo>
                <a:cubicBezTo>
                  <a:pt x="0" y="234630"/>
                  <a:pt x="13933" y="248563"/>
                  <a:pt x="31070" y="248563"/>
                </a:cubicBezTo>
                <a:lnTo>
                  <a:pt x="155352" y="248563"/>
                </a:lnTo>
                <a:cubicBezTo>
                  <a:pt x="172489" y="248563"/>
                  <a:pt x="186422" y="234630"/>
                  <a:pt x="186422" y="217492"/>
                </a:cubicBezTo>
                <a:lnTo>
                  <a:pt x="186422" y="31070"/>
                </a:lnTo>
                <a:cubicBezTo>
                  <a:pt x="186422" y="13933"/>
                  <a:pt x="172489" y="0"/>
                  <a:pt x="155352" y="0"/>
                </a:cubicBezTo>
                <a:lnTo>
                  <a:pt x="31070" y="0"/>
                </a:lnTo>
                <a:close/>
                <a:moveTo>
                  <a:pt x="85443" y="170887"/>
                </a:moveTo>
                <a:lnTo>
                  <a:pt x="100979" y="170887"/>
                </a:lnTo>
                <a:cubicBezTo>
                  <a:pt x="109571" y="170887"/>
                  <a:pt x="116514" y="177829"/>
                  <a:pt x="116514" y="186422"/>
                </a:cubicBezTo>
                <a:lnTo>
                  <a:pt x="116514" y="225260"/>
                </a:lnTo>
                <a:lnTo>
                  <a:pt x="69908" y="225260"/>
                </a:lnTo>
                <a:lnTo>
                  <a:pt x="69908" y="186422"/>
                </a:lnTo>
                <a:cubicBezTo>
                  <a:pt x="69908" y="177829"/>
                  <a:pt x="76851" y="170887"/>
                  <a:pt x="85443" y="170887"/>
                </a:cubicBezTo>
                <a:close/>
                <a:moveTo>
                  <a:pt x="46606" y="54373"/>
                </a:moveTo>
                <a:cubicBezTo>
                  <a:pt x="46606" y="50101"/>
                  <a:pt x="50101" y="46606"/>
                  <a:pt x="54373" y="46606"/>
                </a:cubicBezTo>
                <a:lnTo>
                  <a:pt x="69908" y="46606"/>
                </a:lnTo>
                <a:cubicBezTo>
                  <a:pt x="74180" y="46606"/>
                  <a:pt x="77676" y="50101"/>
                  <a:pt x="77676" y="54373"/>
                </a:cubicBezTo>
                <a:lnTo>
                  <a:pt x="77676" y="69908"/>
                </a:lnTo>
                <a:cubicBezTo>
                  <a:pt x="77676" y="74180"/>
                  <a:pt x="74180" y="77676"/>
                  <a:pt x="69908" y="77676"/>
                </a:cubicBezTo>
                <a:lnTo>
                  <a:pt x="54373" y="77676"/>
                </a:lnTo>
                <a:cubicBezTo>
                  <a:pt x="50101" y="77676"/>
                  <a:pt x="46606" y="74180"/>
                  <a:pt x="46606" y="69908"/>
                </a:cubicBezTo>
                <a:lnTo>
                  <a:pt x="46606" y="54373"/>
                </a:lnTo>
                <a:close/>
                <a:moveTo>
                  <a:pt x="116514" y="46606"/>
                </a:moveTo>
                <a:lnTo>
                  <a:pt x="132049" y="46606"/>
                </a:lnTo>
                <a:cubicBezTo>
                  <a:pt x="136321" y="46606"/>
                  <a:pt x="139817" y="50101"/>
                  <a:pt x="139817" y="54373"/>
                </a:cubicBezTo>
                <a:lnTo>
                  <a:pt x="139817" y="69908"/>
                </a:lnTo>
                <a:cubicBezTo>
                  <a:pt x="139817" y="74180"/>
                  <a:pt x="136321" y="77676"/>
                  <a:pt x="132049" y="77676"/>
                </a:cubicBezTo>
                <a:lnTo>
                  <a:pt x="116514" y="77676"/>
                </a:lnTo>
                <a:cubicBezTo>
                  <a:pt x="112242" y="77676"/>
                  <a:pt x="108746" y="74180"/>
                  <a:pt x="108746" y="69908"/>
                </a:cubicBezTo>
                <a:lnTo>
                  <a:pt x="108746" y="54373"/>
                </a:lnTo>
                <a:cubicBezTo>
                  <a:pt x="108746" y="50101"/>
                  <a:pt x="112242" y="46606"/>
                  <a:pt x="116514" y="46606"/>
                </a:cubicBezTo>
                <a:close/>
                <a:moveTo>
                  <a:pt x="46606" y="116514"/>
                </a:moveTo>
                <a:cubicBezTo>
                  <a:pt x="46606" y="112242"/>
                  <a:pt x="50101" y="108746"/>
                  <a:pt x="54373" y="108746"/>
                </a:cubicBezTo>
                <a:lnTo>
                  <a:pt x="69908" y="108746"/>
                </a:lnTo>
                <a:cubicBezTo>
                  <a:pt x="74180" y="108746"/>
                  <a:pt x="77676" y="112242"/>
                  <a:pt x="77676" y="116514"/>
                </a:cubicBezTo>
                <a:lnTo>
                  <a:pt x="77676" y="132049"/>
                </a:lnTo>
                <a:cubicBezTo>
                  <a:pt x="77676" y="136321"/>
                  <a:pt x="74180" y="139817"/>
                  <a:pt x="69908" y="139817"/>
                </a:cubicBezTo>
                <a:lnTo>
                  <a:pt x="54373" y="139817"/>
                </a:lnTo>
                <a:cubicBezTo>
                  <a:pt x="50101" y="139817"/>
                  <a:pt x="46606" y="136321"/>
                  <a:pt x="46606" y="132049"/>
                </a:cubicBezTo>
                <a:lnTo>
                  <a:pt x="46606" y="116514"/>
                </a:lnTo>
                <a:close/>
                <a:moveTo>
                  <a:pt x="116514" y="108746"/>
                </a:moveTo>
                <a:lnTo>
                  <a:pt x="132049" y="108746"/>
                </a:lnTo>
                <a:cubicBezTo>
                  <a:pt x="136321" y="108746"/>
                  <a:pt x="139817" y="112242"/>
                  <a:pt x="139817" y="116514"/>
                </a:cubicBezTo>
                <a:lnTo>
                  <a:pt x="139817" y="132049"/>
                </a:lnTo>
                <a:cubicBezTo>
                  <a:pt x="139817" y="136321"/>
                  <a:pt x="136321" y="139817"/>
                  <a:pt x="132049" y="139817"/>
                </a:cubicBezTo>
                <a:lnTo>
                  <a:pt x="116514" y="139817"/>
                </a:lnTo>
                <a:cubicBezTo>
                  <a:pt x="112242" y="139817"/>
                  <a:pt x="108746" y="136321"/>
                  <a:pt x="108746" y="132049"/>
                </a:cubicBezTo>
                <a:lnTo>
                  <a:pt x="108746" y="116514"/>
                </a:lnTo>
                <a:cubicBezTo>
                  <a:pt x="108746" y="112242"/>
                  <a:pt x="112242" y="108746"/>
                  <a:pt x="116514" y="10874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4416745" y="2063070"/>
            <a:ext cx="2137639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ترخيص المنصة B2B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47547" y="2585052"/>
            <a:ext cx="252291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6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$50K - $500K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97311" y="2672049"/>
            <a:ext cx="559266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سنويًا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5688" y="3131890"/>
            <a:ext cx="6437774" cy="323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تراخيص للمؤسسات المالية حسب حجم الاستخدام.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1982" y="3803009"/>
            <a:ext cx="6760905" cy="1864220"/>
          </a:xfrm>
          <a:custGeom>
            <a:avLst/>
            <a:gdLst/>
            <a:ahLst/>
            <a:cxnLst/>
            <a:rect l="l" t="t" r="r" b="b"/>
            <a:pathLst>
              <a:path w="6760905" h="1864220">
                <a:moveTo>
                  <a:pt x="0" y="0"/>
                </a:moveTo>
                <a:lnTo>
                  <a:pt x="6760905" y="0"/>
                </a:lnTo>
                <a:lnTo>
                  <a:pt x="6760905" y="1864220"/>
                </a:lnTo>
                <a:lnTo>
                  <a:pt x="0" y="186422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21982" y="3803009"/>
            <a:ext cx="49713" cy="1864220"/>
          </a:xfrm>
          <a:custGeom>
            <a:avLst/>
            <a:gdLst/>
            <a:ahLst/>
            <a:cxnLst/>
            <a:rect l="l" t="t" r="r" b="b"/>
            <a:pathLst>
              <a:path w="49713" h="1864220">
                <a:moveTo>
                  <a:pt x="0" y="0"/>
                </a:moveTo>
                <a:lnTo>
                  <a:pt x="49713" y="0"/>
                </a:lnTo>
                <a:lnTo>
                  <a:pt x="49713" y="1864220"/>
                </a:lnTo>
                <a:lnTo>
                  <a:pt x="0" y="186422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6581862" y="4001859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0" y="0"/>
                </a:moveTo>
                <a:lnTo>
                  <a:pt x="497125" y="0"/>
                </a:lnTo>
                <a:lnTo>
                  <a:pt x="497125" y="497125"/>
                </a:lnTo>
                <a:lnTo>
                  <a:pt x="0" y="497125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Shape 14"/>
          <p:cNvSpPr/>
          <p:nvPr/>
        </p:nvSpPr>
        <p:spPr>
          <a:xfrm>
            <a:off x="6706144" y="4126141"/>
            <a:ext cx="248563" cy="248563"/>
          </a:xfrm>
          <a:custGeom>
            <a:avLst/>
            <a:gdLst/>
            <a:ahLst/>
            <a:cxnLst/>
            <a:rect l="l" t="t" r="r" b="b"/>
            <a:pathLst>
              <a:path w="248563" h="248563">
                <a:moveTo>
                  <a:pt x="243999" y="73112"/>
                </a:moveTo>
                <a:lnTo>
                  <a:pt x="197394" y="119718"/>
                </a:lnTo>
                <a:cubicBezTo>
                  <a:pt x="192927" y="124184"/>
                  <a:pt x="186276" y="125495"/>
                  <a:pt x="180451" y="123068"/>
                </a:cubicBezTo>
                <a:cubicBezTo>
                  <a:pt x="174625" y="120640"/>
                  <a:pt x="170887" y="115009"/>
                  <a:pt x="170887" y="108746"/>
                </a:cubicBezTo>
                <a:lnTo>
                  <a:pt x="170887" y="77676"/>
                </a:lnTo>
                <a:lnTo>
                  <a:pt x="15535" y="77676"/>
                </a:lnTo>
                <a:cubicBezTo>
                  <a:pt x="6942" y="77676"/>
                  <a:pt x="0" y="70734"/>
                  <a:pt x="0" y="62141"/>
                </a:cubicBezTo>
                <a:cubicBezTo>
                  <a:pt x="0" y="53548"/>
                  <a:pt x="6942" y="46606"/>
                  <a:pt x="15535" y="46606"/>
                </a:cubicBezTo>
                <a:lnTo>
                  <a:pt x="170887" y="46606"/>
                </a:lnTo>
                <a:lnTo>
                  <a:pt x="170887" y="15535"/>
                </a:lnTo>
                <a:cubicBezTo>
                  <a:pt x="170887" y="9273"/>
                  <a:pt x="174674" y="3593"/>
                  <a:pt x="180499" y="1165"/>
                </a:cubicBezTo>
                <a:cubicBezTo>
                  <a:pt x="186325" y="-1262"/>
                  <a:pt x="192976" y="97"/>
                  <a:pt x="197442" y="4515"/>
                </a:cubicBezTo>
                <a:lnTo>
                  <a:pt x="244048" y="51120"/>
                </a:lnTo>
                <a:cubicBezTo>
                  <a:pt x="250116" y="57189"/>
                  <a:pt x="250116" y="67044"/>
                  <a:pt x="244048" y="73112"/>
                </a:cubicBezTo>
                <a:close/>
                <a:moveTo>
                  <a:pt x="51120" y="243999"/>
                </a:moveTo>
                <a:lnTo>
                  <a:pt x="4515" y="197394"/>
                </a:lnTo>
                <a:cubicBezTo>
                  <a:pt x="-1554" y="191325"/>
                  <a:pt x="-1554" y="181470"/>
                  <a:pt x="4515" y="175402"/>
                </a:cubicBezTo>
                <a:lnTo>
                  <a:pt x="51120" y="128796"/>
                </a:lnTo>
                <a:cubicBezTo>
                  <a:pt x="55587" y="124330"/>
                  <a:pt x="62238" y="123019"/>
                  <a:pt x="68063" y="125446"/>
                </a:cubicBezTo>
                <a:cubicBezTo>
                  <a:pt x="73889" y="127874"/>
                  <a:pt x="77676" y="133554"/>
                  <a:pt x="77676" y="139817"/>
                </a:cubicBezTo>
                <a:lnTo>
                  <a:pt x="77676" y="170887"/>
                </a:lnTo>
                <a:lnTo>
                  <a:pt x="233028" y="170887"/>
                </a:lnTo>
                <a:cubicBezTo>
                  <a:pt x="241620" y="170887"/>
                  <a:pt x="248563" y="177829"/>
                  <a:pt x="248563" y="186422"/>
                </a:cubicBezTo>
                <a:cubicBezTo>
                  <a:pt x="248563" y="195015"/>
                  <a:pt x="241620" y="201957"/>
                  <a:pt x="233028" y="201957"/>
                </a:cubicBezTo>
                <a:lnTo>
                  <a:pt x="77676" y="201957"/>
                </a:lnTo>
                <a:lnTo>
                  <a:pt x="77676" y="233028"/>
                </a:lnTo>
                <a:cubicBezTo>
                  <a:pt x="77676" y="239290"/>
                  <a:pt x="73889" y="244970"/>
                  <a:pt x="68063" y="247398"/>
                </a:cubicBezTo>
                <a:cubicBezTo>
                  <a:pt x="62238" y="249825"/>
                  <a:pt x="55587" y="248466"/>
                  <a:pt x="51120" y="24404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5"/>
          <p:cNvSpPr/>
          <p:nvPr/>
        </p:nvSpPr>
        <p:spPr>
          <a:xfrm>
            <a:off x="4934067" y="4076428"/>
            <a:ext cx="1628086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رسوم المعاملات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27091" y="4598410"/>
            <a:ext cx="213763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6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0.1% - 0.5%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33333" y="4685407"/>
            <a:ext cx="907254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لكل معاملة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5688" y="5145248"/>
            <a:ext cx="6437774" cy="323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رسوم متغيرة على حجم المعاملات.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1982" y="5816367"/>
            <a:ext cx="6760905" cy="1864220"/>
          </a:xfrm>
          <a:custGeom>
            <a:avLst/>
            <a:gdLst/>
            <a:ahLst/>
            <a:cxnLst/>
            <a:rect l="l" t="t" r="r" b="b"/>
            <a:pathLst>
              <a:path w="6760905" h="1864220">
                <a:moveTo>
                  <a:pt x="0" y="0"/>
                </a:moveTo>
                <a:lnTo>
                  <a:pt x="6760905" y="0"/>
                </a:lnTo>
                <a:lnTo>
                  <a:pt x="6760905" y="1864220"/>
                </a:lnTo>
                <a:lnTo>
                  <a:pt x="0" y="186422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Shape 20"/>
          <p:cNvSpPr/>
          <p:nvPr/>
        </p:nvSpPr>
        <p:spPr>
          <a:xfrm>
            <a:off x="521982" y="5816367"/>
            <a:ext cx="49713" cy="1864220"/>
          </a:xfrm>
          <a:custGeom>
            <a:avLst/>
            <a:gdLst/>
            <a:ahLst/>
            <a:cxnLst/>
            <a:rect l="l" t="t" r="r" b="b"/>
            <a:pathLst>
              <a:path w="49713" h="1864220">
                <a:moveTo>
                  <a:pt x="0" y="0"/>
                </a:moveTo>
                <a:lnTo>
                  <a:pt x="49713" y="0"/>
                </a:lnTo>
                <a:lnTo>
                  <a:pt x="49713" y="1864220"/>
                </a:lnTo>
                <a:lnTo>
                  <a:pt x="0" y="186422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1"/>
          <p:cNvSpPr/>
          <p:nvPr/>
        </p:nvSpPr>
        <p:spPr>
          <a:xfrm>
            <a:off x="6581862" y="6015217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0" y="0"/>
                </a:moveTo>
                <a:lnTo>
                  <a:pt x="497125" y="0"/>
                </a:lnTo>
                <a:lnTo>
                  <a:pt x="497125" y="497125"/>
                </a:lnTo>
                <a:lnTo>
                  <a:pt x="0" y="497125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2"/>
          <p:cNvSpPr/>
          <p:nvPr/>
        </p:nvSpPr>
        <p:spPr>
          <a:xfrm>
            <a:off x="6706144" y="6139498"/>
            <a:ext cx="248563" cy="248563"/>
          </a:xfrm>
          <a:custGeom>
            <a:avLst/>
            <a:gdLst/>
            <a:ahLst/>
            <a:cxnLst/>
            <a:rect l="l" t="t" r="r" b="b"/>
            <a:pathLst>
              <a:path w="248563" h="248563">
                <a:moveTo>
                  <a:pt x="58257" y="27187"/>
                </a:moveTo>
                <a:cubicBezTo>
                  <a:pt x="58257" y="12185"/>
                  <a:pt x="70442" y="0"/>
                  <a:pt x="85443" y="0"/>
                </a:cubicBezTo>
                <a:lnTo>
                  <a:pt x="97095" y="0"/>
                </a:lnTo>
                <a:cubicBezTo>
                  <a:pt x="105688" y="0"/>
                  <a:pt x="112630" y="6942"/>
                  <a:pt x="112630" y="15535"/>
                </a:cubicBezTo>
                <a:lnTo>
                  <a:pt x="112630" y="233028"/>
                </a:lnTo>
                <a:cubicBezTo>
                  <a:pt x="112630" y="241620"/>
                  <a:pt x="105688" y="248563"/>
                  <a:pt x="97095" y="248563"/>
                </a:cubicBezTo>
                <a:lnTo>
                  <a:pt x="81560" y="248563"/>
                </a:lnTo>
                <a:cubicBezTo>
                  <a:pt x="67093" y="248563"/>
                  <a:pt x="54907" y="238659"/>
                  <a:pt x="51460" y="225260"/>
                </a:cubicBezTo>
                <a:cubicBezTo>
                  <a:pt x="51120" y="225260"/>
                  <a:pt x="50829" y="225260"/>
                  <a:pt x="50489" y="225260"/>
                </a:cubicBezTo>
                <a:cubicBezTo>
                  <a:pt x="29031" y="225260"/>
                  <a:pt x="11651" y="207880"/>
                  <a:pt x="11651" y="186422"/>
                </a:cubicBezTo>
                <a:cubicBezTo>
                  <a:pt x="11651" y="177683"/>
                  <a:pt x="14564" y="169625"/>
                  <a:pt x="19419" y="163119"/>
                </a:cubicBezTo>
                <a:cubicBezTo>
                  <a:pt x="10001" y="156031"/>
                  <a:pt x="3884" y="144768"/>
                  <a:pt x="3884" y="132049"/>
                </a:cubicBezTo>
                <a:cubicBezTo>
                  <a:pt x="3884" y="117048"/>
                  <a:pt x="12428" y="103989"/>
                  <a:pt x="24856" y="97532"/>
                </a:cubicBezTo>
                <a:cubicBezTo>
                  <a:pt x="21409" y="91706"/>
                  <a:pt x="19419" y="84909"/>
                  <a:pt x="19419" y="77676"/>
                </a:cubicBezTo>
                <a:cubicBezTo>
                  <a:pt x="19419" y="56218"/>
                  <a:pt x="36799" y="38838"/>
                  <a:pt x="58257" y="38838"/>
                </a:cubicBezTo>
                <a:lnTo>
                  <a:pt x="58257" y="27187"/>
                </a:lnTo>
                <a:close/>
                <a:moveTo>
                  <a:pt x="190306" y="27187"/>
                </a:moveTo>
                <a:lnTo>
                  <a:pt x="190306" y="38838"/>
                </a:lnTo>
                <a:cubicBezTo>
                  <a:pt x="211764" y="38838"/>
                  <a:pt x="229144" y="56218"/>
                  <a:pt x="229144" y="77676"/>
                </a:cubicBezTo>
                <a:cubicBezTo>
                  <a:pt x="229144" y="84958"/>
                  <a:pt x="227153" y="91755"/>
                  <a:pt x="223706" y="97532"/>
                </a:cubicBezTo>
                <a:cubicBezTo>
                  <a:pt x="236183" y="103989"/>
                  <a:pt x="244679" y="116999"/>
                  <a:pt x="244679" y="132049"/>
                </a:cubicBezTo>
                <a:cubicBezTo>
                  <a:pt x="244679" y="144768"/>
                  <a:pt x="238562" y="156031"/>
                  <a:pt x="229144" y="163119"/>
                </a:cubicBezTo>
                <a:cubicBezTo>
                  <a:pt x="233998" y="169625"/>
                  <a:pt x="236911" y="177683"/>
                  <a:pt x="236911" y="186422"/>
                </a:cubicBezTo>
                <a:cubicBezTo>
                  <a:pt x="236911" y="207880"/>
                  <a:pt x="219531" y="225260"/>
                  <a:pt x="198073" y="225260"/>
                </a:cubicBezTo>
                <a:cubicBezTo>
                  <a:pt x="197734" y="225260"/>
                  <a:pt x="197442" y="225260"/>
                  <a:pt x="197102" y="225260"/>
                </a:cubicBezTo>
                <a:cubicBezTo>
                  <a:pt x="193656" y="238659"/>
                  <a:pt x="181470" y="248563"/>
                  <a:pt x="167003" y="248563"/>
                </a:cubicBezTo>
                <a:lnTo>
                  <a:pt x="151468" y="248563"/>
                </a:lnTo>
                <a:cubicBezTo>
                  <a:pt x="142875" y="248563"/>
                  <a:pt x="135933" y="241620"/>
                  <a:pt x="135933" y="233028"/>
                </a:cubicBezTo>
                <a:lnTo>
                  <a:pt x="135933" y="15535"/>
                </a:lnTo>
                <a:cubicBezTo>
                  <a:pt x="135933" y="6942"/>
                  <a:pt x="142875" y="0"/>
                  <a:pt x="151468" y="0"/>
                </a:cubicBezTo>
                <a:lnTo>
                  <a:pt x="163119" y="0"/>
                </a:lnTo>
                <a:cubicBezTo>
                  <a:pt x="178120" y="0"/>
                  <a:pt x="190306" y="12185"/>
                  <a:pt x="190306" y="2718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3"/>
          <p:cNvSpPr/>
          <p:nvPr/>
        </p:nvSpPr>
        <p:spPr>
          <a:xfrm>
            <a:off x="4842894" y="6089786"/>
            <a:ext cx="1715083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KAIA API SaaS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90323" y="6611768"/>
            <a:ext cx="177722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6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سنت واحد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11129" y="6698765"/>
            <a:ext cx="894826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لكل فحص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5688" y="7158606"/>
            <a:ext cx="6437774" cy="323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خدمة API للفحص الأخلاقي الآلي.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21982" y="7829725"/>
            <a:ext cx="6760905" cy="1317382"/>
          </a:xfrm>
          <a:custGeom>
            <a:avLst/>
            <a:gdLst/>
            <a:ahLst/>
            <a:cxnLst/>
            <a:rect l="l" t="t" r="r" b="b"/>
            <a:pathLst>
              <a:path w="6760905" h="1317382">
                <a:moveTo>
                  <a:pt x="0" y="0"/>
                </a:moveTo>
                <a:lnTo>
                  <a:pt x="6760905" y="0"/>
                </a:lnTo>
                <a:lnTo>
                  <a:pt x="6760905" y="1317382"/>
                </a:lnTo>
                <a:lnTo>
                  <a:pt x="0" y="1317382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8"/>
          <p:cNvSpPr/>
          <p:nvPr/>
        </p:nvSpPr>
        <p:spPr>
          <a:xfrm>
            <a:off x="521982" y="7829725"/>
            <a:ext cx="49713" cy="1317382"/>
          </a:xfrm>
          <a:custGeom>
            <a:avLst/>
            <a:gdLst/>
            <a:ahLst/>
            <a:cxnLst/>
            <a:rect l="l" t="t" r="r" b="b"/>
            <a:pathLst>
              <a:path w="49713" h="1317382">
                <a:moveTo>
                  <a:pt x="0" y="0"/>
                </a:moveTo>
                <a:lnTo>
                  <a:pt x="49713" y="0"/>
                </a:lnTo>
                <a:lnTo>
                  <a:pt x="49713" y="1317382"/>
                </a:lnTo>
                <a:lnTo>
                  <a:pt x="0" y="1317382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Shape 29"/>
          <p:cNvSpPr/>
          <p:nvPr/>
        </p:nvSpPr>
        <p:spPr>
          <a:xfrm>
            <a:off x="6581862" y="8028575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0" y="0"/>
                </a:moveTo>
                <a:lnTo>
                  <a:pt x="497125" y="0"/>
                </a:lnTo>
                <a:lnTo>
                  <a:pt x="497125" y="497125"/>
                </a:lnTo>
                <a:lnTo>
                  <a:pt x="0" y="497125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Shape 30"/>
          <p:cNvSpPr/>
          <p:nvPr/>
        </p:nvSpPr>
        <p:spPr>
          <a:xfrm>
            <a:off x="6706144" y="8152856"/>
            <a:ext cx="248563" cy="248563"/>
          </a:xfrm>
          <a:custGeom>
            <a:avLst/>
            <a:gdLst/>
            <a:ahLst/>
            <a:cxnLst/>
            <a:rect l="l" t="t" r="r" b="b"/>
            <a:pathLst>
              <a:path w="248563" h="248563">
                <a:moveTo>
                  <a:pt x="170838" y="135933"/>
                </a:moveTo>
                <a:lnTo>
                  <a:pt x="78161" y="135933"/>
                </a:lnTo>
                <a:cubicBezTo>
                  <a:pt x="79569" y="167246"/>
                  <a:pt x="86511" y="196083"/>
                  <a:pt x="96367" y="217201"/>
                </a:cubicBezTo>
                <a:cubicBezTo>
                  <a:pt x="101901" y="229095"/>
                  <a:pt x="107872" y="237494"/>
                  <a:pt x="113407" y="242640"/>
                </a:cubicBezTo>
                <a:cubicBezTo>
                  <a:pt x="118844" y="247737"/>
                  <a:pt x="122582" y="248563"/>
                  <a:pt x="124524" y="248563"/>
                </a:cubicBezTo>
                <a:cubicBezTo>
                  <a:pt x="126466" y="248563"/>
                  <a:pt x="130204" y="247737"/>
                  <a:pt x="135641" y="242640"/>
                </a:cubicBezTo>
                <a:cubicBezTo>
                  <a:pt x="141176" y="237494"/>
                  <a:pt x="147147" y="229047"/>
                  <a:pt x="152682" y="217201"/>
                </a:cubicBezTo>
                <a:cubicBezTo>
                  <a:pt x="162537" y="196083"/>
                  <a:pt x="169479" y="167246"/>
                  <a:pt x="170887" y="135933"/>
                </a:cubicBezTo>
                <a:close/>
                <a:moveTo>
                  <a:pt x="78113" y="112630"/>
                </a:moveTo>
                <a:lnTo>
                  <a:pt x="170790" y="112630"/>
                </a:lnTo>
                <a:cubicBezTo>
                  <a:pt x="169430" y="81317"/>
                  <a:pt x="162488" y="52480"/>
                  <a:pt x="152633" y="31362"/>
                </a:cubicBezTo>
                <a:cubicBezTo>
                  <a:pt x="147099" y="19516"/>
                  <a:pt x="141127" y="11069"/>
                  <a:pt x="135593" y="5923"/>
                </a:cubicBezTo>
                <a:cubicBezTo>
                  <a:pt x="130156" y="825"/>
                  <a:pt x="126417" y="0"/>
                  <a:pt x="124476" y="0"/>
                </a:cubicBezTo>
                <a:cubicBezTo>
                  <a:pt x="122534" y="0"/>
                  <a:pt x="118795" y="825"/>
                  <a:pt x="113358" y="5923"/>
                </a:cubicBezTo>
                <a:cubicBezTo>
                  <a:pt x="107824" y="11069"/>
                  <a:pt x="101852" y="19516"/>
                  <a:pt x="96318" y="31362"/>
                </a:cubicBezTo>
                <a:cubicBezTo>
                  <a:pt x="86463" y="52480"/>
                  <a:pt x="79521" y="81317"/>
                  <a:pt x="78113" y="112630"/>
                </a:cubicBezTo>
                <a:close/>
                <a:moveTo>
                  <a:pt x="54810" y="112630"/>
                </a:moveTo>
                <a:cubicBezTo>
                  <a:pt x="56509" y="71073"/>
                  <a:pt x="67238" y="32478"/>
                  <a:pt x="82919" y="7136"/>
                </a:cubicBezTo>
                <a:cubicBezTo>
                  <a:pt x="38207" y="22963"/>
                  <a:pt x="5292" y="63694"/>
                  <a:pt x="728" y="112630"/>
                </a:cubicBezTo>
                <a:lnTo>
                  <a:pt x="54810" y="112630"/>
                </a:lnTo>
                <a:close/>
                <a:moveTo>
                  <a:pt x="728" y="135933"/>
                </a:moveTo>
                <a:cubicBezTo>
                  <a:pt x="5292" y="184869"/>
                  <a:pt x="38207" y="225600"/>
                  <a:pt x="82919" y="241426"/>
                </a:cubicBezTo>
                <a:cubicBezTo>
                  <a:pt x="67238" y="216084"/>
                  <a:pt x="56509" y="177489"/>
                  <a:pt x="54810" y="135933"/>
                </a:cubicBezTo>
                <a:lnTo>
                  <a:pt x="728" y="135933"/>
                </a:lnTo>
                <a:close/>
                <a:moveTo>
                  <a:pt x="194141" y="135933"/>
                </a:moveTo>
                <a:cubicBezTo>
                  <a:pt x="192442" y="177489"/>
                  <a:pt x="181713" y="216084"/>
                  <a:pt x="166032" y="241426"/>
                </a:cubicBezTo>
                <a:cubicBezTo>
                  <a:pt x="210744" y="225551"/>
                  <a:pt x="243659" y="184869"/>
                  <a:pt x="248223" y="135933"/>
                </a:cubicBezTo>
                <a:lnTo>
                  <a:pt x="194141" y="135933"/>
                </a:lnTo>
                <a:close/>
                <a:moveTo>
                  <a:pt x="248223" y="112630"/>
                </a:moveTo>
                <a:cubicBezTo>
                  <a:pt x="243659" y="63694"/>
                  <a:pt x="210744" y="22963"/>
                  <a:pt x="166032" y="7136"/>
                </a:cubicBezTo>
                <a:cubicBezTo>
                  <a:pt x="181713" y="32478"/>
                  <a:pt x="192442" y="71073"/>
                  <a:pt x="194141" y="112630"/>
                </a:cubicBezTo>
                <a:lnTo>
                  <a:pt x="248223" y="11263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Text 31"/>
          <p:cNvSpPr/>
          <p:nvPr/>
        </p:nvSpPr>
        <p:spPr>
          <a:xfrm>
            <a:off x="4887073" y="8103144"/>
            <a:ext cx="1665370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العلامة البيضاء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5688" y="8625125"/>
            <a:ext cx="6437774" cy="323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تراخيص خاصة للبنوك والحكومات.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اقتصاديات الوحدة المربحة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7-d57c8ksjc3fclesbuls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31000" y="1828800"/>
            <a:ext cx="9017000" cy="68072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33400" y="1828800"/>
            <a:ext cx="5994400" cy="2057400"/>
          </a:xfrm>
          <a:custGeom>
            <a:avLst/>
            <a:gdLst/>
            <a:ahLst/>
            <a:cxnLst/>
            <a:rect l="l" t="t" r="r" b="b"/>
            <a:pathLst>
              <a:path w="5994400" h="2057400">
                <a:moveTo>
                  <a:pt x="0" y="0"/>
                </a:moveTo>
                <a:lnTo>
                  <a:pt x="5994400" y="0"/>
                </a:lnTo>
                <a:lnTo>
                  <a:pt x="5994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33400" y="18288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81154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6"/>
          <p:cNvSpPr/>
          <p:nvPr/>
        </p:nvSpPr>
        <p:spPr>
          <a:xfrm>
            <a:off x="5986165" y="21590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67469" y="11906"/>
                </a:moveTo>
                <a:cubicBezTo>
                  <a:pt x="67469" y="5308"/>
                  <a:pt x="72777" y="0"/>
                  <a:pt x="79375" y="0"/>
                </a:cubicBezTo>
                <a:cubicBezTo>
                  <a:pt x="85973" y="0"/>
                  <a:pt x="91281" y="5308"/>
                  <a:pt x="91281" y="11906"/>
                </a:cubicBezTo>
                <a:lnTo>
                  <a:pt x="91281" y="31750"/>
                </a:lnTo>
                <a:lnTo>
                  <a:pt x="119063" y="31750"/>
                </a:lnTo>
                <a:cubicBezTo>
                  <a:pt x="127843" y="31750"/>
                  <a:pt x="134938" y="38844"/>
                  <a:pt x="134938" y="47625"/>
                </a:cubicBezTo>
                <a:cubicBezTo>
                  <a:pt x="134938" y="56406"/>
                  <a:pt x="127843" y="63500"/>
                  <a:pt x="119063" y="63500"/>
                </a:cubicBezTo>
                <a:lnTo>
                  <a:pt x="62061" y="63500"/>
                </a:lnTo>
                <a:cubicBezTo>
                  <a:pt x="49709" y="63500"/>
                  <a:pt x="39688" y="73521"/>
                  <a:pt x="39688" y="85874"/>
                </a:cubicBezTo>
                <a:cubicBezTo>
                  <a:pt x="39688" y="97036"/>
                  <a:pt x="47873" y="106462"/>
                  <a:pt x="58886" y="108049"/>
                </a:cubicBezTo>
                <a:lnTo>
                  <a:pt x="104329" y="114548"/>
                </a:lnTo>
                <a:cubicBezTo>
                  <a:pt x="131018" y="118368"/>
                  <a:pt x="150813" y="141188"/>
                  <a:pt x="150813" y="168126"/>
                </a:cubicBezTo>
                <a:cubicBezTo>
                  <a:pt x="150813" y="198041"/>
                  <a:pt x="126554" y="222250"/>
                  <a:pt x="96689" y="222250"/>
                </a:cubicBezTo>
                <a:lnTo>
                  <a:pt x="91281" y="222250"/>
                </a:lnTo>
                <a:lnTo>
                  <a:pt x="91281" y="242094"/>
                </a:lnTo>
                <a:cubicBezTo>
                  <a:pt x="91281" y="248692"/>
                  <a:pt x="85973" y="254000"/>
                  <a:pt x="79375" y="254000"/>
                </a:cubicBezTo>
                <a:cubicBezTo>
                  <a:pt x="72777" y="254000"/>
                  <a:pt x="67469" y="248692"/>
                  <a:pt x="67469" y="242094"/>
                </a:cubicBezTo>
                <a:lnTo>
                  <a:pt x="67469" y="222250"/>
                </a:lnTo>
                <a:lnTo>
                  <a:pt x="31750" y="222250"/>
                </a:lnTo>
                <a:cubicBezTo>
                  <a:pt x="22969" y="222250"/>
                  <a:pt x="15875" y="215156"/>
                  <a:pt x="15875" y="206375"/>
                </a:cubicBezTo>
                <a:cubicBezTo>
                  <a:pt x="15875" y="197594"/>
                  <a:pt x="22969" y="190500"/>
                  <a:pt x="31750" y="190500"/>
                </a:cubicBezTo>
                <a:lnTo>
                  <a:pt x="96689" y="190500"/>
                </a:lnTo>
                <a:cubicBezTo>
                  <a:pt x="109041" y="190500"/>
                  <a:pt x="119063" y="180479"/>
                  <a:pt x="119063" y="168126"/>
                </a:cubicBezTo>
                <a:cubicBezTo>
                  <a:pt x="119063" y="156964"/>
                  <a:pt x="110877" y="147538"/>
                  <a:pt x="99864" y="145951"/>
                </a:cubicBezTo>
                <a:lnTo>
                  <a:pt x="54421" y="139452"/>
                </a:lnTo>
                <a:cubicBezTo>
                  <a:pt x="27732" y="135682"/>
                  <a:pt x="7938" y="112812"/>
                  <a:pt x="7938" y="85874"/>
                </a:cubicBezTo>
                <a:cubicBezTo>
                  <a:pt x="7938" y="56009"/>
                  <a:pt x="32196" y="31750"/>
                  <a:pt x="62061" y="31750"/>
                </a:cubicBezTo>
                <a:lnTo>
                  <a:pt x="67469" y="31750"/>
                </a:lnTo>
                <a:lnTo>
                  <a:pt x="67469" y="11906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2825254" y="2108200"/>
            <a:ext cx="295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تكلفة اكتساب العميل (CAC)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77792" y="2641600"/>
            <a:ext cx="17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33528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تكلفة منخفضة لاكتساب عميل جديد.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" y="4038600"/>
            <a:ext cx="5994400" cy="2057400"/>
          </a:xfrm>
          <a:custGeom>
            <a:avLst/>
            <a:gdLst/>
            <a:ahLst/>
            <a:cxnLst/>
            <a:rect l="l" t="t" r="r" b="b"/>
            <a:pathLst>
              <a:path w="5994400" h="2057400">
                <a:moveTo>
                  <a:pt x="0" y="0"/>
                </a:moveTo>
                <a:lnTo>
                  <a:pt x="5994400" y="0"/>
                </a:lnTo>
                <a:lnTo>
                  <a:pt x="5994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533400" y="40386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811540" y="424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5938540" y="4368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3608983" y="43180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القيمة الدائمة (LTV)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12655" y="4851400"/>
            <a:ext cx="220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$150K+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55626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قيمة دائمة عالية لكل عميل.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4350" y="6254750"/>
            <a:ext cx="6007100" cy="2159000"/>
          </a:xfrm>
          <a:custGeom>
            <a:avLst/>
            <a:gdLst/>
            <a:ahLst/>
            <a:cxnLst/>
            <a:rect l="l" t="t" r="r" b="b"/>
            <a:pathLst>
              <a:path w="6007100" h="2159000">
                <a:moveTo>
                  <a:pt x="0" y="0"/>
                </a:moveTo>
                <a:lnTo>
                  <a:pt x="6007100" y="0"/>
                </a:lnTo>
                <a:lnTo>
                  <a:pt x="60071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4384675" y="651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19"/>
          <p:cNvSpPr/>
          <p:nvPr/>
        </p:nvSpPr>
        <p:spPr>
          <a:xfrm>
            <a:off x="1028700" y="6464300"/>
            <a:ext cx="535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نسبة LTV:CAC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3400" y="69723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300:1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6750" y="7835900"/>
            <a:ext cx="5702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نموذج اقتصادي جذاب للمستثمرين.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981" y="445981"/>
            <a:ext cx="1545323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kern="0" spc="7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FUNDING 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5981" y="802765"/>
            <a:ext cx="15564730" cy="44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جولة البذرة: 1.5 مليون دولار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915532" y="1382540"/>
            <a:ext cx="891962" cy="44598"/>
          </a:xfrm>
          <a:custGeom>
            <a:avLst/>
            <a:gdLst/>
            <a:ahLst/>
            <a:cxnLst/>
            <a:rect l="l" t="t" r="r" b="b"/>
            <a:pathLst>
              <a:path w="891962" h="44598">
                <a:moveTo>
                  <a:pt x="0" y="0"/>
                </a:moveTo>
                <a:lnTo>
                  <a:pt x="891962" y="0"/>
                </a:lnTo>
                <a:lnTo>
                  <a:pt x="891962" y="44598"/>
                </a:lnTo>
                <a:lnTo>
                  <a:pt x="0" y="44598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980677" y="1611106"/>
            <a:ext cx="6823506" cy="4069575"/>
          </a:xfrm>
          <a:custGeom>
            <a:avLst/>
            <a:gdLst/>
            <a:ahLst/>
            <a:cxnLst/>
            <a:rect l="l" t="t" r="r" b="b"/>
            <a:pathLst>
              <a:path w="6823506" h="4069575">
                <a:moveTo>
                  <a:pt x="0" y="0"/>
                </a:moveTo>
                <a:lnTo>
                  <a:pt x="6823506" y="0"/>
                </a:lnTo>
                <a:lnTo>
                  <a:pt x="6823506" y="4069575"/>
                </a:lnTo>
                <a:lnTo>
                  <a:pt x="0" y="4069575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9108896" y="1795073"/>
            <a:ext cx="6567067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5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تفاصيل التمويل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6943" y="2241053"/>
            <a:ext cx="6433273" cy="1025756"/>
          </a:xfrm>
          <a:custGeom>
            <a:avLst/>
            <a:gdLst/>
            <a:ahLst/>
            <a:cxnLst/>
            <a:rect l="l" t="t" r="r" b="b"/>
            <a:pathLst>
              <a:path w="6433273" h="1025756">
                <a:moveTo>
                  <a:pt x="0" y="0"/>
                </a:moveTo>
                <a:lnTo>
                  <a:pt x="6433273" y="0"/>
                </a:lnTo>
                <a:lnTo>
                  <a:pt x="6433273" y="1025756"/>
                </a:lnTo>
                <a:lnTo>
                  <a:pt x="0" y="10257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6"/>
          <p:cNvSpPr/>
          <p:nvPr/>
        </p:nvSpPr>
        <p:spPr>
          <a:xfrm>
            <a:off x="9186943" y="2241053"/>
            <a:ext cx="44598" cy="1025756"/>
          </a:xfrm>
          <a:custGeom>
            <a:avLst/>
            <a:gdLst/>
            <a:ahLst/>
            <a:cxnLst/>
            <a:rect l="l" t="t" r="r" b="b"/>
            <a:pathLst>
              <a:path w="44598" h="1025756">
                <a:moveTo>
                  <a:pt x="0" y="0"/>
                </a:moveTo>
                <a:lnTo>
                  <a:pt x="44598" y="0"/>
                </a:lnTo>
                <a:lnTo>
                  <a:pt x="44598" y="1025756"/>
                </a:lnTo>
                <a:lnTo>
                  <a:pt x="0" y="1025756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15275104" y="2419446"/>
            <a:ext cx="139369" cy="222990"/>
          </a:xfrm>
          <a:custGeom>
            <a:avLst/>
            <a:gdLst/>
            <a:ahLst/>
            <a:cxnLst/>
            <a:rect l="l" t="t" r="r" b="b"/>
            <a:pathLst>
              <a:path w="139369" h="222990">
                <a:moveTo>
                  <a:pt x="59232" y="10453"/>
                </a:moveTo>
                <a:cubicBezTo>
                  <a:pt x="59232" y="4660"/>
                  <a:pt x="63892" y="0"/>
                  <a:pt x="69684" y="0"/>
                </a:cubicBezTo>
                <a:cubicBezTo>
                  <a:pt x="75477" y="0"/>
                  <a:pt x="80137" y="4660"/>
                  <a:pt x="80137" y="10453"/>
                </a:cubicBezTo>
                <a:lnTo>
                  <a:pt x="80137" y="27874"/>
                </a:lnTo>
                <a:lnTo>
                  <a:pt x="104527" y="27874"/>
                </a:lnTo>
                <a:cubicBezTo>
                  <a:pt x="112236" y="27874"/>
                  <a:pt x="118464" y="34102"/>
                  <a:pt x="118464" y="41811"/>
                </a:cubicBezTo>
                <a:cubicBezTo>
                  <a:pt x="118464" y="49520"/>
                  <a:pt x="112236" y="55748"/>
                  <a:pt x="104527" y="55748"/>
                </a:cubicBezTo>
                <a:lnTo>
                  <a:pt x="54485" y="55748"/>
                </a:lnTo>
                <a:cubicBezTo>
                  <a:pt x="43640" y="55748"/>
                  <a:pt x="34842" y="64545"/>
                  <a:pt x="34842" y="75390"/>
                </a:cubicBezTo>
                <a:cubicBezTo>
                  <a:pt x="34842" y="85189"/>
                  <a:pt x="42028" y="93464"/>
                  <a:pt x="51697" y="94858"/>
                </a:cubicBezTo>
                <a:lnTo>
                  <a:pt x="91592" y="100563"/>
                </a:lnTo>
                <a:cubicBezTo>
                  <a:pt x="115023" y="103917"/>
                  <a:pt x="132401" y="123951"/>
                  <a:pt x="132401" y="147600"/>
                </a:cubicBezTo>
                <a:cubicBezTo>
                  <a:pt x="132401" y="173863"/>
                  <a:pt x="111103" y="195117"/>
                  <a:pt x="84884" y="195117"/>
                </a:cubicBezTo>
                <a:lnTo>
                  <a:pt x="80137" y="195117"/>
                </a:lnTo>
                <a:lnTo>
                  <a:pt x="80137" y="212538"/>
                </a:lnTo>
                <a:cubicBezTo>
                  <a:pt x="80137" y="218330"/>
                  <a:pt x="75477" y="222990"/>
                  <a:pt x="69684" y="222990"/>
                </a:cubicBezTo>
                <a:cubicBezTo>
                  <a:pt x="63892" y="222990"/>
                  <a:pt x="59232" y="218330"/>
                  <a:pt x="59232" y="212538"/>
                </a:cubicBezTo>
                <a:lnTo>
                  <a:pt x="59232" y="195117"/>
                </a:lnTo>
                <a:lnTo>
                  <a:pt x="27874" y="195117"/>
                </a:lnTo>
                <a:cubicBezTo>
                  <a:pt x="20165" y="195117"/>
                  <a:pt x="13937" y="188889"/>
                  <a:pt x="13937" y="181180"/>
                </a:cubicBezTo>
                <a:cubicBezTo>
                  <a:pt x="13937" y="173471"/>
                  <a:pt x="20165" y="167243"/>
                  <a:pt x="27874" y="167243"/>
                </a:cubicBezTo>
                <a:lnTo>
                  <a:pt x="84884" y="167243"/>
                </a:lnTo>
                <a:cubicBezTo>
                  <a:pt x="95729" y="167243"/>
                  <a:pt x="104527" y="158445"/>
                  <a:pt x="104527" y="147600"/>
                </a:cubicBezTo>
                <a:cubicBezTo>
                  <a:pt x="104527" y="137801"/>
                  <a:pt x="97341" y="129526"/>
                  <a:pt x="87672" y="128132"/>
                </a:cubicBezTo>
                <a:lnTo>
                  <a:pt x="47777" y="122427"/>
                </a:lnTo>
                <a:cubicBezTo>
                  <a:pt x="24346" y="119117"/>
                  <a:pt x="6968" y="99039"/>
                  <a:pt x="6968" y="75390"/>
                </a:cubicBezTo>
                <a:cubicBezTo>
                  <a:pt x="6968" y="49171"/>
                  <a:pt x="28266" y="27874"/>
                  <a:pt x="54485" y="27874"/>
                </a:cubicBezTo>
                <a:lnTo>
                  <a:pt x="59232" y="27874"/>
                </a:lnTo>
                <a:lnTo>
                  <a:pt x="59232" y="10453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14001968" y="2374848"/>
            <a:ext cx="1170700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المبلغ المطلوب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43036" y="2731632"/>
            <a:ext cx="6310628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34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$1.5 مليون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86943" y="3356005"/>
            <a:ext cx="6433273" cy="1025756"/>
          </a:xfrm>
          <a:custGeom>
            <a:avLst/>
            <a:gdLst/>
            <a:ahLst/>
            <a:cxnLst/>
            <a:rect l="l" t="t" r="r" b="b"/>
            <a:pathLst>
              <a:path w="6433273" h="1025756">
                <a:moveTo>
                  <a:pt x="0" y="0"/>
                </a:moveTo>
                <a:lnTo>
                  <a:pt x="6433273" y="0"/>
                </a:lnTo>
                <a:lnTo>
                  <a:pt x="6433273" y="1025756"/>
                </a:lnTo>
                <a:lnTo>
                  <a:pt x="0" y="10257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9186943" y="3356005"/>
            <a:ext cx="44598" cy="1025756"/>
          </a:xfrm>
          <a:custGeom>
            <a:avLst/>
            <a:gdLst/>
            <a:ahLst/>
            <a:cxnLst/>
            <a:rect l="l" t="t" r="r" b="b"/>
            <a:pathLst>
              <a:path w="44598" h="1025756">
                <a:moveTo>
                  <a:pt x="0" y="0"/>
                </a:moveTo>
                <a:lnTo>
                  <a:pt x="44598" y="0"/>
                </a:lnTo>
                <a:lnTo>
                  <a:pt x="44598" y="1025756"/>
                </a:lnTo>
                <a:lnTo>
                  <a:pt x="0" y="1025756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15233293" y="3534398"/>
            <a:ext cx="222990" cy="222990"/>
          </a:xfrm>
          <a:custGeom>
            <a:avLst/>
            <a:gdLst/>
            <a:ahLst/>
            <a:cxnLst/>
            <a:rect l="l" t="t" r="r" b="b"/>
            <a:pathLst>
              <a:path w="222990" h="222990">
                <a:moveTo>
                  <a:pt x="13937" y="13937"/>
                </a:moveTo>
                <a:cubicBezTo>
                  <a:pt x="21646" y="13937"/>
                  <a:pt x="27874" y="20165"/>
                  <a:pt x="27874" y="27874"/>
                </a:cubicBezTo>
                <a:lnTo>
                  <a:pt x="27874" y="174211"/>
                </a:lnTo>
                <a:cubicBezTo>
                  <a:pt x="27874" y="178044"/>
                  <a:pt x="31010" y="181180"/>
                  <a:pt x="34842" y="181180"/>
                </a:cubicBezTo>
                <a:lnTo>
                  <a:pt x="209053" y="181180"/>
                </a:lnTo>
                <a:cubicBezTo>
                  <a:pt x="216762" y="181180"/>
                  <a:pt x="222990" y="187408"/>
                  <a:pt x="222990" y="195117"/>
                </a:cubicBezTo>
                <a:cubicBezTo>
                  <a:pt x="222990" y="202825"/>
                  <a:pt x="216762" y="209053"/>
                  <a:pt x="209053" y="209053"/>
                </a:cubicBezTo>
                <a:lnTo>
                  <a:pt x="34842" y="209053"/>
                </a:lnTo>
                <a:cubicBezTo>
                  <a:pt x="15592" y="209053"/>
                  <a:pt x="0" y="193462"/>
                  <a:pt x="0" y="174211"/>
                </a:cubicBezTo>
                <a:lnTo>
                  <a:pt x="0" y="27874"/>
                </a:lnTo>
                <a:cubicBezTo>
                  <a:pt x="0" y="20165"/>
                  <a:pt x="6228" y="13937"/>
                  <a:pt x="13937" y="13937"/>
                </a:cubicBezTo>
                <a:close/>
                <a:moveTo>
                  <a:pt x="55748" y="41811"/>
                </a:moveTo>
                <a:cubicBezTo>
                  <a:pt x="55748" y="34102"/>
                  <a:pt x="61976" y="27874"/>
                  <a:pt x="69684" y="27874"/>
                </a:cubicBezTo>
                <a:lnTo>
                  <a:pt x="153306" y="27874"/>
                </a:lnTo>
                <a:cubicBezTo>
                  <a:pt x="161015" y="27874"/>
                  <a:pt x="167243" y="34102"/>
                  <a:pt x="167243" y="41811"/>
                </a:cubicBezTo>
                <a:cubicBezTo>
                  <a:pt x="167243" y="49520"/>
                  <a:pt x="161015" y="55748"/>
                  <a:pt x="153306" y="55748"/>
                </a:cubicBezTo>
                <a:lnTo>
                  <a:pt x="69684" y="55748"/>
                </a:lnTo>
                <a:cubicBezTo>
                  <a:pt x="61976" y="55748"/>
                  <a:pt x="55748" y="49520"/>
                  <a:pt x="55748" y="41811"/>
                </a:cubicBezTo>
                <a:close/>
                <a:moveTo>
                  <a:pt x="69684" y="76653"/>
                </a:moveTo>
                <a:lnTo>
                  <a:pt x="125432" y="76653"/>
                </a:lnTo>
                <a:cubicBezTo>
                  <a:pt x="133141" y="76653"/>
                  <a:pt x="139369" y="82881"/>
                  <a:pt x="139369" y="90590"/>
                </a:cubicBezTo>
                <a:cubicBezTo>
                  <a:pt x="139369" y="98299"/>
                  <a:pt x="133141" y="104527"/>
                  <a:pt x="125432" y="104527"/>
                </a:cubicBezTo>
                <a:lnTo>
                  <a:pt x="69684" y="104527"/>
                </a:lnTo>
                <a:cubicBezTo>
                  <a:pt x="61976" y="104527"/>
                  <a:pt x="55748" y="98299"/>
                  <a:pt x="55748" y="90590"/>
                </a:cubicBezTo>
                <a:cubicBezTo>
                  <a:pt x="55748" y="82881"/>
                  <a:pt x="61976" y="76653"/>
                  <a:pt x="69684" y="76653"/>
                </a:cubicBezTo>
                <a:close/>
                <a:moveTo>
                  <a:pt x="69684" y="125432"/>
                </a:moveTo>
                <a:lnTo>
                  <a:pt x="181180" y="125432"/>
                </a:lnTo>
                <a:cubicBezTo>
                  <a:pt x="188889" y="125432"/>
                  <a:pt x="195117" y="131660"/>
                  <a:pt x="195117" y="139369"/>
                </a:cubicBezTo>
                <a:cubicBezTo>
                  <a:pt x="195117" y="147078"/>
                  <a:pt x="188889" y="153306"/>
                  <a:pt x="181180" y="153306"/>
                </a:cubicBezTo>
                <a:lnTo>
                  <a:pt x="69684" y="153306"/>
                </a:lnTo>
                <a:cubicBezTo>
                  <a:pt x="61976" y="153306"/>
                  <a:pt x="55748" y="147078"/>
                  <a:pt x="55748" y="139369"/>
                </a:cubicBezTo>
                <a:cubicBezTo>
                  <a:pt x="55748" y="131660"/>
                  <a:pt x="61976" y="125432"/>
                  <a:pt x="69684" y="125432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13547364" y="3489800"/>
            <a:ext cx="1627830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التقييم قبل التمويل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43036" y="3846584"/>
            <a:ext cx="6310628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34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 ملايين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6943" y="4470957"/>
            <a:ext cx="6433273" cy="1025756"/>
          </a:xfrm>
          <a:custGeom>
            <a:avLst/>
            <a:gdLst/>
            <a:ahLst/>
            <a:cxnLst/>
            <a:rect l="l" t="t" r="r" b="b"/>
            <a:pathLst>
              <a:path w="6433273" h="1025756">
                <a:moveTo>
                  <a:pt x="0" y="0"/>
                </a:moveTo>
                <a:lnTo>
                  <a:pt x="6433273" y="0"/>
                </a:lnTo>
                <a:lnTo>
                  <a:pt x="6433273" y="1025756"/>
                </a:lnTo>
                <a:lnTo>
                  <a:pt x="0" y="10257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9186943" y="4470957"/>
            <a:ext cx="44598" cy="1025756"/>
          </a:xfrm>
          <a:custGeom>
            <a:avLst/>
            <a:gdLst/>
            <a:ahLst/>
            <a:cxnLst/>
            <a:rect l="l" t="t" r="r" b="b"/>
            <a:pathLst>
              <a:path w="44598" h="1025756">
                <a:moveTo>
                  <a:pt x="0" y="0"/>
                </a:moveTo>
                <a:lnTo>
                  <a:pt x="44598" y="0"/>
                </a:lnTo>
                <a:lnTo>
                  <a:pt x="44598" y="1025756"/>
                </a:lnTo>
                <a:lnTo>
                  <a:pt x="0" y="1025756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15247230" y="4649350"/>
            <a:ext cx="195117" cy="222990"/>
          </a:xfrm>
          <a:custGeom>
            <a:avLst/>
            <a:gdLst/>
            <a:ahLst/>
            <a:cxnLst/>
            <a:rect l="l" t="t" r="r" b="b"/>
            <a:pathLst>
              <a:path w="195117" h="222990">
                <a:moveTo>
                  <a:pt x="55748" y="0"/>
                </a:moveTo>
                <a:cubicBezTo>
                  <a:pt x="63456" y="0"/>
                  <a:pt x="69684" y="6228"/>
                  <a:pt x="69684" y="13937"/>
                </a:cubicBezTo>
                <a:lnTo>
                  <a:pt x="69684" y="27874"/>
                </a:lnTo>
                <a:lnTo>
                  <a:pt x="125432" y="27874"/>
                </a:lnTo>
                <a:lnTo>
                  <a:pt x="125432" y="13937"/>
                </a:lnTo>
                <a:cubicBezTo>
                  <a:pt x="125432" y="6228"/>
                  <a:pt x="131660" y="0"/>
                  <a:pt x="139369" y="0"/>
                </a:cubicBezTo>
                <a:cubicBezTo>
                  <a:pt x="147078" y="0"/>
                  <a:pt x="153306" y="6228"/>
                  <a:pt x="153306" y="13937"/>
                </a:cubicBezTo>
                <a:lnTo>
                  <a:pt x="153306" y="27874"/>
                </a:lnTo>
                <a:lnTo>
                  <a:pt x="167243" y="27874"/>
                </a:lnTo>
                <a:cubicBezTo>
                  <a:pt x="182617" y="27874"/>
                  <a:pt x="195117" y="40373"/>
                  <a:pt x="195117" y="55748"/>
                </a:cubicBezTo>
                <a:lnTo>
                  <a:pt x="195117" y="181180"/>
                </a:lnTo>
                <a:cubicBezTo>
                  <a:pt x="195117" y="196554"/>
                  <a:pt x="182617" y="209053"/>
                  <a:pt x="167243" y="209053"/>
                </a:cubicBezTo>
                <a:lnTo>
                  <a:pt x="27874" y="209053"/>
                </a:lnTo>
                <a:cubicBezTo>
                  <a:pt x="12500" y="209053"/>
                  <a:pt x="0" y="196554"/>
                  <a:pt x="0" y="181180"/>
                </a:cubicBezTo>
                <a:lnTo>
                  <a:pt x="0" y="55748"/>
                </a:lnTo>
                <a:cubicBezTo>
                  <a:pt x="0" y="40373"/>
                  <a:pt x="12500" y="27874"/>
                  <a:pt x="27874" y="27874"/>
                </a:cubicBezTo>
                <a:lnTo>
                  <a:pt x="41811" y="27874"/>
                </a:lnTo>
                <a:lnTo>
                  <a:pt x="41811" y="13937"/>
                </a:lnTo>
                <a:cubicBezTo>
                  <a:pt x="41811" y="6228"/>
                  <a:pt x="48039" y="0"/>
                  <a:pt x="55748" y="0"/>
                </a:cubicBezTo>
                <a:close/>
                <a:moveTo>
                  <a:pt x="27874" y="104527"/>
                </a:moveTo>
                <a:lnTo>
                  <a:pt x="27874" y="118464"/>
                </a:lnTo>
                <a:cubicBezTo>
                  <a:pt x="27874" y="122296"/>
                  <a:pt x="31010" y="125432"/>
                  <a:pt x="34842" y="125432"/>
                </a:cubicBezTo>
                <a:lnTo>
                  <a:pt x="48779" y="125432"/>
                </a:lnTo>
                <a:cubicBezTo>
                  <a:pt x="52612" y="125432"/>
                  <a:pt x="55748" y="122296"/>
                  <a:pt x="55748" y="118464"/>
                </a:cubicBezTo>
                <a:lnTo>
                  <a:pt x="55748" y="104527"/>
                </a:lnTo>
                <a:cubicBezTo>
                  <a:pt x="55748" y="100694"/>
                  <a:pt x="52612" y="97558"/>
                  <a:pt x="48779" y="97558"/>
                </a:cubicBezTo>
                <a:lnTo>
                  <a:pt x="34842" y="97558"/>
                </a:lnTo>
                <a:cubicBezTo>
                  <a:pt x="31010" y="97558"/>
                  <a:pt x="27874" y="100694"/>
                  <a:pt x="27874" y="104527"/>
                </a:cubicBezTo>
                <a:close/>
                <a:moveTo>
                  <a:pt x="83621" y="104527"/>
                </a:moveTo>
                <a:lnTo>
                  <a:pt x="83621" y="118464"/>
                </a:lnTo>
                <a:cubicBezTo>
                  <a:pt x="83621" y="122296"/>
                  <a:pt x="86757" y="125432"/>
                  <a:pt x="90590" y="125432"/>
                </a:cubicBezTo>
                <a:lnTo>
                  <a:pt x="104527" y="125432"/>
                </a:lnTo>
                <a:cubicBezTo>
                  <a:pt x="108359" y="125432"/>
                  <a:pt x="111495" y="122296"/>
                  <a:pt x="111495" y="118464"/>
                </a:cubicBezTo>
                <a:lnTo>
                  <a:pt x="111495" y="104527"/>
                </a:lnTo>
                <a:cubicBezTo>
                  <a:pt x="111495" y="100694"/>
                  <a:pt x="108359" y="97558"/>
                  <a:pt x="104527" y="97558"/>
                </a:cubicBezTo>
                <a:lnTo>
                  <a:pt x="90590" y="97558"/>
                </a:lnTo>
                <a:cubicBezTo>
                  <a:pt x="86757" y="97558"/>
                  <a:pt x="83621" y="100694"/>
                  <a:pt x="83621" y="104527"/>
                </a:cubicBezTo>
                <a:close/>
                <a:moveTo>
                  <a:pt x="146337" y="97558"/>
                </a:moveTo>
                <a:cubicBezTo>
                  <a:pt x="142505" y="97558"/>
                  <a:pt x="139369" y="100694"/>
                  <a:pt x="139369" y="104527"/>
                </a:cubicBezTo>
                <a:lnTo>
                  <a:pt x="139369" y="118464"/>
                </a:lnTo>
                <a:cubicBezTo>
                  <a:pt x="139369" y="122296"/>
                  <a:pt x="142505" y="125432"/>
                  <a:pt x="146337" y="125432"/>
                </a:cubicBezTo>
                <a:lnTo>
                  <a:pt x="160274" y="125432"/>
                </a:lnTo>
                <a:cubicBezTo>
                  <a:pt x="164107" y="125432"/>
                  <a:pt x="167243" y="122296"/>
                  <a:pt x="167243" y="118464"/>
                </a:cubicBezTo>
                <a:lnTo>
                  <a:pt x="167243" y="104527"/>
                </a:lnTo>
                <a:cubicBezTo>
                  <a:pt x="167243" y="100694"/>
                  <a:pt x="164107" y="97558"/>
                  <a:pt x="160274" y="97558"/>
                </a:cubicBezTo>
                <a:lnTo>
                  <a:pt x="146337" y="97558"/>
                </a:lnTo>
                <a:close/>
                <a:moveTo>
                  <a:pt x="27874" y="160274"/>
                </a:moveTo>
                <a:lnTo>
                  <a:pt x="27874" y="174211"/>
                </a:lnTo>
                <a:cubicBezTo>
                  <a:pt x="27874" y="178044"/>
                  <a:pt x="31010" y="181180"/>
                  <a:pt x="34842" y="181180"/>
                </a:cubicBezTo>
                <a:lnTo>
                  <a:pt x="48779" y="181180"/>
                </a:lnTo>
                <a:cubicBezTo>
                  <a:pt x="52612" y="181180"/>
                  <a:pt x="55748" y="178044"/>
                  <a:pt x="55748" y="174211"/>
                </a:cubicBezTo>
                <a:lnTo>
                  <a:pt x="55748" y="160274"/>
                </a:lnTo>
                <a:cubicBezTo>
                  <a:pt x="55748" y="156442"/>
                  <a:pt x="52612" y="153306"/>
                  <a:pt x="48779" y="153306"/>
                </a:cubicBezTo>
                <a:lnTo>
                  <a:pt x="34842" y="153306"/>
                </a:lnTo>
                <a:cubicBezTo>
                  <a:pt x="31010" y="153306"/>
                  <a:pt x="27874" y="156442"/>
                  <a:pt x="27874" y="160274"/>
                </a:cubicBezTo>
                <a:close/>
                <a:moveTo>
                  <a:pt x="90590" y="153306"/>
                </a:moveTo>
                <a:cubicBezTo>
                  <a:pt x="86757" y="153306"/>
                  <a:pt x="83621" y="156442"/>
                  <a:pt x="83621" y="160274"/>
                </a:cubicBezTo>
                <a:lnTo>
                  <a:pt x="83621" y="174211"/>
                </a:lnTo>
                <a:cubicBezTo>
                  <a:pt x="83621" y="178044"/>
                  <a:pt x="86757" y="181180"/>
                  <a:pt x="90590" y="181180"/>
                </a:cubicBezTo>
                <a:lnTo>
                  <a:pt x="104527" y="181180"/>
                </a:lnTo>
                <a:cubicBezTo>
                  <a:pt x="108359" y="181180"/>
                  <a:pt x="111495" y="178044"/>
                  <a:pt x="111495" y="174211"/>
                </a:cubicBezTo>
                <a:lnTo>
                  <a:pt x="111495" y="160274"/>
                </a:lnTo>
                <a:cubicBezTo>
                  <a:pt x="111495" y="156442"/>
                  <a:pt x="108359" y="153306"/>
                  <a:pt x="104527" y="153306"/>
                </a:cubicBezTo>
                <a:lnTo>
                  <a:pt x="90590" y="153306"/>
                </a:lnTo>
                <a:close/>
                <a:moveTo>
                  <a:pt x="139369" y="160274"/>
                </a:moveTo>
                <a:lnTo>
                  <a:pt x="139369" y="174211"/>
                </a:lnTo>
                <a:cubicBezTo>
                  <a:pt x="139369" y="178044"/>
                  <a:pt x="142505" y="181180"/>
                  <a:pt x="146337" y="181180"/>
                </a:cubicBezTo>
                <a:lnTo>
                  <a:pt x="160274" y="181180"/>
                </a:lnTo>
                <a:cubicBezTo>
                  <a:pt x="164107" y="181180"/>
                  <a:pt x="167243" y="178044"/>
                  <a:pt x="167243" y="174211"/>
                </a:cubicBezTo>
                <a:lnTo>
                  <a:pt x="167243" y="160274"/>
                </a:lnTo>
                <a:cubicBezTo>
                  <a:pt x="167243" y="156442"/>
                  <a:pt x="164107" y="153306"/>
                  <a:pt x="160274" y="153306"/>
                </a:cubicBezTo>
                <a:lnTo>
                  <a:pt x="146337" y="153306"/>
                </a:lnTo>
                <a:cubicBezTo>
                  <a:pt x="142505" y="153306"/>
                  <a:pt x="139369" y="156442"/>
                  <a:pt x="139369" y="160274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13933851" y="4604752"/>
            <a:ext cx="1237597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الهدف للإغلاق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3036" y="4961536"/>
            <a:ext cx="6310628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34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80677" y="5825624"/>
            <a:ext cx="6823506" cy="1059204"/>
          </a:xfrm>
          <a:custGeom>
            <a:avLst/>
            <a:gdLst/>
            <a:ahLst/>
            <a:cxnLst/>
            <a:rect l="l" t="t" r="r" b="b"/>
            <a:pathLst>
              <a:path w="6823506" h="1059204">
                <a:moveTo>
                  <a:pt x="0" y="0"/>
                </a:moveTo>
                <a:lnTo>
                  <a:pt x="6823506" y="0"/>
                </a:lnTo>
                <a:lnTo>
                  <a:pt x="6823506" y="1059204"/>
                </a:lnTo>
                <a:lnTo>
                  <a:pt x="0" y="1059204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15394961" y="6065339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75605" y="100346"/>
                </a:moveTo>
                <a:cubicBezTo>
                  <a:pt x="175605" y="58809"/>
                  <a:pt x="141882" y="25086"/>
                  <a:pt x="100346" y="25086"/>
                </a:cubicBezTo>
                <a:cubicBezTo>
                  <a:pt x="58809" y="25086"/>
                  <a:pt x="25086" y="58809"/>
                  <a:pt x="25086" y="100346"/>
                </a:cubicBezTo>
                <a:cubicBezTo>
                  <a:pt x="25086" y="141882"/>
                  <a:pt x="58809" y="175605"/>
                  <a:pt x="100346" y="175605"/>
                </a:cubicBezTo>
                <a:cubicBezTo>
                  <a:pt x="141882" y="175605"/>
                  <a:pt x="175605" y="141882"/>
                  <a:pt x="175605" y="100346"/>
                </a:cubicBezTo>
                <a:close/>
                <a:moveTo>
                  <a:pt x="0" y="100346"/>
                </a:moveTo>
                <a:cubicBezTo>
                  <a:pt x="0" y="44963"/>
                  <a:pt x="44963" y="0"/>
                  <a:pt x="100346" y="0"/>
                </a:cubicBezTo>
                <a:cubicBezTo>
                  <a:pt x="155728" y="0"/>
                  <a:pt x="200691" y="44963"/>
                  <a:pt x="200691" y="100346"/>
                </a:cubicBezTo>
                <a:cubicBezTo>
                  <a:pt x="200691" y="155728"/>
                  <a:pt x="155728" y="200691"/>
                  <a:pt x="100346" y="200691"/>
                </a:cubicBezTo>
                <a:cubicBezTo>
                  <a:pt x="44963" y="200691"/>
                  <a:pt x="0" y="155728"/>
                  <a:pt x="0" y="100346"/>
                </a:cubicBezTo>
                <a:close/>
                <a:moveTo>
                  <a:pt x="100346" y="131704"/>
                </a:moveTo>
                <a:cubicBezTo>
                  <a:pt x="117653" y="131704"/>
                  <a:pt x="131704" y="117653"/>
                  <a:pt x="131704" y="100346"/>
                </a:cubicBezTo>
                <a:cubicBezTo>
                  <a:pt x="131704" y="83039"/>
                  <a:pt x="117653" y="68988"/>
                  <a:pt x="100346" y="68988"/>
                </a:cubicBezTo>
                <a:cubicBezTo>
                  <a:pt x="83039" y="68988"/>
                  <a:pt x="68988" y="83039"/>
                  <a:pt x="68988" y="100346"/>
                </a:cubicBezTo>
                <a:cubicBezTo>
                  <a:pt x="68988" y="117653"/>
                  <a:pt x="83039" y="131704"/>
                  <a:pt x="100346" y="131704"/>
                </a:cubicBezTo>
                <a:close/>
                <a:moveTo>
                  <a:pt x="100346" y="43901"/>
                </a:moveTo>
                <a:cubicBezTo>
                  <a:pt x="131498" y="43901"/>
                  <a:pt x="156790" y="69193"/>
                  <a:pt x="156790" y="100346"/>
                </a:cubicBezTo>
                <a:cubicBezTo>
                  <a:pt x="156790" y="131498"/>
                  <a:pt x="131498" y="156790"/>
                  <a:pt x="100346" y="156790"/>
                </a:cubicBezTo>
                <a:cubicBezTo>
                  <a:pt x="69193" y="156790"/>
                  <a:pt x="43901" y="131498"/>
                  <a:pt x="43901" y="100346"/>
                </a:cubicBezTo>
                <a:cubicBezTo>
                  <a:pt x="43901" y="69193"/>
                  <a:pt x="69193" y="43901"/>
                  <a:pt x="100346" y="43901"/>
                </a:cubicBezTo>
                <a:close/>
                <a:moveTo>
                  <a:pt x="87802" y="100346"/>
                </a:moveTo>
                <a:cubicBezTo>
                  <a:pt x="87802" y="93423"/>
                  <a:pt x="93423" y="87802"/>
                  <a:pt x="100346" y="87802"/>
                </a:cubicBezTo>
                <a:cubicBezTo>
                  <a:pt x="107268" y="87802"/>
                  <a:pt x="112889" y="93423"/>
                  <a:pt x="112889" y="100346"/>
                </a:cubicBezTo>
                <a:cubicBezTo>
                  <a:pt x="112889" y="107268"/>
                  <a:pt x="107268" y="112889"/>
                  <a:pt x="100346" y="112889"/>
                </a:cubicBezTo>
                <a:cubicBezTo>
                  <a:pt x="93423" y="112889"/>
                  <a:pt x="87802" y="107268"/>
                  <a:pt x="87802" y="100346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9421083" y="6009591"/>
            <a:ext cx="6299479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الفرصة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64644" y="6410974"/>
            <a:ext cx="6544768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استثمار مبكر في سوق بقيمة 3.7 تريليون دولار.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0279" y="1611106"/>
            <a:ext cx="7748743" cy="7230462"/>
          </a:xfrm>
          <a:custGeom>
            <a:avLst/>
            <a:gdLst/>
            <a:ahLst/>
            <a:cxnLst/>
            <a:rect l="l" t="t" r="r" b="b"/>
            <a:pathLst>
              <a:path w="8339841" h="8350990">
                <a:moveTo>
                  <a:pt x="0" y="0"/>
                </a:moveTo>
                <a:lnTo>
                  <a:pt x="8339841" y="0"/>
                </a:lnTo>
                <a:lnTo>
                  <a:pt x="8339841" y="8350990"/>
                </a:lnTo>
                <a:lnTo>
                  <a:pt x="0" y="835099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13224" y="1839671"/>
            <a:ext cx="8016505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0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توزيع استخدام الأموال</a:t>
            </a:r>
            <a:endParaRPr lang="en-US" sz="1600" dirty="0"/>
          </a:p>
        </p:txBody>
      </p:sp>
      <p:pic>
        <p:nvPicPr>
          <p:cNvPr id="28" name="Image 0" descr="https://kimi-img.moonshot.cn/pub/slides/25-12-27-01:22:27-d57c8kte09n4naio7ll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5438" y="2306588"/>
            <a:ext cx="6790058" cy="3902332"/>
          </a:xfrm>
          <a:prstGeom prst="roundRect">
            <a:avLst>
              <a:gd name="adj" fmla="val 0"/>
            </a:avLst>
          </a:prstGeom>
        </p:spPr>
      </p:pic>
      <p:sp>
        <p:nvSpPr>
          <p:cNvPr id="29" name="Shape 26"/>
          <p:cNvSpPr/>
          <p:nvPr/>
        </p:nvSpPr>
        <p:spPr>
          <a:xfrm>
            <a:off x="4688286" y="6455572"/>
            <a:ext cx="3868883" cy="758167"/>
          </a:xfrm>
          <a:custGeom>
            <a:avLst/>
            <a:gdLst/>
            <a:ahLst/>
            <a:cxnLst/>
            <a:rect l="l" t="t" r="r" b="b"/>
            <a:pathLst>
              <a:path w="3868883" h="758167">
                <a:moveTo>
                  <a:pt x="0" y="0"/>
                </a:moveTo>
                <a:lnTo>
                  <a:pt x="3868883" y="0"/>
                </a:lnTo>
                <a:lnTo>
                  <a:pt x="3868883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Shape 27"/>
          <p:cNvSpPr/>
          <p:nvPr/>
        </p:nvSpPr>
        <p:spPr>
          <a:xfrm>
            <a:off x="4688286" y="6455572"/>
            <a:ext cx="44598" cy="758167"/>
          </a:xfrm>
          <a:custGeom>
            <a:avLst/>
            <a:gdLst/>
            <a:ahLst/>
            <a:cxnLst/>
            <a:rect l="l" t="t" r="r" b="b"/>
            <a:pathLst>
              <a:path w="44598" h="758167">
                <a:moveTo>
                  <a:pt x="0" y="0"/>
                </a:moveTo>
                <a:lnTo>
                  <a:pt x="44598" y="0"/>
                </a:lnTo>
                <a:lnTo>
                  <a:pt x="44598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8"/>
          <p:cNvSpPr/>
          <p:nvPr/>
        </p:nvSpPr>
        <p:spPr>
          <a:xfrm>
            <a:off x="8237840" y="6734310"/>
            <a:ext cx="225778" cy="200691"/>
          </a:xfrm>
          <a:custGeom>
            <a:avLst/>
            <a:gdLst/>
            <a:ahLst/>
            <a:cxnLst/>
            <a:rect l="l" t="t" r="r" b="b"/>
            <a:pathLst>
              <a:path w="225778" h="200691">
                <a:moveTo>
                  <a:pt x="141425" y="470"/>
                </a:moveTo>
                <a:cubicBezTo>
                  <a:pt x="134761" y="-1450"/>
                  <a:pt x="127823" y="2430"/>
                  <a:pt x="125902" y="9094"/>
                </a:cubicBezTo>
                <a:lnTo>
                  <a:pt x="75730" y="184699"/>
                </a:lnTo>
                <a:cubicBezTo>
                  <a:pt x="73809" y="191362"/>
                  <a:pt x="77690" y="198300"/>
                  <a:pt x="84353" y="200221"/>
                </a:cubicBezTo>
                <a:cubicBezTo>
                  <a:pt x="91017" y="202142"/>
                  <a:pt x="97955" y="198261"/>
                  <a:pt x="99875" y="191598"/>
                </a:cubicBezTo>
                <a:lnTo>
                  <a:pt x="150048" y="15993"/>
                </a:lnTo>
                <a:cubicBezTo>
                  <a:pt x="151969" y="9329"/>
                  <a:pt x="148088" y="2391"/>
                  <a:pt x="141425" y="470"/>
                </a:cubicBezTo>
                <a:close/>
                <a:moveTo>
                  <a:pt x="166746" y="53818"/>
                </a:moveTo>
                <a:cubicBezTo>
                  <a:pt x="161847" y="58718"/>
                  <a:pt x="161847" y="66675"/>
                  <a:pt x="166746" y="71575"/>
                </a:cubicBezTo>
                <a:lnTo>
                  <a:pt x="195517" y="100346"/>
                </a:lnTo>
                <a:lnTo>
                  <a:pt x="166746" y="129117"/>
                </a:lnTo>
                <a:cubicBezTo>
                  <a:pt x="161847" y="134016"/>
                  <a:pt x="161847" y="141973"/>
                  <a:pt x="166746" y="146873"/>
                </a:cubicBezTo>
                <a:cubicBezTo>
                  <a:pt x="171646" y="151773"/>
                  <a:pt x="179603" y="151773"/>
                  <a:pt x="184503" y="146873"/>
                </a:cubicBezTo>
                <a:lnTo>
                  <a:pt x="222132" y="109244"/>
                </a:lnTo>
                <a:cubicBezTo>
                  <a:pt x="227032" y="104344"/>
                  <a:pt x="227032" y="96387"/>
                  <a:pt x="222132" y="91487"/>
                </a:cubicBezTo>
                <a:lnTo>
                  <a:pt x="184503" y="53857"/>
                </a:lnTo>
                <a:cubicBezTo>
                  <a:pt x="179603" y="48958"/>
                  <a:pt x="171646" y="48958"/>
                  <a:pt x="166746" y="53857"/>
                </a:cubicBezTo>
                <a:close/>
                <a:moveTo>
                  <a:pt x="59071" y="53818"/>
                </a:moveTo>
                <a:cubicBezTo>
                  <a:pt x="54171" y="48919"/>
                  <a:pt x="46214" y="48919"/>
                  <a:pt x="41314" y="53818"/>
                </a:cubicBezTo>
                <a:lnTo>
                  <a:pt x="3685" y="91448"/>
                </a:lnTo>
                <a:cubicBezTo>
                  <a:pt x="-1215" y="96348"/>
                  <a:pt x="-1215" y="104305"/>
                  <a:pt x="3685" y="109204"/>
                </a:cubicBezTo>
                <a:lnTo>
                  <a:pt x="41314" y="146834"/>
                </a:lnTo>
                <a:cubicBezTo>
                  <a:pt x="46214" y="151734"/>
                  <a:pt x="54171" y="151734"/>
                  <a:pt x="59071" y="146834"/>
                </a:cubicBezTo>
                <a:cubicBezTo>
                  <a:pt x="63970" y="141934"/>
                  <a:pt x="63970" y="133977"/>
                  <a:pt x="59071" y="129077"/>
                </a:cubicBezTo>
                <a:lnTo>
                  <a:pt x="30300" y="100346"/>
                </a:lnTo>
                <a:lnTo>
                  <a:pt x="59031" y="71575"/>
                </a:lnTo>
                <a:cubicBezTo>
                  <a:pt x="63931" y="66675"/>
                  <a:pt x="63931" y="58718"/>
                  <a:pt x="59031" y="53818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29"/>
          <p:cNvSpPr/>
          <p:nvPr/>
        </p:nvSpPr>
        <p:spPr>
          <a:xfrm>
            <a:off x="6787793" y="6544768"/>
            <a:ext cx="1449438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الهندسة: $600K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87793" y="6856955"/>
            <a:ext cx="143828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02420" y="6455572"/>
            <a:ext cx="3868883" cy="758167"/>
          </a:xfrm>
          <a:custGeom>
            <a:avLst/>
            <a:gdLst/>
            <a:ahLst/>
            <a:cxnLst/>
            <a:rect l="l" t="t" r="r" b="b"/>
            <a:pathLst>
              <a:path w="3868883" h="758167">
                <a:moveTo>
                  <a:pt x="0" y="0"/>
                </a:moveTo>
                <a:lnTo>
                  <a:pt x="3868883" y="0"/>
                </a:lnTo>
                <a:lnTo>
                  <a:pt x="3868883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Shape 32"/>
          <p:cNvSpPr/>
          <p:nvPr/>
        </p:nvSpPr>
        <p:spPr>
          <a:xfrm>
            <a:off x="702420" y="6455572"/>
            <a:ext cx="44598" cy="758167"/>
          </a:xfrm>
          <a:custGeom>
            <a:avLst/>
            <a:gdLst/>
            <a:ahLst/>
            <a:cxnLst/>
            <a:rect l="l" t="t" r="r" b="b"/>
            <a:pathLst>
              <a:path w="44598" h="758167">
                <a:moveTo>
                  <a:pt x="0" y="0"/>
                </a:moveTo>
                <a:lnTo>
                  <a:pt x="44598" y="0"/>
                </a:lnTo>
                <a:lnTo>
                  <a:pt x="44598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Shape 33"/>
          <p:cNvSpPr/>
          <p:nvPr/>
        </p:nvSpPr>
        <p:spPr>
          <a:xfrm>
            <a:off x="4264604" y="6734310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50173" y="125432"/>
                </a:moveTo>
                <a:lnTo>
                  <a:pt x="9603" y="125432"/>
                </a:lnTo>
                <a:cubicBezTo>
                  <a:pt x="-157" y="125432"/>
                  <a:pt x="-6154" y="114810"/>
                  <a:pt x="-1137" y="106421"/>
                </a:cubicBezTo>
                <a:lnTo>
                  <a:pt x="19599" y="71849"/>
                </a:lnTo>
                <a:cubicBezTo>
                  <a:pt x="23009" y="66165"/>
                  <a:pt x="29124" y="62716"/>
                  <a:pt x="35748" y="62716"/>
                </a:cubicBezTo>
                <a:lnTo>
                  <a:pt x="72986" y="62716"/>
                </a:lnTo>
                <a:cubicBezTo>
                  <a:pt x="102815" y="12190"/>
                  <a:pt x="147304" y="9643"/>
                  <a:pt x="177055" y="13994"/>
                </a:cubicBezTo>
                <a:cubicBezTo>
                  <a:pt x="182073" y="14738"/>
                  <a:pt x="185992" y="18658"/>
                  <a:pt x="186698" y="23636"/>
                </a:cubicBezTo>
                <a:cubicBezTo>
                  <a:pt x="191049" y="53387"/>
                  <a:pt x="188501" y="97876"/>
                  <a:pt x="137975" y="127706"/>
                </a:cubicBezTo>
                <a:lnTo>
                  <a:pt x="137975" y="164943"/>
                </a:lnTo>
                <a:cubicBezTo>
                  <a:pt x="137975" y="171568"/>
                  <a:pt x="134526" y="177682"/>
                  <a:pt x="128842" y="181093"/>
                </a:cubicBezTo>
                <a:lnTo>
                  <a:pt x="94270" y="201828"/>
                </a:lnTo>
                <a:cubicBezTo>
                  <a:pt x="85921" y="206845"/>
                  <a:pt x="75259" y="200809"/>
                  <a:pt x="75259" y="191088"/>
                </a:cubicBezTo>
                <a:lnTo>
                  <a:pt x="75259" y="150519"/>
                </a:lnTo>
                <a:cubicBezTo>
                  <a:pt x="75259" y="136682"/>
                  <a:pt x="64010" y="125432"/>
                  <a:pt x="50173" y="125432"/>
                </a:cubicBezTo>
                <a:lnTo>
                  <a:pt x="50134" y="125432"/>
                </a:lnTo>
                <a:close/>
                <a:moveTo>
                  <a:pt x="156790" y="62716"/>
                </a:moveTo>
                <a:cubicBezTo>
                  <a:pt x="156790" y="52332"/>
                  <a:pt x="148359" y="43901"/>
                  <a:pt x="137975" y="43901"/>
                </a:cubicBezTo>
                <a:cubicBezTo>
                  <a:pt x="127591" y="43901"/>
                  <a:pt x="119160" y="52332"/>
                  <a:pt x="119160" y="62716"/>
                </a:cubicBezTo>
                <a:cubicBezTo>
                  <a:pt x="119160" y="73100"/>
                  <a:pt x="127591" y="81531"/>
                  <a:pt x="137975" y="81531"/>
                </a:cubicBezTo>
                <a:cubicBezTo>
                  <a:pt x="148359" y="81531"/>
                  <a:pt x="156790" y="73100"/>
                  <a:pt x="156790" y="62716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Text 34"/>
          <p:cNvSpPr/>
          <p:nvPr/>
        </p:nvSpPr>
        <p:spPr>
          <a:xfrm>
            <a:off x="2317445" y="6544768"/>
            <a:ext cx="1928867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الذهاب للسوق: $400K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317445" y="6856955"/>
            <a:ext cx="1917717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27%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688286" y="7302936"/>
            <a:ext cx="3868883" cy="758167"/>
          </a:xfrm>
          <a:custGeom>
            <a:avLst/>
            <a:gdLst/>
            <a:ahLst/>
            <a:cxnLst/>
            <a:rect l="l" t="t" r="r" b="b"/>
            <a:pathLst>
              <a:path w="3868883" h="758167">
                <a:moveTo>
                  <a:pt x="0" y="0"/>
                </a:moveTo>
                <a:lnTo>
                  <a:pt x="3868883" y="0"/>
                </a:lnTo>
                <a:lnTo>
                  <a:pt x="3868883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0" name="Shape 37"/>
          <p:cNvSpPr/>
          <p:nvPr/>
        </p:nvSpPr>
        <p:spPr>
          <a:xfrm>
            <a:off x="4688286" y="7302936"/>
            <a:ext cx="44598" cy="758167"/>
          </a:xfrm>
          <a:custGeom>
            <a:avLst/>
            <a:gdLst/>
            <a:ahLst/>
            <a:cxnLst/>
            <a:rect l="l" t="t" r="r" b="b"/>
            <a:pathLst>
              <a:path w="44598" h="758167">
                <a:moveTo>
                  <a:pt x="0" y="0"/>
                </a:moveTo>
                <a:lnTo>
                  <a:pt x="44598" y="0"/>
                </a:lnTo>
                <a:lnTo>
                  <a:pt x="44598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1" name="Shape 38"/>
          <p:cNvSpPr/>
          <p:nvPr/>
        </p:nvSpPr>
        <p:spPr>
          <a:xfrm>
            <a:off x="8250383" y="7581674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0"/>
                </a:moveTo>
                <a:cubicBezTo>
                  <a:pt x="102149" y="0"/>
                  <a:pt x="103952" y="392"/>
                  <a:pt x="105598" y="1137"/>
                </a:cubicBezTo>
                <a:lnTo>
                  <a:pt x="179446" y="32456"/>
                </a:lnTo>
                <a:cubicBezTo>
                  <a:pt x="188070" y="36101"/>
                  <a:pt x="194498" y="44607"/>
                  <a:pt x="194459" y="54877"/>
                </a:cubicBezTo>
                <a:cubicBezTo>
                  <a:pt x="194263" y="93760"/>
                  <a:pt x="178270" y="164904"/>
                  <a:pt x="110733" y="197242"/>
                </a:cubicBezTo>
                <a:cubicBezTo>
                  <a:pt x="104187" y="200378"/>
                  <a:pt x="96583" y="200378"/>
                  <a:pt x="90037" y="197242"/>
                </a:cubicBezTo>
                <a:cubicBezTo>
                  <a:pt x="22460" y="164904"/>
                  <a:pt x="6507" y="93760"/>
                  <a:pt x="6311" y="54877"/>
                </a:cubicBezTo>
                <a:cubicBezTo>
                  <a:pt x="6272" y="44607"/>
                  <a:pt x="12700" y="36101"/>
                  <a:pt x="21323" y="32456"/>
                </a:cubicBezTo>
                <a:lnTo>
                  <a:pt x="95132" y="1137"/>
                </a:lnTo>
                <a:cubicBezTo>
                  <a:pt x="96779" y="392"/>
                  <a:pt x="98543" y="0"/>
                  <a:pt x="100346" y="0"/>
                </a:cubicBezTo>
                <a:close/>
                <a:moveTo>
                  <a:pt x="100346" y="26184"/>
                </a:moveTo>
                <a:lnTo>
                  <a:pt x="100346" y="174390"/>
                </a:lnTo>
                <a:cubicBezTo>
                  <a:pt x="154438" y="148206"/>
                  <a:pt x="168981" y="90194"/>
                  <a:pt x="169333" y="55465"/>
                </a:cubicBezTo>
                <a:lnTo>
                  <a:pt x="100346" y="26223"/>
                </a:lnTo>
                <a:lnTo>
                  <a:pt x="100346" y="26223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39"/>
          <p:cNvSpPr/>
          <p:nvPr/>
        </p:nvSpPr>
        <p:spPr>
          <a:xfrm>
            <a:off x="6832217" y="7392132"/>
            <a:ext cx="1404840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الامتثال: $200K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32217" y="7704318"/>
            <a:ext cx="139369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13%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02420" y="7302936"/>
            <a:ext cx="3868883" cy="758167"/>
          </a:xfrm>
          <a:custGeom>
            <a:avLst/>
            <a:gdLst/>
            <a:ahLst/>
            <a:cxnLst/>
            <a:rect l="l" t="t" r="r" b="b"/>
            <a:pathLst>
              <a:path w="3868883" h="758167">
                <a:moveTo>
                  <a:pt x="0" y="0"/>
                </a:moveTo>
                <a:lnTo>
                  <a:pt x="3868883" y="0"/>
                </a:lnTo>
                <a:lnTo>
                  <a:pt x="3868883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5" name="Shape 42"/>
          <p:cNvSpPr/>
          <p:nvPr/>
        </p:nvSpPr>
        <p:spPr>
          <a:xfrm>
            <a:off x="702420" y="7302936"/>
            <a:ext cx="44598" cy="758167"/>
          </a:xfrm>
          <a:custGeom>
            <a:avLst/>
            <a:gdLst/>
            <a:ahLst/>
            <a:cxnLst/>
            <a:rect l="l" t="t" r="r" b="b"/>
            <a:pathLst>
              <a:path w="44598" h="758167">
                <a:moveTo>
                  <a:pt x="0" y="0"/>
                </a:moveTo>
                <a:lnTo>
                  <a:pt x="44598" y="0"/>
                </a:lnTo>
                <a:lnTo>
                  <a:pt x="44598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6" name="Shape 43"/>
          <p:cNvSpPr/>
          <p:nvPr/>
        </p:nvSpPr>
        <p:spPr>
          <a:xfrm>
            <a:off x="4239518" y="7581674"/>
            <a:ext cx="250864" cy="200691"/>
          </a:xfrm>
          <a:custGeom>
            <a:avLst/>
            <a:gdLst/>
            <a:ahLst/>
            <a:cxnLst/>
            <a:rect l="l" t="t" r="r" b="b"/>
            <a:pathLst>
              <a:path w="250864" h="200691">
                <a:moveTo>
                  <a:pt x="163023" y="82511"/>
                </a:moveTo>
                <a:cubicBezTo>
                  <a:pt x="167805" y="81217"/>
                  <a:pt x="172822" y="83491"/>
                  <a:pt x="174978" y="87920"/>
                </a:cubicBezTo>
                <a:lnTo>
                  <a:pt x="182269" y="102658"/>
                </a:lnTo>
                <a:cubicBezTo>
                  <a:pt x="186306" y="103207"/>
                  <a:pt x="190265" y="104305"/>
                  <a:pt x="193989" y="105833"/>
                </a:cubicBezTo>
                <a:lnTo>
                  <a:pt x="207708" y="96700"/>
                </a:lnTo>
                <a:cubicBezTo>
                  <a:pt x="211823" y="93956"/>
                  <a:pt x="217272" y="94505"/>
                  <a:pt x="220760" y="97994"/>
                </a:cubicBezTo>
                <a:lnTo>
                  <a:pt x="228286" y="105520"/>
                </a:lnTo>
                <a:cubicBezTo>
                  <a:pt x="231775" y="109008"/>
                  <a:pt x="232324" y="114496"/>
                  <a:pt x="229580" y="118573"/>
                </a:cubicBezTo>
                <a:lnTo>
                  <a:pt x="220447" y="132252"/>
                </a:lnTo>
                <a:cubicBezTo>
                  <a:pt x="221192" y="134095"/>
                  <a:pt x="221858" y="136015"/>
                  <a:pt x="222407" y="138015"/>
                </a:cubicBezTo>
                <a:cubicBezTo>
                  <a:pt x="222956" y="140014"/>
                  <a:pt x="223308" y="141973"/>
                  <a:pt x="223583" y="143973"/>
                </a:cubicBezTo>
                <a:lnTo>
                  <a:pt x="238360" y="151263"/>
                </a:lnTo>
                <a:cubicBezTo>
                  <a:pt x="242790" y="153458"/>
                  <a:pt x="245063" y="158476"/>
                  <a:pt x="243769" y="163219"/>
                </a:cubicBezTo>
                <a:lnTo>
                  <a:pt x="241026" y="173488"/>
                </a:lnTo>
                <a:cubicBezTo>
                  <a:pt x="239732" y="178231"/>
                  <a:pt x="235303" y="181445"/>
                  <a:pt x="230364" y="181132"/>
                </a:cubicBezTo>
                <a:lnTo>
                  <a:pt x="213901" y="180073"/>
                </a:lnTo>
                <a:cubicBezTo>
                  <a:pt x="211431" y="183248"/>
                  <a:pt x="208570" y="186188"/>
                  <a:pt x="205317" y="188697"/>
                </a:cubicBezTo>
                <a:lnTo>
                  <a:pt x="206375" y="205121"/>
                </a:lnTo>
                <a:cubicBezTo>
                  <a:pt x="206689" y="210060"/>
                  <a:pt x="203474" y="214528"/>
                  <a:pt x="198731" y="215782"/>
                </a:cubicBezTo>
                <a:lnTo>
                  <a:pt x="188462" y="218526"/>
                </a:lnTo>
                <a:cubicBezTo>
                  <a:pt x="183680" y="219820"/>
                  <a:pt x="178702" y="217546"/>
                  <a:pt x="176506" y="213117"/>
                </a:cubicBezTo>
                <a:lnTo>
                  <a:pt x="169216" y="198379"/>
                </a:lnTo>
                <a:cubicBezTo>
                  <a:pt x="165178" y="197830"/>
                  <a:pt x="161219" y="196732"/>
                  <a:pt x="157496" y="195204"/>
                </a:cubicBezTo>
                <a:lnTo>
                  <a:pt x="143777" y="204337"/>
                </a:lnTo>
                <a:cubicBezTo>
                  <a:pt x="139661" y="207081"/>
                  <a:pt x="134212" y="206532"/>
                  <a:pt x="130724" y="203043"/>
                </a:cubicBezTo>
                <a:lnTo>
                  <a:pt x="123198" y="195517"/>
                </a:lnTo>
                <a:cubicBezTo>
                  <a:pt x="119709" y="192029"/>
                  <a:pt x="119160" y="186580"/>
                  <a:pt x="121904" y="182465"/>
                </a:cubicBezTo>
                <a:lnTo>
                  <a:pt x="131037" y="168745"/>
                </a:lnTo>
                <a:cubicBezTo>
                  <a:pt x="130293" y="166903"/>
                  <a:pt x="129626" y="164982"/>
                  <a:pt x="129077" y="162983"/>
                </a:cubicBezTo>
                <a:cubicBezTo>
                  <a:pt x="128529" y="160984"/>
                  <a:pt x="128176" y="158985"/>
                  <a:pt x="127902" y="157025"/>
                </a:cubicBezTo>
                <a:lnTo>
                  <a:pt x="113124" y="149735"/>
                </a:lnTo>
                <a:cubicBezTo>
                  <a:pt x="108695" y="147540"/>
                  <a:pt x="106460" y="142522"/>
                  <a:pt x="107715" y="137779"/>
                </a:cubicBezTo>
                <a:lnTo>
                  <a:pt x="110459" y="127510"/>
                </a:lnTo>
                <a:cubicBezTo>
                  <a:pt x="111752" y="122767"/>
                  <a:pt x="116181" y="119552"/>
                  <a:pt x="121120" y="119866"/>
                </a:cubicBezTo>
                <a:lnTo>
                  <a:pt x="137544" y="120924"/>
                </a:lnTo>
                <a:cubicBezTo>
                  <a:pt x="140014" y="117749"/>
                  <a:pt x="142875" y="114810"/>
                  <a:pt x="146128" y="112301"/>
                </a:cubicBezTo>
                <a:lnTo>
                  <a:pt x="145070" y="95916"/>
                </a:lnTo>
                <a:cubicBezTo>
                  <a:pt x="144756" y="90977"/>
                  <a:pt x="147971" y="86509"/>
                  <a:pt x="152714" y="85255"/>
                </a:cubicBezTo>
                <a:lnTo>
                  <a:pt x="162983" y="82511"/>
                </a:lnTo>
                <a:close/>
                <a:moveTo>
                  <a:pt x="175762" y="133272"/>
                </a:moveTo>
                <a:cubicBezTo>
                  <a:pt x="166243" y="133282"/>
                  <a:pt x="158524" y="141019"/>
                  <a:pt x="158534" y="150538"/>
                </a:cubicBezTo>
                <a:cubicBezTo>
                  <a:pt x="158545" y="160057"/>
                  <a:pt x="166282" y="167776"/>
                  <a:pt x="175801" y="167765"/>
                </a:cubicBezTo>
                <a:cubicBezTo>
                  <a:pt x="185320" y="167755"/>
                  <a:pt x="193039" y="160018"/>
                  <a:pt x="193028" y="150499"/>
                </a:cubicBezTo>
                <a:cubicBezTo>
                  <a:pt x="193017" y="140980"/>
                  <a:pt x="185281" y="133261"/>
                  <a:pt x="175762" y="133272"/>
                </a:cubicBezTo>
                <a:close/>
                <a:moveTo>
                  <a:pt x="88155" y="-17835"/>
                </a:moveTo>
                <a:lnTo>
                  <a:pt x="98425" y="-15091"/>
                </a:lnTo>
                <a:cubicBezTo>
                  <a:pt x="103168" y="-13798"/>
                  <a:pt x="106382" y="-9329"/>
                  <a:pt x="106069" y="-4429"/>
                </a:cubicBezTo>
                <a:lnTo>
                  <a:pt x="105010" y="11955"/>
                </a:lnTo>
                <a:cubicBezTo>
                  <a:pt x="108264" y="14464"/>
                  <a:pt x="111125" y="17365"/>
                  <a:pt x="113594" y="20579"/>
                </a:cubicBezTo>
                <a:lnTo>
                  <a:pt x="130057" y="19520"/>
                </a:lnTo>
                <a:cubicBezTo>
                  <a:pt x="134957" y="19207"/>
                  <a:pt x="139426" y="22421"/>
                  <a:pt x="140719" y="27164"/>
                </a:cubicBezTo>
                <a:lnTo>
                  <a:pt x="143463" y="37434"/>
                </a:lnTo>
                <a:cubicBezTo>
                  <a:pt x="144717" y="42177"/>
                  <a:pt x="142483" y="47194"/>
                  <a:pt x="138054" y="49389"/>
                </a:cubicBezTo>
                <a:lnTo>
                  <a:pt x="123276" y="56680"/>
                </a:lnTo>
                <a:cubicBezTo>
                  <a:pt x="123002" y="58679"/>
                  <a:pt x="122610" y="60678"/>
                  <a:pt x="122100" y="62638"/>
                </a:cubicBezTo>
                <a:cubicBezTo>
                  <a:pt x="121591" y="64598"/>
                  <a:pt x="120885" y="66557"/>
                  <a:pt x="120140" y="68400"/>
                </a:cubicBezTo>
                <a:lnTo>
                  <a:pt x="129273" y="82119"/>
                </a:lnTo>
                <a:cubicBezTo>
                  <a:pt x="132017" y="86235"/>
                  <a:pt x="131469" y="91683"/>
                  <a:pt x="127980" y="95172"/>
                </a:cubicBezTo>
                <a:lnTo>
                  <a:pt x="120454" y="102698"/>
                </a:lnTo>
                <a:cubicBezTo>
                  <a:pt x="116965" y="106186"/>
                  <a:pt x="111517" y="106735"/>
                  <a:pt x="107401" y="103991"/>
                </a:cubicBezTo>
                <a:lnTo>
                  <a:pt x="93682" y="94858"/>
                </a:lnTo>
                <a:cubicBezTo>
                  <a:pt x="89958" y="96387"/>
                  <a:pt x="85999" y="97484"/>
                  <a:pt x="81962" y="98033"/>
                </a:cubicBezTo>
                <a:lnTo>
                  <a:pt x="74671" y="112771"/>
                </a:lnTo>
                <a:cubicBezTo>
                  <a:pt x="72476" y="117201"/>
                  <a:pt x="67459" y="119435"/>
                  <a:pt x="62716" y="118181"/>
                </a:cubicBezTo>
                <a:lnTo>
                  <a:pt x="52446" y="115437"/>
                </a:lnTo>
                <a:cubicBezTo>
                  <a:pt x="47664" y="114143"/>
                  <a:pt x="44489" y="109675"/>
                  <a:pt x="44803" y="104775"/>
                </a:cubicBezTo>
                <a:lnTo>
                  <a:pt x="45861" y="88351"/>
                </a:lnTo>
                <a:cubicBezTo>
                  <a:pt x="42608" y="85843"/>
                  <a:pt x="39746" y="82942"/>
                  <a:pt x="37277" y="79728"/>
                </a:cubicBezTo>
                <a:lnTo>
                  <a:pt x="20814" y="80786"/>
                </a:lnTo>
                <a:cubicBezTo>
                  <a:pt x="15914" y="81100"/>
                  <a:pt x="11446" y="77885"/>
                  <a:pt x="10152" y="73143"/>
                </a:cubicBezTo>
                <a:lnTo>
                  <a:pt x="7408" y="62873"/>
                </a:lnTo>
                <a:cubicBezTo>
                  <a:pt x="6154" y="58130"/>
                  <a:pt x="8388" y="53113"/>
                  <a:pt x="12818" y="50918"/>
                </a:cubicBezTo>
                <a:lnTo>
                  <a:pt x="27595" y="43627"/>
                </a:lnTo>
                <a:cubicBezTo>
                  <a:pt x="27869" y="41628"/>
                  <a:pt x="28261" y="39668"/>
                  <a:pt x="28771" y="37669"/>
                </a:cubicBezTo>
                <a:cubicBezTo>
                  <a:pt x="29320" y="35670"/>
                  <a:pt x="29947" y="33749"/>
                  <a:pt x="30731" y="31907"/>
                </a:cubicBezTo>
                <a:lnTo>
                  <a:pt x="21598" y="18227"/>
                </a:lnTo>
                <a:cubicBezTo>
                  <a:pt x="18854" y="14111"/>
                  <a:pt x="19403" y="8663"/>
                  <a:pt x="22891" y="5174"/>
                </a:cubicBezTo>
                <a:lnTo>
                  <a:pt x="30417" y="-2352"/>
                </a:lnTo>
                <a:cubicBezTo>
                  <a:pt x="33906" y="-5840"/>
                  <a:pt x="39354" y="-6389"/>
                  <a:pt x="43470" y="-3645"/>
                </a:cubicBezTo>
                <a:lnTo>
                  <a:pt x="57189" y="5488"/>
                </a:lnTo>
                <a:cubicBezTo>
                  <a:pt x="60913" y="3959"/>
                  <a:pt x="64872" y="2861"/>
                  <a:pt x="68909" y="2313"/>
                </a:cubicBezTo>
                <a:lnTo>
                  <a:pt x="76200" y="-12426"/>
                </a:lnTo>
                <a:cubicBezTo>
                  <a:pt x="78395" y="-16855"/>
                  <a:pt x="83373" y="-19089"/>
                  <a:pt x="88155" y="-17835"/>
                </a:cubicBezTo>
                <a:close/>
                <a:moveTo>
                  <a:pt x="75416" y="32926"/>
                </a:moveTo>
                <a:cubicBezTo>
                  <a:pt x="65897" y="32926"/>
                  <a:pt x="58169" y="40654"/>
                  <a:pt x="58169" y="50173"/>
                </a:cubicBezTo>
                <a:cubicBezTo>
                  <a:pt x="58169" y="59692"/>
                  <a:pt x="65897" y="67420"/>
                  <a:pt x="75416" y="67420"/>
                </a:cubicBezTo>
                <a:cubicBezTo>
                  <a:pt x="84935" y="67420"/>
                  <a:pt x="92663" y="59692"/>
                  <a:pt x="92663" y="50173"/>
                </a:cubicBezTo>
                <a:cubicBezTo>
                  <a:pt x="92663" y="40654"/>
                  <a:pt x="84935" y="32926"/>
                  <a:pt x="75416" y="32926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Text 44"/>
          <p:cNvSpPr/>
          <p:nvPr/>
        </p:nvSpPr>
        <p:spPr>
          <a:xfrm>
            <a:off x="2759593" y="7392132"/>
            <a:ext cx="1482886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العمليات: $200K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2759593" y="7704318"/>
            <a:ext cx="1471737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13%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02420" y="8150299"/>
            <a:ext cx="7860412" cy="758167"/>
          </a:xfrm>
          <a:custGeom>
            <a:avLst/>
            <a:gdLst/>
            <a:ahLst/>
            <a:cxnLst/>
            <a:rect l="l" t="t" r="r" b="b"/>
            <a:pathLst>
              <a:path w="7860412" h="758167">
                <a:moveTo>
                  <a:pt x="0" y="0"/>
                </a:moveTo>
                <a:lnTo>
                  <a:pt x="7860412" y="0"/>
                </a:lnTo>
                <a:lnTo>
                  <a:pt x="7860412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Shape 47"/>
          <p:cNvSpPr/>
          <p:nvPr/>
        </p:nvSpPr>
        <p:spPr>
          <a:xfrm>
            <a:off x="702420" y="8150299"/>
            <a:ext cx="44598" cy="758167"/>
          </a:xfrm>
          <a:custGeom>
            <a:avLst/>
            <a:gdLst/>
            <a:ahLst/>
            <a:cxnLst/>
            <a:rect l="l" t="t" r="r" b="b"/>
            <a:pathLst>
              <a:path w="44598" h="758167">
                <a:moveTo>
                  <a:pt x="0" y="0"/>
                </a:moveTo>
                <a:lnTo>
                  <a:pt x="44598" y="0"/>
                </a:lnTo>
                <a:lnTo>
                  <a:pt x="44598" y="758167"/>
                </a:lnTo>
                <a:lnTo>
                  <a:pt x="0" y="758167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1" name="Shape 48"/>
          <p:cNvSpPr/>
          <p:nvPr/>
        </p:nvSpPr>
        <p:spPr>
          <a:xfrm>
            <a:off x="8237840" y="8429037"/>
            <a:ext cx="225778" cy="200691"/>
          </a:xfrm>
          <a:custGeom>
            <a:avLst/>
            <a:gdLst/>
            <a:ahLst/>
            <a:cxnLst/>
            <a:rect l="l" t="t" r="r" b="b"/>
            <a:pathLst>
              <a:path w="225778" h="200691">
                <a:moveTo>
                  <a:pt x="112889" y="-12543"/>
                </a:moveTo>
                <a:cubicBezTo>
                  <a:pt x="133657" y="-12543"/>
                  <a:pt x="150519" y="4318"/>
                  <a:pt x="150519" y="25086"/>
                </a:cubicBezTo>
                <a:cubicBezTo>
                  <a:pt x="150519" y="45855"/>
                  <a:pt x="133657" y="62716"/>
                  <a:pt x="112889" y="62716"/>
                </a:cubicBezTo>
                <a:cubicBezTo>
                  <a:pt x="92121" y="62716"/>
                  <a:pt x="75259" y="45855"/>
                  <a:pt x="75259" y="25086"/>
                </a:cubicBezTo>
                <a:cubicBezTo>
                  <a:pt x="75259" y="4318"/>
                  <a:pt x="92121" y="-12543"/>
                  <a:pt x="112889" y="-12543"/>
                </a:cubicBezTo>
                <a:close/>
                <a:moveTo>
                  <a:pt x="18815" y="119160"/>
                </a:moveTo>
                <a:cubicBezTo>
                  <a:pt x="18815" y="91683"/>
                  <a:pt x="37238" y="67655"/>
                  <a:pt x="64715" y="54524"/>
                </a:cubicBezTo>
                <a:cubicBezTo>
                  <a:pt x="74632" y="70712"/>
                  <a:pt x="92506" y="81531"/>
                  <a:pt x="112889" y="81531"/>
                </a:cubicBezTo>
                <a:cubicBezTo>
                  <a:pt x="134722" y="81531"/>
                  <a:pt x="153694" y="69105"/>
                  <a:pt x="163062" y="50957"/>
                </a:cubicBezTo>
                <a:cubicBezTo>
                  <a:pt x="169255" y="46527"/>
                  <a:pt x="176820" y="43901"/>
                  <a:pt x="185012" y="43901"/>
                </a:cubicBezTo>
                <a:lnTo>
                  <a:pt x="192656" y="43901"/>
                </a:lnTo>
                <a:cubicBezTo>
                  <a:pt x="196732" y="43901"/>
                  <a:pt x="199711" y="47743"/>
                  <a:pt x="198731" y="51702"/>
                </a:cubicBezTo>
                <a:lnTo>
                  <a:pt x="192029" y="78473"/>
                </a:lnTo>
                <a:cubicBezTo>
                  <a:pt x="195909" y="83334"/>
                  <a:pt x="199163" y="88547"/>
                  <a:pt x="201593" y="94074"/>
                </a:cubicBezTo>
                <a:lnTo>
                  <a:pt x="210099" y="94074"/>
                </a:lnTo>
                <a:cubicBezTo>
                  <a:pt x="215312" y="94074"/>
                  <a:pt x="219506" y="98268"/>
                  <a:pt x="219506" y="103481"/>
                </a:cubicBezTo>
                <a:lnTo>
                  <a:pt x="219506" y="147383"/>
                </a:lnTo>
                <a:cubicBezTo>
                  <a:pt x="219506" y="152596"/>
                  <a:pt x="215312" y="156790"/>
                  <a:pt x="210099" y="156790"/>
                </a:cubicBezTo>
                <a:lnTo>
                  <a:pt x="194420" y="156790"/>
                </a:lnTo>
                <a:cubicBezTo>
                  <a:pt x="187952" y="165414"/>
                  <a:pt x="179329" y="172312"/>
                  <a:pt x="169333" y="176663"/>
                </a:cubicBezTo>
                <a:lnTo>
                  <a:pt x="169333" y="188148"/>
                </a:lnTo>
                <a:cubicBezTo>
                  <a:pt x="169333" y="195086"/>
                  <a:pt x="163728" y="200691"/>
                  <a:pt x="156790" y="200691"/>
                </a:cubicBezTo>
                <a:lnTo>
                  <a:pt x="143855" y="200691"/>
                </a:lnTo>
                <a:cubicBezTo>
                  <a:pt x="138250" y="200691"/>
                  <a:pt x="133350" y="196968"/>
                  <a:pt x="131782" y="191598"/>
                </a:cubicBezTo>
                <a:lnTo>
                  <a:pt x="128999" y="181877"/>
                </a:lnTo>
                <a:lnTo>
                  <a:pt x="96740" y="181877"/>
                </a:lnTo>
                <a:lnTo>
                  <a:pt x="93956" y="191598"/>
                </a:lnTo>
                <a:cubicBezTo>
                  <a:pt x="92428" y="196968"/>
                  <a:pt x="87528" y="200691"/>
                  <a:pt x="81923" y="200691"/>
                </a:cubicBezTo>
                <a:lnTo>
                  <a:pt x="68988" y="200691"/>
                </a:lnTo>
                <a:cubicBezTo>
                  <a:pt x="62050" y="200691"/>
                  <a:pt x="56444" y="195086"/>
                  <a:pt x="56444" y="188148"/>
                </a:cubicBezTo>
                <a:lnTo>
                  <a:pt x="56444" y="176663"/>
                </a:lnTo>
                <a:cubicBezTo>
                  <a:pt x="34298" y="166981"/>
                  <a:pt x="18815" y="144874"/>
                  <a:pt x="18815" y="119160"/>
                </a:cubicBezTo>
                <a:close/>
                <a:moveTo>
                  <a:pt x="166198" y="125432"/>
                </a:moveTo>
                <a:cubicBezTo>
                  <a:pt x="171390" y="125432"/>
                  <a:pt x="175605" y="121217"/>
                  <a:pt x="175605" y="116025"/>
                </a:cubicBezTo>
                <a:cubicBezTo>
                  <a:pt x="175605" y="110833"/>
                  <a:pt x="171390" y="106617"/>
                  <a:pt x="166198" y="106617"/>
                </a:cubicBezTo>
                <a:cubicBezTo>
                  <a:pt x="161005" y="106617"/>
                  <a:pt x="156790" y="110833"/>
                  <a:pt x="156790" y="116025"/>
                </a:cubicBezTo>
                <a:cubicBezTo>
                  <a:pt x="156790" y="121217"/>
                  <a:pt x="161005" y="125432"/>
                  <a:pt x="166198" y="125432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2" name="Text 49"/>
          <p:cNvSpPr/>
          <p:nvPr/>
        </p:nvSpPr>
        <p:spPr>
          <a:xfrm>
            <a:off x="6637710" y="8239495"/>
            <a:ext cx="1594381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الاحتياطي: $100K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637710" y="8551682"/>
            <a:ext cx="1583232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GO-TO-MARKET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خطة الإطلاق المرحلي حتى 2027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8-d57c8l0i2d8bfvjn27f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1828800"/>
            <a:ext cx="9779000" cy="68072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33400" y="1828800"/>
            <a:ext cx="5232400" cy="1447800"/>
          </a:xfrm>
          <a:custGeom>
            <a:avLst/>
            <a:gdLst/>
            <a:ahLst/>
            <a:cxnLst/>
            <a:rect l="l" t="t" r="r" b="b"/>
            <a:pathLst>
              <a:path w="5232400" h="1447800">
                <a:moveTo>
                  <a:pt x="0" y="0"/>
                </a:moveTo>
                <a:lnTo>
                  <a:pt x="5232400" y="0"/>
                </a:lnTo>
                <a:lnTo>
                  <a:pt x="52324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33400" y="18288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0038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5171976" y="215900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99173" y="1981200"/>
            <a:ext cx="128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 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99173" y="23368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$500K ARR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1200" y="2794000"/>
            <a:ext cx="500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إطلاق المنتج مع 3 عملاء أوليين.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" y="3378200"/>
            <a:ext cx="5232400" cy="1447800"/>
          </a:xfrm>
          <a:custGeom>
            <a:avLst/>
            <a:gdLst/>
            <a:ahLst/>
            <a:cxnLst/>
            <a:rect l="l" t="t" r="r" b="b"/>
            <a:pathLst>
              <a:path w="5232400" h="1447800">
                <a:moveTo>
                  <a:pt x="0" y="0"/>
                </a:moveTo>
                <a:lnTo>
                  <a:pt x="5232400" y="0"/>
                </a:lnTo>
                <a:lnTo>
                  <a:pt x="52324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533400" y="33782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003800" y="358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5021362" y="3708400"/>
            <a:ext cx="69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Q2-4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22055" y="35306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Q2-Q4 2026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22055" y="38862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$2M ARR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1200" y="4343400"/>
            <a:ext cx="500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الوصول إلى 10 عملاء مع بنك من الطبقة الأولى.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3400" y="4927600"/>
            <a:ext cx="5232400" cy="1447800"/>
          </a:xfrm>
          <a:custGeom>
            <a:avLst/>
            <a:gdLst/>
            <a:ahLst/>
            <a:cxnLst/>
            <a:rect l="l" t="t" r="r" b="b"/>
            <a:pathLst>
              <a:path w="5232400" h="1447800">
                <a:moveTo>
                  <a:pt x="0" y="0"/>
                </a:moveTo>
                <a:lnTo>
                  <a:pt x="5232400" y="0"/>
                </a:lnTo>
                <a:lnTo>
                  <a:pt x="52324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533400" y="49276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Shape 19"/>
          <p:cNvSpPr/>
          <p:nvPr/>
        </p:nvSpPr>
        <p:spPr>
          <a:xfrm>
            <a:off x="5003800" y="5130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0"/>
          <p:cNvSpPr/>
          <p:nvPr/>
        </p:nvSpPr>
        <p:spPr>
          <a:xfrm>
            <a:off x="4975622" y="5257800"/>
            <a:ext cx="78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2027+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77940" y="50800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2027+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77940" y="5435600"/>
            <a:ext cx="128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$50M+ ARR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1200" y="5892800"/>
            <a:ext cx="500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توسع إقليمي وعقود حكومية.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4350" y="6483350"/>
            <a:ext cx="5245100" cy="1104900"/>
          </a:xfrm>
          <a:custGeom>
            <a:avLst/>
            <a:gdLst/>
            <a:ahLst/>
            <a:cxnLst/>
            <a:rect l="l" t="t" r="r" b="b"/>
            <a:pathLst>
              <a:path w="5245100" h="1104900">
                <a:moveTo>
                  <a:pt x="0" y="0"/>
                </a:moveTo>
                <a:lnTo>
                  <a:pt x="5245100" y="0"/>
                </a:lnTo>
                <a:lnTo>
                  <a:pt x="5245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5"/>
          <p:cNvSpPr/>
          <p:nvPr/>
        </p:nvSpPr>
        <p:spPr>
          <a:xfrm>
            <a:off x="5346700" y="6705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6"/>
          <p:cNvSpPr/>
          <p:nvPr/>
        </p:nvSpPr>
        <p:spPr>
          <a:xfrm>
            <a:off x="965200" y="6642100"/>
            <a:ext cx="474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النمو المتوقع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3100" y="7099300"/>
            <a:ext cx="5029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نمو سريع مع نموذج أعمال قابل للتوسع.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ef582778f458961e5f07a921ec9d2a474bb074b3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8" b="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1473200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14968637" y="3454400"/>
            <a:ext cx="77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57953" y="3327400"/>
            <a:ext cx="5257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التميز التنافسي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122400" y="4521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9657953" y="48768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سرعة التنفيذ غير المسبوقة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57953" y="5537200"/>
            <a:ext cx="624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Unprecedented Speed &amp; Vision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EXCELLENCE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سرعة التنفيذ غير المسبوقة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255000" y="1828800"/>
            <a:ext cx="7493000" cy="2400300"/>
          </a:xfrm>
          <a:custGeom>
            <a:avLst/>
            <a:gdLst/>
            <a:ahLst/>
            <a:cxnLst/>
            <a:rect l="l" t="t" r="r" b="b"/>
            <a:pathLst>
              <a:path w="7493000" h="2400300">
                <a:moveTo>
                  <a:pt x="0" y="0"/>
                </a:moveTo>
                <a:lnTo>
                  <a:pt x="7493000" y="0"/>
                </a:lnTo>
                <a:lnTo>
                  <a:pt x="74930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255000" y="1828800"/>
            <a:ext cx="50800" cy="2400300"/>
          </a:xfrm>
          <a:custGeom>
            <a:avLst/>
            <a:gdLst/>
            <a:ahLst/>
            <a:cxnLst/>
            <a:rect l="l" t="t" r="r" b="b"/>
            <a:pathLst>
              <a:path w="50800" h="2400300">
                <a:moveTo>
                  <a:pt x="0" y="0"/>
                </a:moveTo>
                <a:lnTo>
                  <a:pt x="50800" y="0"/>
                </a:lnTo>
                <a:lnTo>
                  <a:pt x="508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8293100" y="2032000"/>
            <a:ext cx="7442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أشهر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20100" y="28956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لبناء MVP كامل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83600" y="3403600"/>
            <a:ext cx="7061200" cy="101600"/>
          </a:xfrm>
          <a:custGeom>
            <a:avLst/>
            <a:gdLst/>
            <a:ahLst/>
            <a:cxnLst/>
            <a:rect l="l" t="t" r="r" b="b"/>
            <a:pathLst>
              <a:path w="7061200" h="101600">
                <a:moveTo>
                  <a:pt x="0" y="0"/>
                </a:moveTo>
                <a:lnTo>
                  <a:pt x="7061200" y="0"/>
                </a:lnTo>
                <a:lnTo>
                  <a:pt x="7061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8483600" y="3403600"/>
            <a:ext cx="7061200" cy="101600"/>
          </a:xfrm>
          <a:custGeom>
            <a:avLst/>
            <a:gdLst/>
            <a:ahLst/>
            <a:cxnLst/>
            <a:rect l="l" t="t" r="r" b="b"/>
            <a:pathLst>
              <a:path w="7061200" h="101600">
                <a:moveTo>
                  <a:pt x="0" y="0"/>
                </a:moveTo>
                <a:lnTo>
                  <a:pt x="7061200" y="0"/>
                </a:lnTo>
                <a:lnTo>
                  <a:pt x="7061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8483600" y="3657600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بناء نظام متكامل يضم </a:t>
            </a: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429 ألف كلمة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من الكود.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4384675"/>
            <a:ext cx="7493000" cy="2400300"/>
          </a:xfrm>
          <a:custGeom>
            <a:avLst/>
            <a:gdLst/>
            <a:ahLst/>
            <a:cxnLst/>
            <a:rect l="l" t="t" r="r" b="b"/>
            <a:pathLst>
              <a:path w="7493000" h="2400300">
                <a:moveTo>
                  <a:pt x="0" y="0"/>
                </a:moveTo>
                <a:lnTo>
                  <a:pt x="7493000" y="0"/>
                </a:lnTo>
                <a:lnTo>
                  <a:pt x="74930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8255000" y="4384675"/>
            <a:ext cx="50800" cy="2400300"/>
          </a:xfrm>
          <a:custGeom>
            <a:avLst/>
            <a:gdLst/>
            <a:ahLst/>
            <a:cxnLst/>
            <a:rect l="l" t="t" r="r" b="b"/>
            <a:pathLst>
              <a:path w="50800" h="2400300">
                <a:moveTo>
                  <a:pt x="0" y="0"/>
                </a:moveTo>
                <a:lnTo>
                  <a:pt x="50800" y="0"/>
                </a:lnTo>
                <a:lnTo>
                  <a:pt x="508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8293100" y="4587875"/>
            <a:ext cx="7442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971 ملف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20100" y="5451475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أُعيد هيكلتها في أسبوع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83600" y="5959475"/>
            <a:ext cx="7061200" cy="101600"/>
          </a:xfrm>
          <a:custGeom>
            <a:avLst/>
            <a:gdLst/>
            <a:ahLst/>
            <a:cxnLst/>
            <a:rect l="l" t="t" r="r" b="b"/>
            <a:pathLst>
              <a:path w="7061200" h="101600">
                <a:moveTo>
                  <a:pt x="0" y="0"/>
                </a:moveTo>
                <a:lnTo>
                  <a:pt x="7061200" y="0"/>
                </a:lnTo>
                <a:lnTo>
                  <a:pt x="7061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8483600" y="5959475"/>
            <a:ext cx="7061200" cy="101600"/>
          </a:xfrm>
          <a:custGeom>
            <a:avLst/>
            <a:gdLst/>
            <a:ahLst/>
            <a:cxnLst/>
            <a:rect l="l" t="t" r="r" b="b"/>
            <a:pathLst>
              <a:path w="7061200" h="101600">
                <a:moveTo>
                  <a:pt x="0" y="0"/>
                </a:moveTo>
                <a:lnTo>
                  <a:pt x="7061200" y="0"/>
                </a:lnTo>
                <a:lnTo>
                  <a:pt x="7061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8483600" y="6213475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إعادة هيكلة كاملة للنظام في </a:t>
            </a:r>
            <a:r>
              <a:rPr lang="en-US" sz="18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أسبوع واحد فقط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35950" y="6946900"/>
            <a:ext cx="7505700" cy="1206500"/>
          </a:xfrm>
          <a:custGeom>
            <a:avLst/>
            <a:gdLst/>
            <a:ahLst/>
            <a:cxnLst/>
            <a:rect l="l" t="t" r="r" b="b"/>
            <a:pathLst>
              <a:path w="7505700" h="1206500">
                <a:moveTo>
                  <a:pt x="0" y="0"/>
                </a:moveTo>
                <a:lnTo>
                  <a:pt x="7505700" y="0"/>
                </a:lnTo>
                <a:lnTo>
                  <a:pt x="75057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15278100" y="7219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8737600" y="715645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إنجاز غير مسبوق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5500" y="7613650"/>
            <a:ext cx="7188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ما يستغرقه فرق كبيرة سنوات، أنجزناه في أشهر.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1828800"/>
            <a:ext cx="7493000" cy="3327400"/>
          </a:xfrm>
          <a:custGeom>
            <a:avLst/>
            <a:gdLst/>
            <a:ahLst/>
            <a:cxnLst/>
            <a:rect l="l" t="t" r="r" b="b"/>
            <a:pathLst>
              <a:path w="7493000" h="3327400">
                <a:moveTo>
                  <a:pt x="0" y="0"/>
                </a:moveTo>
                <a:lnTo>
                  <a:pt x="7493000" y="0"/>
                </a:lnTo>
                <a:lnTo>
                  <a:pt x="74930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533400" y="1828800"/>
            <a:ext cx="50800" cy="3327400"/>
          </a:xfrm>
          <a:custGeom>
            <a:avLst/>
            <a:gdLst/>
            <a:ahLst/>
            <a:cxnLst/>
            <a:rect l="l" t="t" r="r" b="b"/>
            <a:pathLst>
              <a:path w="50800" h="3327400">
                <a:moveTo>
                  <a:pt x="0" y="0"/>
                </a:moveTo>
                <a:lnTo>
                  <a:pt x="50800" y="0"/>
                </a:lnTo>
                <a:lnTo>
                  <a:pt x="508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7397750" y="204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1244600" y="2032000"/>
            <a:ext cx="673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قدرة المؤسس على التنفيذ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2590800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يثبت قدرة المؤسس على </a:t>
            </a:r>
            <a:r>
              <a:rPr lang="en-US" sz="18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التنفيذ السريع والفعال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دون التضحية بالجودة.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3114675"/>
            <a:ext cx="7061200" cy="508000"/>
          </a:xfrm>
          <a:custGeom>
            <a:avLst/>
            <a:gdLst/>
            <a:ahLst/>
            <a:cxnLst/>
            <a:rect l="l" t="t" r="r" b="b"/>
            <a:pathLst>
              <a:path w="7061200" h="508000">
                <a:moveTo>
                  <a:pt x="0" y="0"/>
                </a:moveTo>
                <a:lnTo>
                  <a:pt x="7061200" y="0"/>
                </a:lnTo>
                <a:lnTo>
                  <a:pt x="7061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7467600" y="325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5471517" y="3216275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تطوير سريع مع جودة عالية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3724275"/>
            <a:ext cx="7061200" cy="508000"/>
          </a:xfrm>
          <a:custGeom>
            <a:avLst/>
            <a:gdLst/>
            <a:ahLst/>
            <a:cxnLst/>
            <a:rect l="l" t="t" r="r" b="b"/>
            <a:pathLst>
              <a:path w="7061200" h="508000">
                <a:moveTo>
                  <a:pt x="0" y="0"/>
                </a:moveTo>
                <a:lnTo>
                  <a:pt x="7061200" y="0"/>
                </a:lnTo>
                <a:lnTo>
                  <a:pt x="7061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7467600" y="3863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6058793" y="3825875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إدارة فعالة للموارد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4333875"/>
            <a:ext cx="7061200" cy="508000"/>
          </a:xfrm>
          <a:custGeom>
            <a:avLst/>
            <a:gdLst/>
            <a:ahLst/>
            <a:cxnLst/>
            <a:rect l="l" t="t" r="r" b="b"/>
            <a:pathLst>
              <a:path w="7061200" h="508000">
                <a:moveTo>
                  <a:pt x="0" y="0"/>
                </a:moveTo>
                <a:lnTo>
                  <a:pt x="7061200" y="0"/>
                </a:lnTo>
                <a:lnTo>
                  <a:pt x="7061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7467600" y="4473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5754092" y="4435475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تسليم في الوقت المحدد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3400" y="5308600"/>
            <a:ext cx="7493000" cy="3327400"/>
          </a:xfrm>
          <a:custGeom>
            <a:avLst/>
            <a:gdLst/>
            <a:ahLst/>
            <a:cxnLst/>
            <a:rect l="l" t="t" r="r" b="b"/>
            <a:pathLst>
              <a:path w="7493000" h="3327400">
                <a:moveTo>
                  <a:pt x="0" y="0"/>
                </a:moveTo>
                <a:lnTo>
                  <a:pt x="7493000" y="0"/>
                </a:lnTo>
                <a:lnTo>
                  <a:pt x="74930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533400" y="5308600"/>
            <a:ext cx="50800" cy="3327400"/>
          </a:xfrm>
          <a:custGeom>
            <a:avLst/>
            <a:gdLst/>
            <a:ahLst/>
            <a:cxnLst/>
            <a:rect l="l" t="t" r="r" b="b"/>
            <a:pathLst>
              <a:path w="50800" h="3327400">
                <a:moveTo>
                  <a:pt x="0" y="0"/>
                </a:moveTo>
                <a:lnTo>
                  <a:pt x="50800" y="0"/>
                </a:lnTo>
                <a:lnTo>
                  <a:pt x="508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Shape 37"/>
          <p:cNvSpPr/>
          <p:nvPr/>
        </p:nvSpPr>
        <p:spPr>
          <a:xfrm>
            <a:off x="7350125" y="5524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85750" y="23812"/>
                </a:moveTo>
                <a:lnTo>
                  <a:pt x="381000" y="23812"/>
                </a:lnTo>
                <a:cubicBezTo>
                  <a:pt x="394171" y="23812"/>
                  <a:pt x="404813" y="34454"/>
                  <a:pt x="404813" y="47625"/>
                </a:cubicBezTo>
                <a:cubicBezTo>
                  <a:pt x="404813" y="60796"/>
                  <a:pt x="394171" y="71438"/>
                  <a:pt x="381000" y="71438"/>
                </a:cubicBezTo>
                <a:lnTo>
                  <a:pt x="296466" y="71438"/>
                </a:lnTo>
                <a:cubicBezTo>
                  <a:pt x="292596" y="90636"/>
                  <a:pt x="279425" y="106487"/>
                  <a:pt x="261938" y="114077"/>
                </a:cubicBezTo>
                <a:lnTo>
                  <a:pt x="261938" y="333375"/>
                </a:lnTo>
                <a:lnTo>
                  <a:pt x="381000" y="333375"/>
                </a:lnTo>
                <a:cubicBezTo>
                  <a:pt x="394171" y="333375"/>
                  <a:pt x="404813" y="344016"/>
                  <a:pt x="404813" y="357188"/>
                </a:cubicBezTo>
                <a:cubicBezTo>
                  <a:pt x="404813" y="370359"/>
                  <a:pt x="394171" y="381000"/>
                  <a:pt x="381000" y="381000"/>
                </a:cubicBezTo>
                <a:lnTo>
                  <a:pt x="95250" y="381000"/>
                </a:lnTo>
                <a:cubicBezTo>
                  <a:pt x="82079" y="381000"/>
                  <a:pt x="71438" y="370359"/>
                  <a:pt x="71438" y="357188"/>
                </a:cubicBezTo>
                <a:cubicBezTo>
                  <a:pt x="71438" y="344016"/>
                  <a:pt x="82079" y="333375"/>
                  <a:pt x="95250" y="333375"/>
                </a:cubicBezTo>
                <a:lnTo>
                  <a:pt x="214313" y="333375"/>
                </a:lnTo>
                <a:lnTo>
                  <a:pt x="214313" y="114077"/>
                </a:lnTo>
                <a:cubicBezTo>
                  <a:pt x="196825" y="106412"/>
                  <a:pt x="183654" y="90562"/>
                  <a:pt x="179784" y="71438"/>
                </a:cubicBezTo>
                <a:lnTo>
                  <a:pt x="95250" y="71438"/>
                </a:lnTo>
                <a:cubicBezTo>
                  <a:pt x="82079" y="71438"/>
                  <a:pt x="71438" y="60796"/>
                  <a:pt x="71438" y="47625"/>
                </a:cubicBezTo>
                <a:cubicBezTo>
                  <a:pt x="71438" y="34454"/>
                  <a:pt x="82079" y="23812"/>
                  <a:pt x="95250" y="23812"/>
                </a:cubicBezTo>
                <a:lnTo>
                  <a:pt x="190500" y="23812"/>
                </a:lnTo>
                <a:cubicBezTo>
                  <a:pt x="201364" y="9376"/>
                  <a:pt x="218629" y="0"/>
                  <a:pt x="238125" y="0"/>
                </a:cubicBezTo>
                <a:cubicBezTo>
                  <a:pt x="257621" y="0"/>
                  <a:pt x="274886" y="9376"/>
                  <a:pt x="285750" y="23812"/>
                </a:cubicBezTo>
                <a:close/>
                <a:moveTo>
                  <a:pt x="327124" y="238125"/>
                </a:moveTo>
                <a:lnTo>
                  <a:pt x="434876" y="238125"/>
                </a:lnTo>
                <a:lnTo>
                  <a:pt x="381000" y="145703"/>
                </a:lnTo>
                <a:lnTo>
                  <a:pt x="327124" y="238125"/>
                </a:lnTo>
                <a:close/>
                <a:moveTo>
                  <a:pt x="381000" y="309563"/>
                </a:moveTo>
                <a:cubicBezTo>
                  <a:pt x="334194" y="309563"/>
                  <a:pt x="295275" y="284262"/>
                  <a:pt x="287238" y="250850"/>
                </a:cubicBezTo>
                <a:cubicBezTo>
                  <a:pt x="285304" y="242664"/>
                  <a:pt x="287982" y="234255"/>
                  <a:pt x="292224" y="226963"/>
                </a:cubicBezTo>
                <a:lnTo>
                  <a:pt x="363066" y="105519"/>
                </a:lnTo>
                <a:cubicBezTo>
                  <a:pt x="366787" y="99120"/>
                  <a:pt x="373633" y="95250"/>
                  <a:pt x="381000" y="95250"/>
                </a:cubicBezTo>
                <a:cubicBezTo>
                  <a:pt x="388367" y="95250"/>
                  <a:pt x="395213" y="99194"/>
                  <a:pt x="398934" y="105519"/>
                </a:cubicBezTo>
                <a:lnTo>
                  <a:pt x="469776" y="226963"/>
                </a:lnTo>
                <a:cubicBezTo>
                  <a:pt x="474018" y="234255"/>
                  <a:pt x="476696" y="242664"/>
                  <a:pt x="474762" y="250850"/>
                </a:cubicBezTo>
                <a:cubicBezTo>
                  <a:pt x="466725" y="284187"/>
                  <a:pt x="427806" y="309563"/>
                  <a:pt x="381000" y="309563"/>
                </a:cubicBezTo>
                <a:close/>
                <a:moveTo>
                  <a:pt x="94357" y="145703"/>
                </a:moveTo>
                <a:lnTo>
                  <a:pt x="40481" y="238125"/>
                </a:lnTo>
                <a:lnTo>
                  <a:pt x="148307" y="238125"/>
                </a:lnTo>
                <a:lnTo>
                  <a:pt x="94357" y="145703"/>
                </a:lnTo>
                <a:close/>
                <a:moveTo>
                  <a:pt x="670" y="250850"/>
                </a:moveTo>
                <a:cubicBezTo>
                  <a:pt x="-1265" y="242664"/>
                  <a:pt x="1414" y="234255"/>
                  <a:pt x="5655" y="226963"/>
                </a:cubicBezTo>
                <a:lnTo>
                  <a:pt x="76498" y="105519"/>
                </a:lnTo>
                <a:cubicBezTo>
                  <a:pt x="80218" y="99120"/>
                  <a:pt x="87064" y="95250"/>
                  <a:pt x="94431" y="95250"/>
                </a:cubicBezTo>
                <a:cubicBezTo>
                  <a:pt x="101798" y="95250"/>
                  <a:pt x="108645" y="99194"/>
                  <a:pt x="112365" y="105519"/>
                </a:cubicBezTo>
                <a:lnTo>
                  <a:pt x="183207" y="226963"/>
                </a:lnTo>
                <a:cubicBezTo>
                  <a:pt x="187449" y="234255"/>
                  <a:pt x="190128" y="242664"/>
                  <a:pt x="188193" y="250850"/>
                </a:cubicBezTo>
                <a:cubicBezTo>
                  <a:pt x="180156" y="284187"/>
                  <a:pt x="141238" y="309563"/>
                  <a:pt x="94431" y="309563"/>
                </a:cubicBezTo>
                <a:cubicBezTo>
                  <a:pt x="47625" y="309563"/>
                  <a:pt x="8706" y="284262"/>
                  <a:pt x="670" y="250850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0" name="Text 38"/>
          <p:cNvSpPr/>
          <p:nvPr/>
        </p:nvSpPr>
        <p:spPr>
          <a:xfrm>
            <a:off x="1244600" y="5511800"/>
            <a:ext cx="673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المقارنة المعيارية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6070600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في الصناعة النموذجية، يستغرق بناء نظام مماثل </a:t>
            </a: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سنوات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بفرق 20-30 مهندس.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49750" y="6600825"/>
            <a:ext cx="3467100" cy="1028700"/>
          </a:xfrm>
          <a:custGeom>
            <a:avLst/>
            <a:gdLst/>
            <a:ahLst/>
            <a:cxnLst/>
            <a:rect l="l" t="t" r="r" b="b"/>
            <a:pathLst>
              <a:path w="3467100" h="1028700">
                <a:moveTo>
                  <a:pt x="0" y="0"/>
                </a:moveTo>
                <a:lnTo>
                  <a:pt x="3467100" y="0"/>
                </a:lnTo>
                <a:lnTo>
                  <a:pt x="3467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4406900" y="6708775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الصناعة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362450" y="7064375"/>
            <a:ext cx="344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سنوات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8350" y="6600825"/>
            <a:ext cx="3467100" cy="1028700"/>
          </a:xfrm>
          <a:custGeom>
            <a:avLst/>
            <a:gdLst/>
            <a:ahLst/>
            <a:cxnLst/>
            <a:rect l="l" t="t" r="r" b="b"/>
            <a:pathLst>
              <a:path w="3467100" h="1028700">
                <a:moveTo>
                  <a:pt x="0" y="0"/>
                </a:moveTo>
                <a:lnTo>
                  <a:pt x="3467100" y="0"/>
                </a:lnTo>
                <a:lnTo>
                  <a:pt x="3467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6" name="Text 44"/>
          <p:cNvSpPr/>
          <p:nvPr/>
        </p:nvSpPr>
        <p:spPr>
          <a:xfrm>
            <a:off x="825500" y="6708775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HaderOS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1050" y="7064375"/>
            <a:ext cx="344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أشهر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 EXPERTISE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رؤية شاملة: التقنية والأخلاق والبيزنس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9-d57c8l9g6i8msbkpq6t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1828800"/>
            <a:ext cx="9779000" cy="68072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33400" y="1828800"/>
            <a:ext cx="5232400" cy="1346200"/>
          </a:xfrm>
          <a:custGeom>
            <a:avLst/>
            <a:gdLst/>
            <a:ahLst/>
            <a:cxnLst/>
            <a:rect l="l" t="t" r="r" b="b"/>
            <a:pathLst>
              <a:path w="5232400" h="1346200">
                <a:moveTo>
                  <a:pt x="0" y="0"/>
                </a:moveTo>
                <a:lnTo>
                  <a:pt x="5232400" y="0"/>
                </a:lnTo>
                <a:lnTo>
                  <a:pt x="5232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33400" y="18288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0546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6"/>
          <p:cNvSpPr/>
          <p:nvPr/>
        </p:nvSpPr>
        <p:spPr>
          <a:xfrm>
            <a:off x="5165725" y="2159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3063180" y="2108200"/>
            <a:ext cx="196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فهم التقنية العميق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2641600"/>
            <a:ext cx="4902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خبرة عملية في AI، Blockchain، والبنية التحتية.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3400" y="3327400"/>
            <a:ext cx="5232400" cy="1346200"/>
          </a:xfrm>
          <a:custGeom>
            <a:avLst/>
            <a:gdLst/>
            <a:ahLst/>
            <a:cxnLst/>
            <a:rect l="l" t="t" r="r" b="b"/>
            <a:pathLst>
              <a:path w="5232400" h="1346200">
                <a:moveTo>
                  <a:pt x="0" y="0"/>
                </a:moveTo>
                <a:lnTo>
                  <a:pt x="5232400" y="0"/>
                </a:lnTo>
                <a:lnTo>
                  <a:pt x="5232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0"/>
          <p:cNvSpPr/>
          <p:nvPr/>
        </p:nvSpPr>
        <p:spPr>
          <a:xfrm>
            <a:off x="533400" y="33274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5054600" y="3530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149850" y="3657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3302794" y="3606800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المعرفة الأخلاقية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4140200"/>
            <a:ext cx="4902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فهم عميق للمعايير الأخلاقية المتعددة.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3400" y="4826000"/>
            <a:ext cx="5232400" cy="1346200"/>
          </a:xfrm>
          <a:custGeom>
            <a:avLst/>
            <a:gdLst/>
            <a:ahLst/>
            <a:cxnLst/>
            <a:rect l="l" t="t" r="r" b="b"/>
            <a:pathLst>
              <a:path w="5232400" h="1346200">
                <a:moveTo>
                  <a:pt x="0" y="0"/>
                </a:moveTo>
                <a:lnTo>
                  <a:pt x="5232400" y="0"/>
                </a:lnTo>
                <a:lnTo>
                  <a:pt x="52324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Shape 16"/>
          <p:cNvSpPr/>
          <p:nvPr/>
        </p:nvSpPr>
        <p:spPr>
          <a:xfrm>
            <a:off x="533400" y="4826000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Shape 17"/>
          <p:cNvSpPr/>
          <p:nvPr/>
        </p:nvSpPr>
        <p:spPr>
          <a:xfrm>
            <a:off x="5054600" y="502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5181600" y="5156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19"/>
          <p:cNvSpPr/>
          <p:nvPr/>
        </p:nvSpPr>
        <p:spPr>
          <a:xfrm>
            <a:off x="3054945" y="5105400"/>
            <a:ext cx="196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فهم السوق الضخم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5638800"/>
            <a:ext cx="4902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إدراك لحجم السوق البالغ 3.7 تريليون دولار.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14350" y="6330950"/>
            <a:ext cx="5245100" cy="1206500"/>
          </a:xfrm>
          <a:custGeom>
            <a:avLst/>
            <a:gdLst/>
            <a:ahLst/>
            <a:cxnLst/>
            <a:rect l="l" t="t" r="r" b="b"/>
            <a:pathLst>
              <a:path w="5245100" h="1206500">
                <a:moveTo>
                  <a:pt x="0" y="0"/>
                </a:moveTo>
                <a:lnTo>
                  <a:pt x="5245100" y="0"/>
                </a:lnTo>
                <a:lnTo>
                  <a:pt x="52451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Shape 22"/>
          <p:cNvSpPr/>
          <p:nvPr/>
        </p:nvSpPr>
        <p:spPr>
          <a:xfrm>
            <a:off x="5295900" y="660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3"/>
          <p:cNvSpPr/>
          <p:nvPr/>
        </p:nvSpPr>
        <p:spPr>
          <a:xfrm>
            <a:off x="1016000" y="6540500"/>
            <a:ext cx="464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التكامل الكامل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3900" y="6997700"/>
            <a:ext cx="4927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بناء حلول حقيقية متكاملة.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INVESTMENT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بناء الماكينة وليس الكود فقط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255000" y="1828800"/>
            <a:ext cx="7493000" cy="2400300"/>
          </a:xfrm>
          <a:custGeom>
            <a:avLst/>
            <a:gdLst/>
            <a:ahLst/>
            <a:cxnLst/>
            <a:rect l="l" t="t" r="r" b="b"/>
            <a:pathLst>
              <a:path w="7493000" h="2400300">
                <a:moveTo>
                  <a:pt x="0" y="0"/>
                </a:moveTo>
                <a:lnTo>
                  <a:pt x="7493000" y="0"/>
                </a:lnTo>
                <a:lnTo>
                  <a:pt x="74930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255000" y="1828800"/>
            <a:ext cx="50800" cy="2400300"/>
          </a:xfrm>
          <a:custGeom>
            <a:avLst/>
            <a:gdLst/>
            <a:ahLst/>
            <a:cxnLst/>
            <a:rect l="l" t="t" r="r" b="b"/>
            <a:pathLst>
              <a:path w="50800" h="2400300">
                <a:moveTo>
                  <a:pt x="0" y="0"/>
                </a:moveTo>
                <a:lnTo>
                  <a:pt x="50800" y="0"/>
                </a:lnTo>
                <a:lnTo>
                  <a:pt x="508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8293100" y="2032000"/>
            <a:ext cx="7442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229,000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20100" y="28956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كلمة من التوثيق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83600" y="3403600"/>
            <a:ext cx="7061200" cy="101600"/>
          </a:xfrm>
          <a:custGeom>
            <a:avLst/>
            <a:gdLst/>
            <a:ahLst/>
            <a:cxnLst/>
            <a:rect l="l" t="t" r="r" b="b"/>
            <a:pathLst>
              <a:path w="7061200" h="101600">
                <a:moveTo>
                  <a:pt x="0" y="0"/>
                </a:moveTo>
                <a:lnTo>
                  <a:pt x="7061200" y="0"/>
                </a:lnTo>
                <a:lnTo>
                  <a:pt x="7061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8483600" y="3403600"/>
            <a:ext cx="7061200" cy="101600"/>
          </a:xfrm>
          <a:custGeom>
            <a:avLst/>
            <a:gdLst/>
            <a:ahLst/>
            <a:cxnLst/>
            <a:rect l="l" t="t" r="r" b="b"/>
            <a:pathLst>
              <a:path w="7061200" h="101600">
                <a:moveTo>
                  <a:pt x="0" y="0"/>
                </a:moveTo>
                <a:lnTo>
                  <a:pt x="7061200" y="0"/>
                </a:lnTo>
                <a:lnTo>
                  <a:pt x="7061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8483600" y="3657600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ليست مجرد أكواد، بل </a:t>
            </a:r>
            <a:r>
              <a:rPr lang="en-US" sz="18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معرفة مؤسسية دائمة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4384675"/>
            <a:ext cx="7493000" cy="3213100"/>
          </a:xfrm>
          <a:custGeom>
            <a:avLst/>
            <a:gdLst/>
            <a:ahLst/>
            <a:cxnLst/>
            <a:rect l="l" t="t" r="r" b="b"/>
            <a:pathLst>
              <a:path w="7493000" h="3213100">
                <a:moveTo>
                  <a:pt x="0" y="0"/>
                </a:moveTo>
                <a:lnTo>
                  <a:pt x="7493000" y="0"/>
                </a:lnTo>
                <a:lnTo>
                  <a:pt x="7493000" y="3213100"/>
                </a:lnTo>
                <a:lnTo>
                  <a:pt x="0" y="32131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8255000" y="4384675"/>
            <a:ext cx="50800" cy="3213100"/>
          </a:xfrm>
          <a:custGeom>
            <a:avLst/>
            <a:gdLst/>
            <a:ahLst/>
            <a:cxnLst/>
            <a:rect l="l" t="t" r="r" b="b"/>
            <a:pathLst>
              <a:path w="50800" h="3213100">
                <a:moveTo>
                  <a:pt x="0" y="0"/>
                </a:moveTo>
                <a:lnTo>
                  <a:pt x="50800" y="0"/>
                </a:lnTo>
                <a:lnTo>
                  <a:pt x="50800" y="3213100"/>
                </a:lnTo>
                <a:lnTo>
                  <a:pt x="0" y="32131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15119350" y="4600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2332" y="15032"/>
                </a:moveTo>
                <a:cubicBezTo>
                  <a:pt x="195039" y="10864"/>
                  <a:pt x="186035" y="10864"/>
                  <a:pt x="178668" y="15032"/>
                </a:cubicBezTo>
                <a:lnTo>
                  <a:pt x="11981" y="110282"/>
                </a:lnTo>
                <a:cubicBezTo>
                  <a:pt x="2604" y="115639"/>
                  <a:pt x="-2009" y="126653"/>
                  <a:pt x="744" y="137071"/>
                </a:cubicBezTo>
                <a:cubicBezTo>
                  <a:pt x="3497" y="147489"/>
                  <a:pt x="13022" y="154781"/>
                  <a:pt x="23812" y="154781"/>
                </a:cubicBezTo>
                <a:lnTo>
                  <a:pt x="47625" y="154781"/>
                </a:lnTo>
                <a:lnTo>
                  <a:pt x="47625" y="309563"/>
                </a:lnTo>
                <a:lnTo>
                  <a:pt x="47625" y="309563"/>
                </a:lnTo>
                <a:lnTo>
                  <a:pt x="9525" y="338137"/>
                </a:lnTo>
                <a:cubicBezTo>
                  <a:pt x="3497" y="342602"/>
                  <a:pt x="0" y="349672"/>
                  <a:pt x="0" y="357188"/>
                </a:cubicBezTo>
                <a:cubicBezTo>
                  <a:pt x="0" y="370359"/>
                  <a:pt x="10641" y="381000"/>
                  <a:pt x="23812" y="381000"/>
                </a:cubicBezTo>
                <a:lnTo>
                  <a:pt x="357188" y="381000"/>
                </a:lnTo>
                <a:cubicBezTo>
                  <a:pt x="370359" y="381000"/>
                  <a:pt x="381000" y="370359"/>
                  <a:pt x="381000" y="357188"/>
                </a:cubicBezTo>
                <a:cubicBezTo>
                  <a:pt x="381000" y="349672"/>
                  <a:pt x="377503" y="342602"/>
                  <a:pt x="371475" y="338137"/>
                </a:cubicBezTo>
                <a:lnTo>
                  <a:pt x="333375" y="309563"/>
                </a:lnTo>
                <a:lnTo>
                  <a:pt x="333375" y="154781"/>
                </a:lnTo>
                <a:lnTo>
                  <a:pt x="357188" y="154781"/>
                </a:lnTo>
                <a:cubicBezTo>
                  <a:pt x="367978" y="154781"/>
                  <a:pt x="377428" y="147489"/>
                  <a:pt x="380181" y="137071"/>
                </a:cubicBezTo>
                <a:cubicBezTo>
                  <a:pt x="382935" y="126653"/>
                  <a:pt x="378321" y="115639"/>
                  <a:pt x="368945" y="110282"/>
                </a:cubicBezTo>
                <a:lnTo>
                  <a:pt x="202257" y="15032"/>
                </a:lnTo>
                <a:close/>
                <a:moveTo>
                  <a:pt x="297656" y="154781"/>
                </a:moveTo>
                <a:lnTo>
                  <a:pt x="297656" y="309563"/>
                </a:lnTo>
                <a:lnTo>
                  <a:pt x="250031" y="309563"/>
                </a:lnTo>
                <a:lnTo>
                  <a:pt x="250031" y="154781"/>
                </a:lnTo>
                <a:lnTo>
                  <a:pt x="297656" y="154781"/>
                </a:lnTo>
                <a:close/>
                <a:moveTo>
                  <a:pt x="214313" y="154781"/>
                </a:moveTo>
                <a:lnTo>
                  <a:pt x="214313" y="309563"/>
                </a:lnTo>
                <a:lnTo>
                  <a:pt x="166688" y="309563"/>
                </a:lnTo>
                <a:lnTo>
                  <a:pt x="166688" y="154781"/>
                </a:lnTo>
                <a:lnTo>
                  <a:pt x="214313" y="154781"/>
                </a:lnTo>
                <a:close/>
                <a:moveTo>
                  <a:pt x="130969" y="154781"/>
                </a:moveTo>
                <a:lnTo>
                  <a:pt x="130969" y="309563"/>
                </a:lnTo>
                <a:lnTo>
                  <a:pt x="83344" y="309563"/>
                </a:lnTo>
                <a:lnTo>
                  <a:pt x="83344" y="154781"/>
                </a:lnTo>
                <a:lnTo>
                  <a:pt x="130969" y="154781"/>
                </a:lnTo>
                <a:close/>
                <a:moveTo>
                  <a:pt x="190500" y="71438"/>
                </a:moveTo>
                <a:cubicBezTo>
                  <a:pt x="203642" y="71438"/>
                  <a:pt x="214313" y="82108"/>
                  <a:pt x="214313" y="95250"/>
                </a:cubicBezTo>
                <a:cubicBezTo>
                  <a:pt x="214313" y="108392"/>
                  <a:pt x="203642" y="119063"/>
                  <a:pt x="190500" y="119063"/>
                </a:cubicBezTo>
                <a:cubicBezTo>
                  <a:pt x="177358" y="119063"/>
                  <a:pt x="166688" y="108392"/>
                  <a:pt x="166688" y="95250"/>
                </a:cubicBezTo>
                <a:cubicBezTo>
                  <a:pt x="166688" y="82108"/>
                  <a:pt x="177358" y="71438"/>
                  <a:pt x="190500" y="71438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8966200" y="4587875"/>
            <a:ext cx="673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مؤسسة مستدامة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83600" y="5146675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التوثيق الشامل يضمن </a:t>
            </a: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استمرارية النظام ونموه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83600" y="5670550"/>
            <a:ext cx="7061200" cy="508000"/>
          </a:xfrm>
          <a:custGeom>
            <a:avLst/>
            <a:gdLst/>
            <a:ahLst/>
            <a:cxnLst/>
            <a:rect l="l" t="t" r="r" b="b"/>
            <a:pathLst>
              <a:path w="7061200" h="508000">
                <a:moveTo>
                  <a:pt x="0" y="0"/>
                </a:moveTo>
                <a:lnTo>
                  <a:pt x="7061200" y="0"/>
                </a:lnTo>
                <a:lnTo>
                  <a:pt x="7061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15189200" y="581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13716992" y="577215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استمرارية العمليات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83600" y="6280150"/>
            <a:ext cx="7061200" cy="508000"/>
          </a:xfrm>
          <a:custGeom>
            <a:avLst/>
            <a:gdLst/>
            <a:ahLst/>
            <a:cxnLst/>
            <a:rect l="l" t="t" r="r" b="b"/>
            <a:pathLst>
              <a:path w="7061200" h="508000">
                <a:moveTo>
                  <a:pt x="0" y="0"/>
                </a:moveTo>
                <a:lnTo>
                  <a:pt x="7061200" y="0"/>
                </a:lnTo>
                <a:lnTo>
                  <a:pt x="7061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15189200" y="6419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14085689" y="6381750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سهولة التوسع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83600" y="6889750"/>
            <a:ext cx="7061200" cy="508000"/>
          </a:xfrm>
          <a:custGeom>
            <a:avLst/>
            <a:gdLst/>
            <a:ahLst/>
            <a:cxnLst/>
            <a:rect l="l" t="t" r="r" b="b"/>
            <a:pathLst>
              <a:path w="7061200" h="508000">
                <a:moveTo>
                  <a:pt x="0" y="0"/>
                </a:moveTo>
                <a:lnTo>
                  <a:pt x="7061200" y="0"/>
                </a:lnTo>
                <a:lnTo>
                  <a:pt x="7061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15189200" y="7029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14099480" y="6991350"/>
            <a:ext cx="105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قابلية الصيانة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1828800"/>
            <a:ext cx="7493000" cy="5435600"/>
          </a:xfrm>
          <a:custGeom>
            <a:avLst/>
            <a:gdLst/>
            <a:ahLst/>
            <a:cxnLst/>
            <a:rect l="l" t="t" r="r" b="b"/>
            <a:pathLst>
              <a:path w="7493000" h="5435600">
                <a:moveTo>
                  <a:pt x="0" y="0"/>
                </a:moveTo>
                <a:lnTo>
                  <a:pt x="7493000" y="0"/>
                </a:lnTo>
                <a:lnTo>
                  <a:pt x="7493000" y="5435600"/>
                </a:ln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533400" y="1828800"/>
            <a:ext cx="50800" cy="5435600"/>
          </a:xfrm>
          <a:custGeom>
            <a:avLst/>
            <a:gdLst/>
            <a:ahLst/>
            <a:cxnLst/>
            <a:rect l="l" t="t" r="r" b="b"/>
            <a:pathLst>
              <a:path w="50800" h="5435600">
                <a:moveTo>
                  <a:pt x="0" y="0"/>
                </a:moveTo>
                <a:lnTo>
                  <a:pt x="50800" y="0"/>
                </a:lnTo>
                <a:lnTo>
                  <a:pt x="50800" y="5435600"/>
                </a:ln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7350125" y="20447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1244600" y="2032000"/>
            <a:ext cx="673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الفرق بين الكود والماكينة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8350" y="2597150"/>
            <a:ext cx="7048500" cy="1739900"/>
          </a:xfrm>
          <a:custGeom>
            <a:avLst/>
            <a:gdLst/>
            <a:ahLst/>
            <a:cxnLst/>
            <a:rect l="l" t="t" r="r" b="b"/>
            <a:pathLst>
              <a:path w="7048500" h="1739900">
                <a:moveTo>
                  <a:pt x="0" y="0"/>
                </a:moveTo>
                <a:lnTo>
                  <a:pt x="7048500" y="0"/>
                </a:lnTo>
                <a:lnTo>
                  <a:pt x="7048500" y="1739900"/>
                </a:lnTo>
                <a:lnTo>
                  <a:pt x="0" y="1739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927100" y="2755900"/>
            <a:ext cx="684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مجرد كود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7100" y="316230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يعتمد على المؤسس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7100" y="351790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صعب الفهم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7100" y="387350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غير قابل للتوسع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8350" y="4502150"/>
            <a:ext cx="7048500" cy="1739900"/>
          </a:xfrm>
          <a:custGeom>
            <a:avLst/>
            <a:gdLst/>
            <a:ahLst/>
            <a:cxnLst/>
            <a:rect l="l" t="t" r="r" b="b"/>
            <a:pathLst>
              <a:path w="7048500" h="1739900">
                <a:moveTo>
                  <a:pt x="0" y="0"/>
                </a:moveTo>
                <a:lnTo>
                  <a:pt x="7048500" y="0"/>
                </a:lnTo>
                <a:lnTo>
                  <a:pt x="7048500" y="1739900"/>
                </a:lnTo>
                <a:lnTo>
                  <a:pt x="0" y="1739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927100" y="4660900"/>
            <a:ext cx="684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الماكينة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7100" y="506730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معرفة مؤسسية م documented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7100" y="542290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سهولة التواصل والتوسع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7100" y="5778500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قابلة للتطوير المستمر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4350" y="7423150"/>
            <a:ext cx="7505700" cy="1206500"/>
          </a:xfrm>
          <a:custGeom>
            <a:avLst/>
            <a:gdLst/>
            <a:ahLst/>
            <a:cxnLst/>
            <a:rect l="l" t="t" r="r" b="b"/>
            <a:pathLst>
              <a:path w="7505700" h="1206500">
                <a:moveTo>
                  <a:pt x="0" y="0"/>
                </a:moveTo>
                <a:lnTo>
                  <a:pt x="7505700" y="0"/>
                </a:lnTo>
                <a:lnTo>
                  <a:pt x="75057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7556500" y="7696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1016000" y="763270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استثمار مؤسسي حقيقي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3900" y="8089900"/>
            <a:ext cx="7188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ليس مجرد منتج، بل نظام قائم بذاته.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d813317eb1091a8007e1c9e348686dd3f8fbe25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3365" r="1336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6580684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6585744" y="3454400"/>
            <a:ext cx="77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" y="3327400"/>
            <a:ext cx="624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الفرصة الاستثمارية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71084" y="4521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317500" y="4876800"/>
            <a:ext cx="727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بنية الاقتصاد الأخلاقي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5600" y="5537200"/>
            <a:ext cx="723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Economy Infrastructure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نحن نبني بنية الاقتصاد الأخلاقي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https://kimi-img.moonshot.cn/pub/slides/25-12-27-01:22:29-d57c8lcc75rdgcnb0a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31000" y="1828800"/>
            <a:ext cx="9017000" cy="69342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33400" y="1828800"/>
            <a:ext cx="5994400" cy="1752600"/>
          </a:xfrm>
          <a:custGeom>
            <a:avLst/>
            <a:gdLst/>
            <a:ahLst/>
            <a:cxnLst/>
            <a:rect l="l" t="t" r="r" b="b"/>
            <a:pathLst>
              <a:path w="5994400" h="1752600">
                <a:moveTo>
                  <a:pt x="0" y="0"/>
                </a:moveTo>
                <a:lnTo>
                  <a:pt x="5994400" y="0"/>
                </a:lnTo>
                <a:lnTo>
                  <a:pt x="59944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4"/>
          <p:cNvSpPr/>
          <p:nvPr/>
        </p:nvSpPr>
        <p:spPr>
          <a:xfrm>
            <a:off x="533400" y="1828800"/>
            <a:ext cx="50800" cy="1752600"/>
          </a:xfrm>
          <a:custGeom>
            <a:avLst/>
            <a:gdLst/>
            <a:ahLst/>
            <a:cxnLst/>
            <a:rect l="l" t="t" r="r" b="b"/>
            <a:pathLst>
              <a:path w="50800" h="1752600">
                <a:moveTo>
                  <a:pt x="0" y="0"/>
                </a:moveTo>
                <a:lnTo>
                  <a:pt x="50800" y="0"/>
                </a:lnTo>
                <a:lnTo>
                  <a:pt x="508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5"/>
          <p:cNvSpPr/>
          <p:nvPr/>
        </p:nvSpPr>
        <p:spPr>
          <a:xfrm>
            <a:off x="597664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76200"/>
                </a:moveTo>
                <a:lnTo>
                  <a:pt x="0" y="95250"/>
                </a:lnTo>
                <a:lnTo>
                  <a:pt x="304800" y="95250"/>
                </a:ln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ubicBezTo>
                  <a:pt x="17085" y="38100"/>
                  <a:pt x="0" y="55185"/>
                  <a:pt x="0" y="76200"/>
                </a:cubicBezTo>
                <a:close/>
                <a:moveTo>
                  <a:pt x="0" y="123825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23825"/>
                </a:lnTo>
                <a:lnTo>
                  <a:pt x="0" y="123825"/>
                </a:lnTo>
                <a:close/>
                <a:moveTo>
                  <a:pt x="38100" y="214313"/>
                </a:moveTo>
                <a:cubicBezTo>
                  <a:pt x="38100" y="206395"/>
                  <a:pt x="44470" y="200025"/>
                  <a:pt x="52388" y="200025"/>
                </a:cubicBezTo>
                <a:lnTo>
                  <a:pt x="80962" y="200025"/>
                </a:lnTo>
                <a:cubicBezTo>
                  <a:pt x="88880" y="200025"/>
                  <a:pt x="95250" y="206395"/>
                  <a:pt x="95250" y="214313"/>
                </a:cubicBezTo>
                <a:cubicBezTo>
                  <a:pt x="95250" y="222230"/>
                  <a:pt x="88880" y="228600"/>
                  <a:pt x="80962" y="228600"/>
                </a:cubicBezTo>
                <a:lnTo>
                  <a:pt x="52388" y="228600"/>
                </a:lnTo>
                <a:cubicBezTo>
                  <a:pt x="44470" y="228600"/>
                  <a:pt x="38100" y="222230"/>
                  <a:pt x="38100" y="214313"/>
                </a:cubicBezTo>
                <a:close/>
                <a:moveTo>
                  <a:pt x="123825" y="214313"/>
                </a:moveTo>
                <a:cubicBezTo>
                  <a:pt x="123825" y="206395"/>
                  <a:pt x="130195" y="200025"/>
                  <a:pt x="138113" y="200025"/>
                </a:cubicBez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38113" y="228600"/>
                </a:lnTo>
                <a:cubicBezTo>
                  <a:pt x="130195" y="228600"/>
                  <a:pt x="123825" y="222230"/>
                  <a:pt x="123825" y="214313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3572371" y="2032000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Stripe: بنية المدفوعات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9674" y="2489200"/>
            <a:ext cx="10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$95B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85952" y="2578100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القيمة السوقية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30480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أصبح معيارًا عالميًا للمدفوعات الرقمية.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" y="3733800"/>
            <a:ext cx="5994400" cy="1752600"/>
          </a:xfrm>
          <a:custGeom>
            <a:avLst/>
            <a:gdLst/>
            <a:ahLst/>
            <a:cxnLst/>
            <a:rect l="l" t="t" r="r" b="b"/>
            <a:pathLst>
              <a:path w="5994400" h="1752600">
                <a:moveTo>
                  <a:pt x="0" y="0"/>
                </a:moveTo>
                <a:lnTo>
                  <a:pt x="5994400" y="0"/>
                </a:lnTo>
                <a:lnTo>
                  <a:pt x="59944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533400" y="3733800"/>
            <a:ext cx="50800" cy="1752600"/>
          </a:xfrm>
          <a:custGeom>
            <a:avLst/>
            <a:gdLst/>
            <a:ahLst/>
            <a:cxnLst/>
            <a:rect l="l" t="t" r="r" b="b"/>
            <a:pathLst>
              <a:path w="50800" h="1752600">
                <a:moveTo>
                  <a:pt x="0" y="0"/>
                </a:moveTo>
                <a:lnTo>
                  <a:pt x="50800" y="0"/>
                </a:lnTo>
                <a:lnTo>
                  <a:pt x="508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5938540" y="3962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4288" y="-9525"/>
                </a:moveTo>
                <a:cubicBezTo>
                  <a:pt x="6370" y="-9525"/>
                  <a:pt x="0" y="-3155"/>
                  <a:pt x="0" y="4763"/>
                </a:cubicBezTo>
                <a:cubicBezTo>
                  <a:pt x="0" y="12680"/>
                  <a:pt x="6370" y="19050"/>
                  <a:pt x="14288" y="19050"/>
                </a:cubicBezTo>
                <a:lnTo>
                  <a:pt x="41255" y="19050"/>
                </a:lnTo>
                <a:cubicBezTo>
                  <a:pt x="43577" y="19050"/>
                  <a:pt x="45541" y="20717"/>
                  <a:pt x="45958" y="22979"/>
                </a:cubicBezTo>
                <a:lnTo>
                  <a:pt x="76974" y="193417"/>
                </a:lnTo>
                <a:cubicBezTo>
                  <a:pt x="80665" y="213777"/>
                  <a:pt x="98405" y="228600"/>
                  <a:pt x="119122" y="228600"/>
                </a:cubicBezTo>
                <a:lnTo>
                  <a:pt x="271463" y="228600"/>
                </a:lnTo>
                <a:cubicBezTo>
                  <a:pt x="279380" y="228600"/>
                  <a:pt x="285750" y="222230"/>
                  <a:pt x="285750" y="214313"/>
                </a:cubicBezTo>
                <a:cubicBezTo>
                  <a:pt x="285750" y="206395"/>
                  <a:pt x="279380" y="200025"/>
                  <a:pt x="271463" y="200025"/>
                </a:cubicBezTo>
                <a:lnTo>
                  <a:pt x="119122" y="200025"/>
                </a:lnTo>
                <a:cubicBezTo>
                  <a:pt x="112216" y="200025"/>
                  <a:pt x="106323" y="195084"/>
                  <a:pt x="105073" y="188297"/>
                </a:cubicBezTo>
                <a:lnTo>
                  <a:pt x="102037" y="171450"/>
                </a:lnTo>
                <a:lnTo>
                  <a:pt x="282773" y="171450"/>
                </a:lnTo>
                <a:cubicBezTo>
                  <a:pt x="301109" y="171450"/>
                  <a:pt x="316825" y="158413"/>
                  <a:pt x="320219" y="140375"/>
                </a:cubicBezTo>
                <a:lnTo>
                  <a:pt x="338673" y="41612"/>
                </a:lnTo>
                <a:cubicBezTo>
                  <a:pt x="340876" y="29885"/>
                  <a:pt x="331887" y="19050"/>
                  <a:pt x="319921" y="19050"/>
                </a:cubicBezTo>
                <a:lnTo>
                  <a:pt x="74235" y="19050"/>
                </a:lnTo>
                <a:lnTo>
                  <a:pt x="73997" y="17859"/>
                </a:lnTo>
                <a:cubicBezTo>
                  <a:pt x="71140" y="2024"/>
                  <a:pt x="57329" y="-9525"/>
                  <a:pt x="41196" y="-9525"/>
                </a:cubicBezTo>
                <a:lnTo>
                  <a:pt x="14288" y="-9525"/>
                </a:lnTo>
                <a:close/>
                <a:moveTo>
                  <a:pt x="123825" y="304800"/>
                </a:moveTo>
                <a:cubicBezTo>
                  <a:pt x="139596" y="304800"/>
                  <a:pt x="152400" y="291996"/>
                  <a:pt x="152400" y="276225"/>
                </a:cubicBezTo>
                <a:cubicBezTo>
                  <a:pt x="152400" y="260454"/>
                  <a:pt x="139596" y="247650"/>
                  <a:pt x="123825" y="247650"/>
                </a:cubicBezTo>
                <a:cubicBezTo>
                  <a:pt x="108054" y="247650"/>
                  <a:pt x="95250" y="260454"/>
                  <a:pt x="95250" y="276225"/>
                </a:cubicBezTo>
                <a:cubicBezTo>
                  <a:pt x="95250" y="291996"/>
                  <a:pt x="108054" y="304800"/>
                  <a:pt x="123825" y="304800"/>
                </a:cubicBezTo>
                <a:close/>
                <a:moveTo>
                  <a:pt x="257175" y="304800"/>
                </a:moveTo>
                <a:cubicBezTo>
                  <a:pt x="272946" y="304800"/>
                  <a:pt x="285750" y="291996"/>
                  <a:pt x="285750" y="276225"/>
                </a:cubicBezTo>
                <a:cubicBezTo>
                  <a:pt x="285750" y="260454"/>
                  <a:pt x="272946" y="247650"/>
                  <a:pt x="257175" y="247650"/>
                </a:cubicBezTo>
                <a:cubicBezTo>
                  <a:pt x="241404" y="247650"/>
                  <a:pt x="228600" y="260454"/>
                  <a:pt x="228600" y="276225"/>
                </a:cubicBezTo>
                <a:cubicBezTo>
                  <a:pt x="228600" y="291996"/>
                  <a:pt x="241404" y="304800"/>
                  <a:pt x="257175" y="304800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3581301" y="3937000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Shopify: بنية التجارة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00241" y="4394200"/>
            <a:ext cx="140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$100B+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96519" y="4483100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القيمة السوقية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49530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منصة التجارة الإلكترونية الرائدة.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3400" y="5638800"/>
            <a:ext cx="5994400" cy="1752600"/>
          </a:xfrm>
          <a:custGeom>
            <a:avLst/>
            <a:gdLst/>
            <a:ahLst/>
            <a:cxnLst/>
            <a:rect l="l" t="t" r="r" b="b"/>
            <a:pathLst>
              <a:path w="5994400" h="1752600">
                <a:moveTo>
                  <a:pt x="0" y="0"/>
                </a:moveTo>
                <a:lnTo>
                  <a:pt x="5994400" y="0"/>
                </a:lnTo>
                <a:lnTo>
                  <a:pt x="59944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533400" y="5638800"/>
            <a:ext cx="50800" cy="1752600"/>
          </a:xfrm>
          <a:custGeom>
            <a:avLst/>
            <a:gdLst/>
            <a:ahLst/>
            <a:cxnLst/>
            <a:rect l="l" t="t" r="r" b="b"/>
            <a:pathLst>
              <a:path w="50800" h="1752600">
                <a:moveTo>
                  <a:pt x="0" y="0"/>
                </a:moveTo>
                <a:lnTo>
                  <a:pt x="50800" y="0"/>
                </a:lnTo>
                <a:lnTo>
                  <a:pt x="508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Shape 19"/>
          <p:cNvSpPr/>
          <p:nvPr/>
        </p:nvSpPr>
        <p:spPr>
          <a:xfrm>
            <a:off x="5938540" y="5867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0"/>
          <p:cNvSpPr/>
          <p:nvPr/>
        </p:nvSpPr>
        <p:spPr>
          <a:xfrm>
            <a:off x="3423543" y="58420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HaderOS: بنية الأخلاق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47407" y="62992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$3.7T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412754" y="6388100"/>
            <a:ext cx="104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حجم السوق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6858000"/>
            <a:ext cx="566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الفرصة لبناء معيار عالمي للاقتصاد الأخلاقي.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4350" y="7550150"/>
            <a:ext cx="6007100" cy="1206500"/>
          </a:xfrm>
          <a:custGeom>
            <a:avLst/>
            <a:gdLst/>
            <a:ahLst/>
            <a:cxnLst/>
            <a:rect l="l" t="t" r="r" b="b"/>
            <a:pathLst>
              <a:path w="6007100" h="1206500">
                <a:moveTo>
                  <a:pt x="0" y="0"/>
                </a:moveTo>
                <a:lnTo>
                  <a:pt x="6007100" y="0"/>
                </a:lnTo>
                <a:lnTo>
                  <a:pt x="60071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5"/>
          <p:cNvSpPr/>
          <p:nvPr/>
        </p:nvSpPr>
        <p:spPr>
          <a:xfrm>
            <a:off x="6052840" y="782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6"/>
          <p:cNvSpPr/>
          <p:nvPr/>
        </p:nvSpPr>
        <p:spPr>
          <a:xfrm>
            <a:off x="1016000" y="7759700"/>
            <a:ext cx="541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الفرصة التاريخية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23900" y="8216900"/>
            <a:ext cx="568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فرصة لبناء بنية تحتية لسوق بقيمة 3.7 تريليون دولار.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جاهز والسوق في انتظارنا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732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255000" y="1828800"/>
            <a:ext cx="7493000" cy="2781300"/>
          </a:xfrm>
          <a:custGeom>
            <a:avLst/>
            <a:gdLst/>
            <a:ahLst/>
            <a:cxnLst/>
            <a:rect l="l" t="t" r="r" b="b"/>
            <a:pathLst>
              <a:path w="7493000" h="2781300">
                <a:moveTo>
                  <a:pt x="0" y="0"/>
                </a:moveTo>
                <a:lnTo>
                  <a:pt x="7493000" y="0"/>
                </a:lnTo>
                <a:lnTo>
                  <a:pt x="7493000" y="2781300"/>
                </a:lnTo>
                <a:lnTo>
                  <a:pt x="0" y="2781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255000" y="1828800"/>
            <a:ext cx="50800" cy="2781300"/>
          </a:xfrm>
          <a:custGeom>
            <a:avLst/>
            <a:gdLst/>
            <a:ahLst/>
            <a:cxnLst/>
            <a:rect l="l" t="t" r="r" b="b"/>
            <a:pathLst>
              <a:path w="50800" h="2781300">
                <a:moveTo>
                  <a:pt x="0" y="0"/>
                </a:moveTo>
                <a:lnTo>
                  <a:pt x="50800" y="0"/>
                </a:lnTo>
                <a:lnTo>
                  <a:pt x="50800" y="2781300"/>
                </a:lnTo>
                <a:lnTo>
                  <a:pt x="0" y="27813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14833600" y="203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6"/>
          <p:cNvSpPr/>
          <p:nvPr/>
        </p:nvSpPr>
        <p:spPr>
          <a:xfrm>
            <a:off x="15036800" y="223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12037913" y="2184400"/>
            <a:ext cx="279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المنصة جاهزة للإطلاق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83600" y="2895600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كامل وقابل للتشغيل الفوري، تم اختباره بشكل شامل.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071350" y="3425825"/>
            <a:ext cx="3467100" cy="977900"/>
          </a:xfrm>
          <a:custGeom>
            <a:avLst/>
            <a:gdLst/>
            <a:ahLst/>
            <a:cxnLst/>
            <a:rect l="l" t="t" r="r" b="b"/>
            <a:pathLst>
              <a:path w="3467100" h="977900">
                <a:moveTo>
                  <a:pt x="0" y="0"/>
                </a:moveTo>
                <a:lnTo>
                  <a:pt x="3467100" y="0"/>
                </a:lnTo>
                <a:lnTo>
                  <a:pt x="34671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12084050" y="3533775"/>
            <a:ext cx="344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429K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28500" y="3990975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كلمة كود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89950" y="3425825"/>
            <a:ext cx="3467100" cy="977900"/>
          </a:xfrm>
          <a:custGeom>
            <a:avLst/>
            <a:gdLst/>
            <a:ahLst/>
            <a:cxnLst/>
            <a:rect l="l" t="t" r="r" b="b"/>
            <a:pathLst>
              <a:path w="3467100" h="977900">
                <a:moveTo>
                  <a:pt x="0" y="0"/>
                </a:moveTo>
                <a:lnTo>
                  <a:pt x="3467100" y="0"/>
                </a:lnTo>
                <a:lnTo>
                  <a:pt x="34671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6E9E7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8502650" y="3533775"/>
            <a:ext cx="344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1,019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7100" y="3990975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منتج تجريبي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5000" y="4765675"/>
            <a:ext cx="7493000" cy="1638300"/>
          </a:xfrm>
          <a:custGeom>
            <a:avLst/>
            <a:gdLst/>
            <a:ahLst/>
            <a:cxnLst/>
            <a:rect l="l" t="t" r="r" b="b"/>
            <a:pathLst>
              <a:path w="7493000" h="1638300">
                <a:moveTo>
                  <a:pt x="0" y="0"/>
                </a:moveTo>
                <a:lnTo>
                  <a:pt x="7493000" y="0"/>
                </a:lnTo>
                <a:lnTo>
                  <a:pt x="74930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8255000" y="4765675"/>
            <a:ext cx="50800" cy="1638300"/>
          </a:xfrm>
          <a:custGeom>
            <a:avLst/>
            <a:gdLst/>
            <a:ahLst/>
            <a:cxnLst/>
            <a:rect l="l" t="t" r="r" b="b"/>
            <a:pathLst>
              <a:path w="50800" h="1638300">
                <a:moveTo>
                  <a:pt x="0" y="0"/>
                </a:moveTo>
                <a:lnTo>
                  <a:pt x="50800" y="0"/>
                </a:lnTo>
                <a:lnTo>
                  <a:pt x="508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14833600" y="496887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15036800" y="5172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12317214" y="5121275"/>
            <a:ext cx="251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غياب البنية التحتية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83600" y="5832475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السوق يعاني من </a:t>
            </a:r>
            <a:r>
              <a:rPr lang="en-US" sz="18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غياب البنية التحتية الرقمية الأخلاقية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1828800"/>
            <a:ext cx="7493000" cy="5435600"/>
          </a:xfrm>
          <a:custGeom>
            <a:avLst/>
            <a:gdLst/>
            <a:ahLst/>
            <a:cxnLst/>
            <a:rect l="l" t="t" r="r" b="b"/>
            <a:pathLst>
              <a:path w="7493000" h="5435600">
                <a:moveTo>
                  <a:pt x="0" y="0"/>
                </a:moveTo>
                <a:lnTo>
                  <a:pt x="7493000" y="0"/>
                </a:lnTo>
                <a:lnTo>
                  <a:pt x="7493000" y="5435600"/>
                </a:ln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533400" y="1828800"/>
            <a:ext cx="50800" cy="5435600"/>
          </a:xfrm>
          <a:custGeom>
            <a:avLst/>
            <a:gdLst/>
            <a:ahLst/>
            <a:cxnLst/>
            <a:rect l="l" t="t" r="r" b="b"/>
            <a:pathLst>
              <a:path w="50800" h="5435600">
                <a:moveTo>
                  <a:pt x="0" y="0"/>
                </a:moveTo>
                <a:lnTo>
                  <a:pt x="50800" y="0"/>
                </a:lnTo>
                <a:lnTo>
                  <a:pt x="50800" y="5435600"/>
                </a:ln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7373938" y="20447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2916" y="64889"/>
                </a:moveTo>
                <a:cubicBezTo>
                  <a:pt x="239762" y="59457"/>
                  <a:pt x="244078" y="51048"/>
                  <a:pt x="244078" y="41672"/>
                </a:cubicBezTo>
                <a:cubicBezTo>
                  <a:pt x="244078" y="25226"/>
                  <a:pt x="230758" y="11906"/>
                  <a:pt x="214313" y="11906"/>
                </a:cubicBezTo>
                <a:cubicBezTo>
                  <a:pt x="197867" y="11906"/>
                  <a:pt x="184547" y="25226"/>
                  <a:pt x="184547" y="41672"/>
                </a:cubicBezTo>
                <a:cubicBezTo>
                  <a:pt x="184547" y="51048"/>
                  <a:pt x="188937" y="59457"/>
                  <a:pt x="195709" y="64889"/>
                </a:cubicBezTo>
                <a:lnTo>
                  <a:pt x="144810" y="144959"/>
                </a:lnTo>
                <a:cubicBezTo>
                  <a:pt x="137368" y="156642"/>
                  <a:pt x="121518" y="159544"/>
                  <a:pt x="110430" y="151209"/>
                </a:cubicBezTo>
                <a:lnTo>
                  <a:pt x="66154" y="118095"/>
                </a:lnTo>
                <a:cubicBezTo>
                  <a:pt x="69503" y="113333"/>
                  <a:pt x="71438" y="107454"/>
                  <a:pt x="71438" y="101203"/>
                </a:cubicBezTo>
                <a:cubicBezTo>
                  <a:pt x="71438" y="84758"/>
                  <a:pt x="58117" y="71438"/>
                  <a:pt x="41672" y="71438"/>
                </a:cubicBezTo>
                <a:cubicBezTo>
                  <a:pt x="25226" y="71438"/>
                  <a:pt x="11906" y="84758"/>
                  <a:pt x="11906" y="101203"/>
                </a:cubicBezTo>
                <a:cubicBezTo>
                  <a:pt x="11906" y="117425"/>
                  <a:pt x="24929" y="130671"/>
                  <a:pt x="41077" y="130969"/>
                </a:cubicBezTo>
                <a:lnTo>
                  <a:pt x="65336" y="292819"/>
                </a:lnTo>
                <a:cubicBezTo>
                  <a:pt x="68833" y="316111"/>
                  <a:pt x="88850" y="333375"/>
                  <a:pt x="112440" y="333375"/>
                </a:cubicBezTo>
                <a:lnTo>
                  <a:pt x="316185" y="333375"/>
                </a:lnTo>
                <a:cubicBezTo>
                  <a:pt x="339775" y="333375"/>
                  <a:pt x="359792" y="316111"/>
                  <a:pt x="363289" y="292819"/>
                </a:cubicBezTo>
                <a:lnTo>
                  <a:pt x="387548" y="130969"/>
                </a:lnTo>
                <a:cubicBezTo>
                  <a:pt x="403696" y="130671"/>
                  <a:pt x="416719" y="117425"/>
                  <a:pt x="416719" y="101203"/>
                </a:cubicBezTo>
                <a:cubicBezTo>
                  <a:pt x="416719" y="84758"/>
                  <a:pt x="403399" y="71438"/>
                  <a:pt x="386953" y="71438"/>
                </a:cubicBezTo>
                <a:cubicBezTo>
                  <a:pt x="370508" y="71438"/>
                  <a:pt x="357188" y="84758"/>
                  <a:pt x="357188" y="101203"/>
                </a:cubicBezTo>
                <a:cubicBezTo>
                  <a:pt x="357188" y="107454"/>
                  <a:pt x="359122" y="113333"/>
                  <a:pt x="362471" y="118095"/>
                </a:cubicBezTo>
                <a:lnTo>
                  <a:pt x="318269" y="151284"/>
                </a:lnTo>
                <a:cubicBezTo>
                  <a:pt x="307181" y="159618"/>
                  <a:pt x="291331" y="156716"/>
                  <a:pt x="283890" y="145033"/>
                </a:cubicBezTo>
                <a:lnTo>
                  <a:pt x="232916" y="64889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1244600" y="2032000"/>
            <a:ext cx="673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فرصة احتكار مبكر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2590800"/>
            <a:ext cx="717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وضعية </a:t>
            </a:r>
            <a:r>
              <a:rPr lang="en-US" sz="18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اللاعب الأول</a:t>
            </a: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في السوق يمنحنا أفضلية تنافسية كبيرة.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7400" y="3114675"/>
            <a:ext cx="7035800" cy="558800"/>
          </a:xfrm>
          <a:custGeom>
            <a:avLst/>
            <a:gdLst/>
            <a:ahLst/>
            <a:cxnLst/>
            <a:rect l="l" t="t" r="r" b="b"/>
            <a:pathLst>
              <a:path w="7035800" h="558800">
                <a:moveTo>
                  <a:pt x="0" y="0"/>
                </a:moveTo>
                <a:lnTo>
                  <a:pt x="7035800" y="0"/>
                </a:lnTo>
                <a:lnTo>
                  <a:pt x="7035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787400" y="3114675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7453312" y="32797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5780286" y="3216275"/>
            <a:ext cx="16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لا يوجد منافسون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7400" y="3775075"/>
            <a:ext cx="7035800" cy="558800"/>
          </a:xfrm>
          <a:custGeom>
            <a:avLst/>
            <a:gdLst/>
            <a:ahLst/>
            <a:cxnLst/>
            <a:rect l="l" t="t" r="r" b="b"/>
            <a:pathLst>
              <a:path w="7035800" h="558800">
                <a:moveTo>
                  <a:pt x="0" y="0"/>
                </a:moveTo>
                <a:lnTo>
                  <a:pt x="7035800" y="0"/>
                </a:lnTo>
                <a:lnTo>
                  <a:pt x="7035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Shape 31"/>
          <p:cNvSpPr/>
          <p:nvPr/>
        </p:nvSpPr>
        <p:spPr>
          <a:xfrm>
            <a:off x="787400" y="3775075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7467600" y="3940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6234609" y="3876675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وضع المعيار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87400" y="4435475"/>
            <a:ext cx="7035800" cy="558800"/>
          </a:xfrm>
          <a:custGeom>
            <a:avLst/>
            <a:gdLst/>
            <a:ahLst/>
            <a:cxnLst/>
            <a:rect l="l" t="t" r="r" b="b"/>
            <a:pathLst>
              <a:path w="7035800" h="558800">
                <a:moveTo>
                  <a:pt x="0" y="0"/>
                </a:moveTo>
                <a:lnTo>
                  <a:pt x="7035800" y="0"/>
                </a:lnTo>
                <a:lnTo>
                  <a:pt x="7035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787400" y="4435475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7467600" y="4600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6436420" y="4537075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نمو سريع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4350" y="7423150"/>
            <a:ext cx="7505700" cy="1206500"/>
          </a:xfrm>
          <a:custGeom>
            <a:avLst/>
            <a:gdLst/>
            <a:ahLst/>
            <a:cxnLst/>
            <a:rect l="l" t="t" r="r" b="b"/>
            <a:pathLst>
              <a:path w="7505700" h="1206500">
                <a:moveTo>
                  <a:pt x="0" y="0"/>
                </a:moveTo>
                <a:lnTo>
                  <a:pt x="7505700" y="0"/>
                </a:lnTo>
                <a:lnTo>
                  <a:pt x="75057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12700">
            <a:solidFill>
              <a:srgbClr val="5F7D9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7556500" y="7696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1016000" y="763270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نموذج أعمال مربح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3900" y="8089900"/>
            <a:ext cx="7188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نموذج أعمال مربح وقابل للتوسع مع LTV:CAC 300:1.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718016cb86588a9056740446eeb8b20a66d579d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575" b="75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1"/>
          <p:cNvSpPr/>
          <p:nvPr/>
        </p:nvSpPr>
        <p:spPr>
          <a:xfrm>
            <a:off x="6798766" y="746125"/>
            <a:ext cx="2654300" cy="736600"/>
          </a:xfrm>
          <a:custGeom>
            <a:avLst/>
            <a:gdLst/>
            <a:ahLst/>
            <a:cxnLst/>
            <a:rect l="l" t="t" r="r" b="b"/>
            <a:pathLst>
              <a:path w="2654300" h="736600">
                <a:moveTo>
                  <a:pt x="0" y="0"/>
                </a:moveTo>
                <a:lnTo>
                  <a:pt x="2654300" y="0"/>
                </a:lnTo>
                <a:lnTo>
                  <a:pt x="2654300" y="736600"/>
                </a:lnTo>
                <a:lnTo>
                  <a:pt x="0" y="736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Text 2"/>
          <p:cNvSpPr/>
          <p:nvPr/>
        </p:nvSpPr>
        <p:spPr>
          <a:xfrm>
            <a:off x="7141666" y="898525"/>
            <a:ext cx="1972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120" dirty="0">
                <a:solidFill>
                  <a:srgbClr val="6E9E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السؤال الحاسم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60194" y="1901825"/>
            <a:ext cx="553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كم تساوي البنية؟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305752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3202285" y="3413125"/>
            <a:ext cx="985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نحن لا نبيع </a:t>
            </a: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فكرة</a:t>
            </a:r>
            <a:r>
              <a:rPr lang="en-US" sz="2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، نحن نقدم </a:t>
            </a:r>
            <a:r>
              <a:rPr lang="en-US" sz="240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منصة قائمة</a:t>
            </a:r>
            <a:r>
              <a:rPr lang="en-US" sz="2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، </a:t>
            </a:r>
            <a:r>
              <a:rPr lang="en-US" sz="2400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سوق ضخم</a:t>
            </a:r>
            <a:r>
              <a:rPr lang="en-US" sz="2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، و</a:t>
            </a:r>
            <a:r>
              <a:rPr lang="en-US" sz="2400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فريق قادر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84835" y="4117975"/>
            <a:ext cx="9690100" cy="1041400"/>
          </a:xfrm>
          <a:custGeom>
            <a:avLst/>
            <a:gdLst/>
            <a:ahLst/>
            <a:cxnLst/>
            <a:rect l="l" t="t" r="r" b="b"/>
            <a:pathLst>
              <a:path w="9690100" h="1041400">
                <a:moveTo>
                  <a:pt x="0" y="0"/>
                </a:moveTo>
                <a:lnTo>
                  <a:pt x="9690100" y="0"/>
                </a:lnTo>
                <a:lnTo>
                  <a:pt x="9690100" y="1041400"/>
                </a:lnTo>
                <a:lnTo>
                  <a:pt x="0" y="1041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3634085" y="4429125"/>
            <a:ext cx="899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السؤال الآن ليس </a:t>
            </a:r>
            <a:r>
              <a:rPr lang="en-US" sz="2000" b="1" dirty="0">
                <a:solidFill>
                  <a:srgbClr val="5F7D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هل سينجح</a:t>
            </a: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، بل </a:t>
            </a:r>
            <a:r>
              <a:rPr lang="en-US" sz="2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كم ستكون قيمته</a:t>
            </a: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عندما يصبح </a:t>
            </a:r>
            <a:r>
              <a:rPr lang="en-US" sz="2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معيار العالم الأخلاقي الرقمي</a:t>
            </a: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954121" y="5470525"/>
            <a:ext cx="3022600" cy="1841500"/>
          </a:xfrm>
          <a:custGeom>
            <a:avLst/>
            <a:gdLst/>
            <a:ahLst/>
            <a:cxnLst/>
            <a:rect l="l" t="t" r="r" b="b"/>
            <a:pathLst>
              <a:path w="3022600" h="1841500">
                <a:moveTo>
                  <a:pt x="0" y="0"/>
                </a:moveTo>
                <a:lnTo>
                  <a:pt x="3022600" y="0"/>
                </a:lnTo>
                <a:lnTo>
                  <a:pt x="30226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9"/>
          <p:cNvSpPr/>
          <p:nvPr/>
        </p:nvSpPr>
        <p:spPr>
          <a:xfrm>
            <a:off x="11234043" y="568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10100171" y="6289675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منصة قائمة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06521" y="6746875"/>
            <a:ext cx="271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429 ألف كلمة من الكود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19478" y="5470525"/>
            <a:ext cx="3022600" cy="1841500"/>
          </a:xfrm>
          <a:custGeom>
            <a:avLst/>
            <a:gdLst/>
            <a:ahLst/>
            <a:cxnLst/>
            <a:rect l="l" t="t" r="r" b="b"/>
            <a:pathLst>
              <a:path w="3022600" h="1841500">
                <a:moveTo>
                  <a:pt x="0" y="0"/>
                </a:moveTo>
                <a:lnTo>
                  <a:pt x="3022600" y="0"/>
                </a:lnTo>
                <a:lnTo>
                  <a:pt x="30226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3"/>
          <p:cNvSpPr/>
          <p:nvPr/>
        </p:nvSpPr>
        <p:spPr>
          <a:xfrm>
            <a:off x="7899400" y="568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6E9E7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6765528" y="6289675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سوق ضخم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71878" y="6746875"/>
            <a:ext cx="271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3.7 تريليون دولار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84835" y="5470525"/>
            <a:ext cx="3022600" cy="1841500"/>
          </a:xfrm>
          <a:custGeom>
            <a:avLst/>
            <a:gdLst/>
            <a:ahLst/>
            <a:cxnLst/>
            <a:rect l="l" t="t" r="r" b="b"/>
            <a:pathLst>
              <a:path w="3022600" h="1841500">
                <a:moveTo>
                  <a:pt x="0" y="0"/>
                </a:moveTo>
                <a:lnTo>
                  <a:pt x="3022600" y="0"/>
                </a:lnTo>
                <a:lnTo>
                  <a:pt x="30226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7"/>
          <p:cNvSpPr/>
          <p:nvPr/>
        </p:nvSpPr>
        <p:spPr>
          <a:xfrm>
            <a:off x="4593332" y="568007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140884" y="221456"/>
                  <a:pt x="92869" y="173441"/>
                  <a:pt x="92869" y="114300"/>
                </a:cubicBezTo>
                <a:cubicBezTo>
                  <a:pt x="92869" y="55159"/>
                  <a:pt x="140884" y="7144"/>
                  <a:pt x="200025" y="7144"/>
                </a:cubicBezTo>
                <a:cubicBezTo>
                  <a:pt x="259166" y="7144"/>
                  <a:pt x="307181" y="55159"/>
                  <a:pt x="307181" y="114300"/>
                </a:cubicBezTo>
                <a:cubicBezTo>
                  <a:pt x="307181" y="173441"/>
                  <a:pt x="259166" y="221456"/>
                  <a:pt x="200025" y="221456"/>
                </a:cubicBezTo>
                <a:close/>
                <a:moveTo>
                  <a:pt x="172789" y="271463"/>
                </a:moveTo>
                <a:lnTo>
                  <a:pt x="227261" y="271463"/>
                </a:lnTo>
                <a:cubicBezTo>
                  <a:pt x="235922" y="271463"/>
                  <a:pt x="242888" y="278428"/>
                  <a:pt x="242888" y="287089"/>
                </a:cubicBezTo>
                <a:cubicBezTo>
                  <a:pt x="242888" y="290840"/>
                  <a:pt x="241548" y="294412"/>
                  <a:pt x="239137" y="297269"/>
                </a:cubicBezTo>
                <a:lnTo>
                  <a:pt x="214670" y="325844"/>
                </a:lnTo>
                <a:lnTo>
                  <a:pt x="242352" y="428625"/>
                </a:lnTo>
                <a:lnTo>
                  <a:pt x="242888" y="428625"/>
                </a:lnTo>
                <a:lnTo>
                  <a:pt x="273784" y="304949"/>
                </a:lnTo>
                <a:cubicBezTo>
                  <a:pt x="275749" y="297180"/>
                  <a:pt x="283696" y="292447"/>
                  <a:pt x="291197" y="295305"/>
                </a:cubicBezTo>
                <a:cubicBezTo>
                  <a:pt x="346472" y="316379"/>
                  <a:pt x="385763" y="369957"/>
                  <a:pt x="385763" y="432643"/>
                </a:cubicBezTo>
                <a:cubicBezTo>
                  <a:pt x="385763" y="446127"/>
                  <a:pt x="374779" y="457111"/>
                  <a:pt x="361295" y="457111"/>
                </a:cubicBezTo>
                <a:lnTo>
                  <a:pt x="38755" y="457200"/>
                </a:lnTo>
                <a:cubicBezTo>
                  <a:pt x="25271" y="457200"/>
                  <a:pt x="14288" y="446216"/>
                  <a:pt x="14288" y="432733"/>
                </a:cubicBezTo>
                <a:cubicBezTo>
                  <a:pt x="14288" y="370046"/>
                  <a:pt x="53578" y="316468"/>
                  <a:pt x="108853" y="295394"/>
                </a:cubicBezTo>
                <a:cubicBezTo>
                  <a:pt x="116354" y="292537"/>
                  <a:pt x="124301" y="297269"/>
                  <a:pt x="126266" y="305038"/>
                </a:cubicBezTo>
                <a:lnTo>
                  <a:pt x="157163" y="428714"/>
                </a:lnTo>
                <a:lnTo>
                  <a:pt x="157698" y="428714"/>
                </a:lnTo>
                <a:lnTo>
                  <a:pt x="185380" y="325934"/>
                </a:lnTo>
                <a:lnTo>
                  <a:pt x="160913" y="297359"/>
                </a:lnTo>
                <a:cubicBezTo>
                  <a:pt x="158502" y="294501"/>
                  <a:pt x="157163" y="290929"/>
                  <a:pt x="157163" y="287179"/>
                </a:cubicBezTo>
                <a:cubicBezTo>
                  <a:pt x="157163" y="278517"/>
                  <a:pt x="164128" y="271552"/>
                  <a:pt x="172789" y="271552"/>
                </a:cubicBezTo>
                <a:close/>
              </a:path>
            </a:pathLst>
          </a:custGeom>
          <a:solidFill>
            <a:srgbClr val="5F7D95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8"/>
          <p:cNvSpPr/>
          <p:nvPr/>
        </p:nvSpPr>
        <p:spPr>
          <a:xfrm>
            <a:off x="3430885" y="6289675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فريق قادر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37235" y="6746875"/>
            <a:ext cx="271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إنجاز في 6 أشهر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565676" y="7731125"/>
            <a:ext cx="5130800" cy="673100"/>
          </a:xfrm>
          <a:custGeom>
            <a:avLst/>
            <a:gdLst/>
            <a:ahLst/>
            <a:cxnLst/>
            <a:rect l="l" t="t" r="r" b="b"/>
            <a:pathLst>
              <a:path w="5130800" h="673100">
                <a:moveTo>
                  <a:pt x="0" y="0"/>
                </a:moveTo>
                <a:lnTo>
                  <a:pt x="5130800" y="0"/>
                </a:lnTo>
                <a:lnTo>
                  <a:pt x="5130800" y="673100"/>
                </a:lnTo>
                <a:lnTo>
                  <a:pt x="0" y="673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Text 21"/>
          <p:cNvSpPr/>
          <p:nvPr/>
        </p:nvSpPr>
        <p:spPr>
          <a:xfrm>
            <a:off x="5813326" y="7927975"/>
            <a:ext cx="46293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6E9E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جولة البذرة: $1.5M | التقييم: $8M | Q1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1491</Words>
  <Application>Microsoft Macintosh PowerPoint</Application>
  <PresentationFormat>Custom</PresentationFormat>
  <Paragraphs>401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Liter</vt:lpstr>
      <vt:lpstr>Hedvig Letters 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HaderOS: نظام التشغيل الاقتصادي الأخلاقي</dc:title>
  <dc:subject>HaderOS: نظام التشغيل الاقتصادي الأخلاقي</dc:subject>
  <dc:creator>Kimi</dc:creator>
  <cp:lastModifiedBy>Ahmed Shawky</cp:lastModifiedBy>
  <cp:revision>2</cp:revision>
  <dcterms:created xsi:type="dcterms:W3CDTF">2025-12-26T17:22:39Z</dcterms:created>
  <dcterms:modified xsi:type="dcterms:W3CDTF">2025-12-26T17:29:10Z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{"Label":"HaderOS: نظام التشغيل الاقتصادي الأخلاقي","ContentProducer":"001191110108MACG2KBH8F10000","ProduceID":"19b5ba83-8502-8135-8000-0000a06ee535","ReservedCode1":"","ContentPropagator":"001191110108MACG2KBH8F20000","PropagateID":"19b5ba83-8502-8135-8000-0000a06ee535","ReservedCode2":""}</vt:lpwstr>
  </property>
</Properties>
</file>